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d6e1710-a8c0-8743-6140-08f798978aa3}">
          <p14:sldIdLst>
            <p14:sldId id="256"/>
            <p14:sldId id="257"/>
            <p14:sldId id="258"/>
            <p14:sldId id="259"/>
          </p14:sldIdLst>
        </p14:section>
        <p14:section name="Data and method" id="{cda665d1-b0d1-10cd-55dc-db293902a1b9}">
          <p14:sldIdLst>
            <p14:sldId id="260"/>
            <p14:sldId id="261"/>
          </p14:sldIdLst>
        </p14:section>
        <p14:section name="Findings" id="{47aabd0f-c136-5cdf-e527-0499a6679fbf}">
          <p14:sldIdLst>
            <p14:sldId id="262"/>
            <p14:sldId id="263"/>
            <p14:sldId id="264"/>
            <p14:sldId id="265"/>
            <p14:sldId id="266"/>
            <p14:sldId id="267"/>
            <p14:sldId id="268"/>
            <p14:sldId id="269"/>
            <p14:sldId id="270"/>
            <p14:sldId id="271"/>
          </p14:sldIdLst>
        </p14:section>
        <p14:section name="Delivery and implications" id="{7eff9e10-be47-8cc2-7eeb-95db80dbdf29}">
          <p14:sldIdLst>
            <p14:sldId id="272"/>
            <p14:sldId id="273"/>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2A3A"/>
                </a:solidFill>
                <a:latin typeface="+mn-lt"/>
              </a:defRPr>
            </a:pPr>
            <a:r>
              <a:rPr sz="1400" b="0" i="0" u="none" strike="noStrike">
                <a:solidFill>
                  <a:srgbClr val="0F2A3A"/>
                </a:solidFill>
                <a:latin typeface="+mn-lt"/>
              </a:rPr>
              <a:t>Correlation with monthly rupee change (r)</a:t>
            </a:r>
          </a:p>
        </c:rich>
      </c:tx>
      <c:layout/>
      <c:overlay val="0"/>
    </c:title>
    <c:autoTitleDeleted val="0"/>
    <c:plotArea>
      <c:layout/>
      <c:barChart>
        <c:barDir val="bar"/>
        <c:grouping val="clustered"/>
        <c:varyColors val="0"/>
        <c:ser>
          <c:idx val="0"/>
          <c:order val="0"/>
          <c:tx>
            <c:strRef>
              <c:f>Sheet1!$B$1</c:f>
              <c:strCache>
                <c:ptCount val="1"/>
                <c:pt idx="0">
                  <c:v>Correlation with INR_ret</c:v>
                </c:pt>
              </c:strCache>
            </c:strRef>
          </c:tx>
          <c:spPr>
            <a:solidFill>
              <a:srgbClr val="8C9AA3"/>
            </a:solidFill>
            <a:effectLst/>
          </c:spPr>
          <c:invertIfNegative val="0"/>
          <c:dLbls>
            <c:numFmt formatCode="0.00" sourceLinked="0"/>
            <c:txPr>
              <a:bodyPr/>
              <a:lstStyle/>
              <a:p>
                <a:pPr>
                  <a:defRPr b="0" i="0" strike="noStrike" sz="1100" u="none">
                    <a:solidFill>
                      <a:srgbClr val="1B1F23"/>
                    </a:solidFill>
                    <a:latin typeface="+mn-lt"/>
                  </a:defRPr>
                </a:pPr>
              </a:p>
            </c:txPr>
            <c:showLegendKey val="0"/>
            <c:showVal val="1"/>
            <c:showCatName val="0"/>
            <c:showSerName val="0"/>
            <c:showPercent val="0"/>
            <c:showBubbleSize val="0"/>
            <c:showLeaderLines val="0"/>
          </c:dLbls>
          <c:dPt>
            <c:idx val="0"/>
            <c:invertIfNegative val="0"/>
            <c:bubble3D val="0"/>
            <c:spPr>
              <a:solidFill>
                <a:srgbClr val="8C9AA3"/>
              </a:solidFill>
              <a:effectLst/>
            </c:spPr>
          </c:dPt>
          <c:dPt>
            <c:idx val="1"/>
            <c:invertIfNegative val="0"/>
            <c:bubble3D val="0"/>
            <c:spPr>
              <a:solidFill>
                <a:srgbClr val="8C9AA3"/>
              </a:solidFill>
              <a:effectLst/>
            </c:spPr>
          </c:dPt>
          <c:dPt>
            <c:idx val="2"/>
            <c:invertIfNegative val="0"/>
            <c:bubble3D val="0"/>
            <c:spPr>
              <a:solidFill>
                <a:srgbClr val="8C9AA3"/>
              </a:solidFill>
              <a:effectLst/>
            </c:spPr>
          </c:dPt>
          <c:dPt>
            <c:idx val="3"/>
            <c:invertIfNegative val="0"/>
            <c:bubble3D val="0"/>
            <c:spPr>
              <a:solidFill>
                <a:srgbClr val="8C9AA3"/>
              </a:solidFill>
              <a:effectLst/>
            </c:spPr>
          </c:dPt>
          <c:dPt>
            <c:idx val="4"/>
            <c:invertIfNegative val="0"/>
            <c:bubble3D val="0"/>
            <c:spPr>
              <a:solidFill>
                <a:srgbClr val="8C9AA3"/>
              </a:solidFill>
              <a:effectLst/>
            </c:spPr>
          </c:dPt>
          <c:dPt>
            <c:idx val="5"/>
            <c:invertIfNegative val="0"/>
            <c:bubble3D val="0"/>
            <c:spPr>
              <a:solidFill>
                <a:srgbClr val="8C9AA3"/>
              </a:solidFill>
              <a:effectLst/>
            </c:spPr>
          </c:dPt>
          <c:dPt>
            <c:idx val="6"/>
            <c:invertIfNegative val="0"/>
            <c:bubble3D val="0"/>
            <c:spPr>
              <a:solidFill>
                <a:srgbClr val="8C9AA3"/>
              </a:solidFill>
              <a:effectLst/>
            </c:spPr>
          </c:dPt>
          <c:dPt>
            <c:idx val="7"/>
            <c:invertIfNegative val="0"/>
            <c:bubble3D val="0"/>
            <c:spPr>
              <a:solidFill>
                <a:srgbClr val="8C9AA3"/>
              </a:solidFill>
              <a:effectLst/>
            </c:spPr>
          </c:dPt>
          <c:cat>
            <c:multiLvlStrRef>
              <c:f>Sheet1!$A$2:$A$9</c:f>
              <c:multiLvlStrCache>
                <c:ptCount val="8"/>
                <c:lvl>
                  <c:pt idx="0">
                    <c:v>FPI flow</c:v>
                  </c:pt>
                  <c:pt idx="1">
                    <c:v>Broad dollar</c:v>
                  </c:pt>
                  <c:pt idx="2">
                    <c:v>Reserves chg</c:v>
                  </c:pt>
                  <c:pt idx="3">
                    <c:v>Rate-gap chg</c:v>
                  </c:pt>
                  <c:pt idx="4">
                    <c:v>VIX chg</c:v>
                  </c:pt>
                  <c:pt idx="5">
                    <c:v>Trade-bal chg</c:v>
                  </c:pt>
                  <c:pt idx="6">
                    <c:v>Brent oil</c:v>
                  </c:pt>
                  <c:pt idx="7">
                    <c:v>Inflation gap</c:v>
                  </c:pt>
                </c:lvl>
              </c:multiLvlStrCache>
            </c:multiLvlStrRef>
          </c:cat>
          <c:val>
            <c:numRef>
              <c:f>Sheet1!$B$2:$B$9</c:f>
              <c:numCache>
                <c:formatCode>General</c:formatCode>
                <c:ptCount val="8"/>
                <c:pt idx="0">
                  <c:v>-0.489</c:v>
                </c:pt>
                <c:pt idx="1">
                  <c:v>0.465</c:v>
                </c:pt>
                <c:pt idx="2">
                  <c:v>-0.366</c:v>
                </c:pt>
                <c:pt idx="3">
                  <c:v>0.245</c:v>
                </c:pt>
                <c:pt idx="4">
                  <c:v>0.231</c:v>
                </c:pt>
                <c:pt idx="5">
                  <c:v>0.136</c:v>
                </c:pt>
                <c:pt idx="6">
                  <c:v>-0.132</c:v>
                </c:pt>
                <c:pt idx="7">
                  <c:v>0.051</c:v>
                </c:pt>
              </c:numCache>
            </c:numRef>
          </c:val>
        </c:ser>
        <c:dLbls>
          <c:numFmt formatCode="0.00" sourceLinked="0"/>
          <c:txPr>
            <a:bodyPr/>
            <a:lstStyle/>
            <a:p>
              <a:pPr>
                <a:defRPr b="0" i="0" strike="noStrike" sz="1100" u="none">
                  <a:solidFill>
                    <a:srgbClr val="1B1F2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1F23"/>
                </a:solidFill>
                <a:latin typeface="+mn-lt"/>
              </a:defRPr>
            </a:pPr>
            <a:endParaRPr lang="en-US"/>
          </a:p>
        </c:txPr>
        <c:crossAx val="2094734552"/>
        <c:crosses val="autoZero"/>
        <c:auto val="1"/>
        <c:lblAlgn val="ctr"/>
        <c:noMultiLvlLbl val="1"/>
      </c:catAx>
      <c:valAx>
        <c:axId val="2094734552"/>
        <c:scaling>
          <c:orientation val="minMax"/>
          <c:max val="0.6"/>
          <c:min val="-0.6"/>
        </c:scaling>
        <c:delete val="0"/>
        <c:axPos val="b"/>
        <c:majorGridlines>
          <c:spPr>
            <a:ln w="9525" cap="flat">
              <a:solidFill>
                <a:srgbClr val="E3E8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F6B73"/>
                </a:solidFill>
                <a:latin typeface="+mn-lt"/>
              </a:defRPr>
            </a:pPr>
            <a:endParaRPr lang="en-US"/>
          </a:p>
        </c:txPr>
        <c:crossAx val="2094734554"/>
        <c:crosses val="autoZero"/>
        <c:crossBetween val="between"/>
        <c:majorUnit val="0.3"/>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2A3A"/>
                </a:solidFill>
                <a:latin typeface="+mn-lt"/>
              </a:defRPr>
            </a:pPr>
            <a:r>
              <a:rPr sz="1400" b="0" i="0" u="none" strike="noStrike">
                <a:solidFill>
                  <a:srgbClr val="0F2A3A"/>
                </a:solidFill>
                <a:latin typeface="+mn-lt"/>
              </a:rPr>
              <a:t>Adjusted R² on training data, 2012–2022</a:t>
            </a:r>
          </a:p>
        </c:rich>
      </c:tx>
      <c:layout/>
      <c:overlay val="0"/>
    </c:title>
    <c:autoTitleDeleted val="0"/>
    <c:plotArea>
      <c:layout/>
      <c:barChart>
        <c:barDir val="col"/>
        <c:grouping val="clustered"/>
        <c:varyColors val="0"/>
        <c:ser>
          <c:idx val="0"/>
          <c:order val="0"/>
          <c:tx>
            <c:strRef>
              <c:f>Sheet1!$B$1</c:f>
              <c:strCache>
                <c:ptCount val="1"/>
                <c:pt idx="0">
                  <c:v>Adjusted R² (train)</c:v>
                </c:pt>
              </c:strCache>
            </c:strRef>
          </c:tx>
          <c:spPr>
            <a:solidFill>
              <a:srgbClr val="E8871E"/>
            </a:solidFill>
            <a:effectLst/>
          </c:spPr>
          <c:invertIfNegative val="0"/>
          <c:dLbls>
            <c:numFmt formatCode="0.00" sourceLinked="0"/>
            <c:txPr>
              <a:bodyPr/>
              <a:lstStyle/>
              <a:p>
                <a:pPr>
                  <a:defRPr b="0" i="0" strike="noStrike" sz="1100" u="none">
                    <a:solidFill>
                      <a:srgbClr val="1B1F23"/>
                    </a:solidFill>
                    <a:latin typeface="+mn-lt"/>
                  </a:defRPr>
                </a:pPr>
              </a:p>
            </c:txPr>
            <c:showLegendKey val="0"/>
            <c:showVal val="1"/>
            <c:showCatName val="0"/>
            <c:showSerName val="0"/>
            <c:showPercent val="0"/>
            <c:showBubbleSize val="0"/>
            <c:showLeaderLines val="0"/>
          </c:dLbls>
          <c:dPt>
            <c:idx val="0"/>
            <c:invertIfNegative val="0"/>
            <c:bubble3D val="0"/>
            <c:spPr>
              <a:solidFill>
                <a:srgbClr val="E8871E"/>
              </a:solidFill>
              <a:effectLst/>
            </c:spPr>
          </c:dPt>
          <c:dPt>
            <c:idx val="1"/>
            <c:invertIfNegative val="0"/>
            <c:bubble3D val="0"/>
            <c:spPr>
              <a:solidFill>
                <a:srgbClr val="8C9AA3"/>
              </a:solidFill>
              <a:effectLst/>
            </c:spPr>
          </c:dPt>
          <c:dPt>
            <c:idx val="2"/>
            <c:invertIfNegative val="0"/>
            <c:bubble3D val="0"/>
            <c:spPr>
              <a:solidFill>
                <a:srgbClr val="0F2A3A"/>
              </a:solidFill>
              <a:effectLst/>
            </c:spPr>
          </c:dPt>
          <c:dPt>
            <c:idx val="3"/>
            <c:invertIfNegative val="0"/>
            <c:bubble3D val="0"/>
            <c:spPr>
              <a:solidFill>
                <a:srgbClr val="8C9AA3"/>
              </a:solidFill>
              <a:effectLst/>
            </c:spPr>
          </c:dPt>
          <c:dPt>
            <c:idx val="4"/>
            <c:invertIfNegative val="0"/>
            <c:bubble3D val="0"/>
            <c:spPr>
              <a:solidFill>
                <a:srgbClr val="8C9AA3"/>
              </a:solidFill>
              <a:effectLst/>
            </c:spPr>
          </c:dPt>
          <c:cat>
            <c:multiLvlStrRef>
              <c:f>Sheet1!$A$2:$A$6</c:f>
              <c:multiLvlStrCache>
                <c:ptCount val="5"/>
                <c:lvl>
                  <c:pt idx="0">
                    <c:v>A: oil only</c:v>
                  </c:pt>
                  <c:pt idx="1">
                    <c:v>B: + inflation gap</c:v>
                  </c:pt>
                  <c:pt idx="2">
                    <c:v>C: + rates, dollar, FPI, trade</c:v>
                  </c:pt>
                  <c:pt idx="3">
                    <c:v>D: + VIX, lagged FPI</c:v>
                  </c:pt>
                  <c:pt idx="4">
                    <c:v>F: last month only</c:v>
                  </c:pt>
                </c:lvl>
              </c:multiLvlStrCache>
            </c:multiLvlStrRef>
          </c:cat>
          <c:val>
            <c:numRef>
              <c:f>Sheet1!$B$2:$B$6</c:f>
              <c:numCache>
                <c:formatCode>General</c:formatCode>
                <c:ptCount val="5"/>
                <c:pt idx="0">
                  <c:v>0.031</c:v>
                </c:pt>
                <c:pt idx="1">
                  <c:v>0.026</c:v>
                </c:pt>
                <c:pt idx="2">
                  <c:v>0.426</c:v>
                </c:pt>
                <c:pt idx="3">
                  <c:v>0.427</c:v>
                </c:pt>
                <c:pt idx="4">
                  <c:v>0.047</c:v>
                </c:pt>
              </c:numCache>
            </c:numRef>
          </c:val>
        </c:ser>
        <c:dLbls>
          <c:numFmt formatCode="0.00" sourceLinked="0"/>
          <c:txPr>
            <a:bodyPr/>
            <a:lstStyle/>
            <a:p>
              <a:pPr>
                <a:defRPr b="0" i="0" strike="noStrike" sz="1100" u="none">
                  <a:solidFill>
                    <a:srgbClr val="1B1F2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1F23"/>
                </a:solidFill>
                <a:latin typeface="+mn-lt"/>
              </a:defRPr>
            </a:pPr>
            <a:endParaRPr lang="en-US"/>
          </a:p>
        </c:txPr>
        <c:crossAx val="2094734552"/>
        <c:crosses val="autoZero"/>
        <c:auto val="1"/>
        <c:lblAlgn val="ctr"/>
        <c:noMultiLvlLbl val="1"/>
      </c:catAx>
      <c:valAx>
        <c:axId val="2094734552"/>
        <c:scaling>
          <c:orientation val="minMax"/>
          <c:max val="0.5"/>
          <c:min val="0"/>
        </c:scaling>
        <c:delete val="0"/>
        <c:axPos val="l"/>
        <c:majorGridlines>
          <c:spPr>
            <a:ln w="9525" cap="flat">
              <a:solidFill>
                <a:srgbClr val="E3E8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F6B73"/>
                </a:solidFill>
                <a:latin typeface="+mn-lt"/>
              </a:defRPr>
            </a:pPr>
            <a:endParaRPr lang="en-US"/>
          </a:p>
        </c:txPr>
        <c:crossAx val="2094734554"/>
        <c:crosses val="autoZero"/>
        <c:crossBetween val="between"/>
        <c:majorUnit val="0.1"/>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2A3A"/>
                </a:solidFill>
                <a:latin typeface="+mn-lt"/>
              </a:defRPr>
            </a:pPr>
            <a:r>
              <a:rPr sz="1400" b="0" i="0" u="none" strike="noStrike">
                <a:solidFill>
                  <a:srgbClr val="0F2A3A"/>
                </a:solidFill>
                <a:latin typeface="+mn-lt"/>
              </a:rPr>
              <a:t>Model C standardised β (+ = weaker rupee); dark = p &lt; 0.05</a:t>
            </a:r>
          </a:p>
        </c:rich>
      </c:tx>
      <c:layout/>
      <c:overlay val="0"/>
    </c:title>
    <c:autoTitleDeleted val="0"/>
    <c:plotArea>
      <c:layout/>
      <c:barChart>
        <c:barDir val="bar"/>
        <c:grouping val="clustered"/>
        <c:varyColors val="0"/>
        <c:ser>
          <c:idx val="0"/>
          <c:order val="0"/>
          <c:tx>
            <c:strRef>
              <c:f>Sheet1!$B$1</c:f>
              <c:strCache>
                <c:ptCount val="1"/>
                <c:pt idx="0">
                  <c:v>Standardised beta</c:v>
                </c:pt>
              </c:strCache>
            </c:strRef>
          </c:tx>
          <c:spPr>
            <a:solidFill>
              <a:srgbClr val="0F2A3A"/>
            </a:solidFill>
            <a:effectLst/>
          </c:spPr>
          <c:invertIfNegative val="0"/>
          <c:dLbls>
            <c:numFmt formatCode="0.00" sourceLinked="0"/>
            <c:txPr>
              <a:bodyPr/>
              <a:lstStyle/>
              <a:p>
                <a:pPr>
                  <a:defRPr b="0" i="0" strike="noStrike" sz="1100" u="none">
                    <a:solidFill>
                      <a:srgbClr val="1B1F23"/>
                    </a:solidFill>
                    <a:latin typeface="+mn-lt"/>
                  </a:defRPr>
                </a:pPr>
              </a:p>
            </c:txPr>
            <c:showLegendKey val="0"/>
            <c:showVal val="1"/>
            <c:showCatName val="0"/>
            <c:showSerName val="0"/>
            <c:showPercent val="0"/>
            <c:showBubbleSize val="0"/>
            <c:showLeaderLines val="0"/>
          </c:dLbls>
          <c:dPt>
            <c:idx val="0"/>
            <c:invertIfNegative val="0"/>
            <c:bubble3D val="0"/>
            <c:spPr>
              <a:solidFill>
                <a:srgbClr val="0F2A3A"/>
              </a:solidFill>
              <a:effectLst/>
            </c:spPr>
          </c:dPt>
          <c:dPt>
            <c:idx val="1"/>
            <c:invertIfNegative val="0"/>
            <c:bubble3D val="0"/>
            <c:spPr>
              <a:solidFill>
                <a:srgbClr val="0F2A3A"/>
              </a:solidFill>
              <a:effectLst/>
            </c:spPr>
          </c:dPt>
          <c:dPt>
            <c:idx val="2"/>
            <c:invertIfNegative val="0"/>
            <c:bubble3D val="0"/>
            <c:spPr>
              <a:solidFill>
                <a:srgbClr val="8C9AA3"/>
              </a:solidFill>
              <a:effectLst/>
            </c:spPr>
          </c:dPt>
          <c:dPt>
            <c:idx val="3"/>
            <c:invertIfNegative val="0"/>
            <c:bubble3D val="0"/>
            <c:spPr>
              <a:solidFill>
                <a:srgbClr val="8C9AA3"/>
              </a:solidFill>
              <a:effectLst/>
            </c:spPr>
          </c:dPt>
          <c:dPt>
            <c:idx val="4"/>
            <c:invertIfNegative val="0"/>
            <c:bubble3D val="0"/>
            <c:spPr>
              <a:solidFill>
                <a:srgbClr val="8C9AA3"/>
              </a:solidFill>
              <a:effectLst/>
            </c:spPr>
          </c:dPt>
          <c:dPt>
            <c:idx val="5"/>
            <c:invertIfNegative val="0"/>
            <c:bubble3D val="0"/>
            <c:spPr>
              <a:solidFill>
                <a:srgbClr val="E8871E"/>
              </a:solidFill>
              <a:effectLst/>
            </c:spPr>
          </c:dPt>
          <c:cat>
            <c:multiLvlStrRef>
              <c:f>Sheet1!$A$2:$A$7</c:f>
              <c:multiLvlStrCache>
                <c:ptCount val="6"/>
                <c:lvl>
                  <c:pt idx="0">
                    <c:v>FPI net flow</c:v>
                  </c:pt>
                  <c:pt idx="1">
                    <c:v>Broad dollar</c:v>
                  </c:pt>
                  <c:pt idx="2">
                    <c:v>Rate-gap change</c:v>
                  </c:pt>
                  <c:pt idx="3">
                    <c:v>Inflation gap</c:v>
                  </c:pt>
                  <c:pt idx="4">
                    <c:v>Trade-bal change</c:v>
                  </c:pt>
                  <c:pt idx="5">
                    <c:v>Brent oil</c:v>
                  </c:pt>
                </c:lvl>
              </c:multiLvlStrCache>
            </c:multiLvlStrRef>
          </c:cat>
          <c:val>
            <c:numRef>
              <c:f>Sheet1!$B$2:$B$7</c:f>
              <c:numCache>
                <c:formatCode>General</c:formatCode>
                <c:ptCount val="6"/>
                <c:pt idx="0">
                  <c:v>-0.397</c:v>
                </c:pt>
                <c:pt idx="1">
                  <c:v>0.325</c:v>
                </c:pt>
                <c:pt idx="2">
                  <c:v>0.173</c:v>
                </c:pt>
                <c:pt idx="3">
                  <c:v>0.144</c:v>
                </c:pt>
                <c:pt idx="4">
                  <c:v>0.107</c:v>
                </c:pt>
                <c:pt idx="5">
                  <c:v>-0.011</c:v>
                </c:pt>
              </c:numCache>
            </c:numRef>
          </c:val>
        </c:ser>
        <c:dLbls>
          <c:numFmt formatCode="0.00" sourceLinked="0"/>
          <c:txPr>
            <a:bodyPr/>
            <a:lstStyle/>
            <a:p>
              <a:pPr>
                <a:defRPr b="0" i="0" strike="noStrike" sz="1100" u="none">
                  <a:solidFill>
                    <a:srgbClr val="1B1F2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1F23"/>
                </a:solidFill>
                <a:latin typeface="+mn-lt"/>
              </a:defRPr>
            </a:pPr>
            <a:endParaRPr lang="en-US"/>
          </a:p>
        </c:txPr>
        <c:crossAx val="2094734552"/>
        <c:crosses val="autoZero"/>
        <c:auto val="1"/>
        <c:lblAlgn val="ctr"/>
        <c:noMultiLvlLbl val="1"/>
      </c:catAx>
      <c:valAx>
        <c:axId val="2094734552"/>
        <c:scaling>
          <c:orientation val="minMax"/>
          <c:max val="0.5"/>
          <c:min val="-0.5"/>
        </c:scaling>
        <c:delete val="0"/>
        <c:axPos val="b"/>
        <c:majorGridlines>
          <c:spPr>
            <a:ln w="9525" cap="flat">
              <a:solidFill>
                <a:srgbClr val="E3E8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F6B73"/>
                </a:solidFill>
                <a:latin typeface="+mn-lt"/>
              </a:defRPr>
            </a:pPr>
            <a:endParaRPr lang="en-US"/>
          </a:p>
        </c:txPr>
        <c:crossAx val="2094734554"/>
        <c:crosses val="autoZero"/>
        <c:crossBetween val="between"/>
        <c:majorUnit val="0.25"/>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2A3A"/>
                </a:solidFill>
                <a:latin typeface="+mn-lt"/>
              </a:defRPr>
            </a:pPr>
            <a:r>
              <a:rPr sz="1400" b="0" i="0" u="none" strike="noStrike">
                <a:solidFill>
                  <a:srgbClr val="0F2A3A"/>
                </a:solidFill>
                <a:latin typeface="+mn-lt"/>
              </a:rPr>
              <a:t>Test RMSE, Jan 2023 – Aug 2026 (lower is better)</a:t>
            </a:r>
          </a:p>
        </c:rich>
      </c:tx>
      <c:layout/>
      <c:overlay val="0"/>
    </c:title>
    <c:autoTitleDeleted val="0"/>
    <c:plotArea>
      <c:layout/>
      <c:barChart>
        <c:barDir val="col"/>
        <c:grouping val="clustered"/>
        <c:varyColors val="0"/>
        <c:ser>
          <c:idx val="0"/>
          <c:order val="0"/>
          <c:tx>
            <c:strRef>
              <c:f>Sheet1!$B$1</c:f>
              <c:strCache>
                <c:ptCount val="1"/>
                <c:pt idx="0">
                  <c:v>Test RMSE</c:v>
                </c:pt>
              </c:strCache>
            </c:strRef>
          </c:tx>
          <c:spPr>
            <a:solidFill>
              <a:srgbClr val="E8871E"/>
            </a:solidFill>
            <a:effectLst/>
          </c:spPr>
          <c:invertIfNegative val="0"/>
          <c:dLbls>
            <c:numFmt formatCode="0.00" sourceLinked="0"/>
            <c:txPr>
              <a:bodyPr/>
              <a:lstStyle/>
              <a:p>
                <a:pPr>
                  <a:defRPr b="0" i="0" strike="noStrike" sz="1100" u="none">
                    <a:solidFill>
                      <a:srgbClr val="1B1F23"/>
                    </a:solidFill>
                    <a:latin typeface="+mn-lt"/>
                  </a:defRPr>
                </a:pPr>
              </a:p>
            </c:txPr>
            <c:showLegendKey val="0"/>
            <c:showVal val="1"/>
            <c:showCatName val="0"/>
            <c:showSerName val="0"/>
            <c:showPercent val="0"/>
            <c:showBubbleSize val="0"/>
            <c:showLeaderLines val="0"/>
          </c:dLbls>
          <c:dPt>
            <c:idx val="0"/>
            <c:invertIfNegative val="0"/>
            <c:bubble3D val="0"/>
            <c:spPr>
              <a:solidFill>
                <a:srgbClr val="E8871E"/>
              </a:solidFill>
              <a:effectLst/>
            </c:spPr>
          </c:dPt>
          <c:dPt>
            <c:idx val="1"/>
            <c:invertIfNegative val="0"/>
            <c:bubble3D val="0"/>
            <c:spPr>
              <a:solidFill>
                <a:srgbClr val="8C9AA3"/>
              </a:solidFill>
              <a:effectLst/>
            </c:spPr>
          </c:dPt>
          <c:dPt>
            <c:idx val="2"/>
            <c:invertIfNegative val="0"/>
            <c:bubble3D val="0"/>
            <c:spPr>
              <a:solidFill>
                <a:srgbClr val="8C9AA3"/>
              </a:solidFill>
              <a:effectLst/>
            </c:spPr>
          </c:dPt>
          <c:dPt>
            <c:idx val="3"/>
            <c:invertIfNegative val="0"/>
            <c:bubble3D val="0"/>
            <c:spPr>
              <a:solidFill>
                <a:srgbClr val="8C9AA3"/>
              </a:solidFill>
              <a:effectLst/>
            </c:spPr>
          </c:dPt>
          <c:dPt>
            <c:idx val="4"/>
            <c:invertIfNegative val="0"/>
            <c:bubble3D val="0"/>
            <c:spPr>
              <a:solidFill>
                <a:srgbClr val="0F2A3A"/>
              </a:solidFill>
              <a:effectLst/>
            </c:spPr>
          </c:dPt>
          <c:dPt>
            <c:idx val="5"/>
            <c:invertIfNegative val="0"/>
            <c:bubble3D val="0"/>
            <c:spPr>
              <a:solidFill>
                <a:srgbClr val="8C9AA3"/>
              </a:solidFill>
              <a:effectLst/>
            </c:spPr>
          </c:dPt>
          <c:cat>
            <c:multiLvlStrRef>
              <c:f>Sheet1!$A$2:$A$7</c:f>
              <c:multiLvlStrCache>
                <c:ptCount val="6"/>
                <c:lvl>
                  <c:pt idx="0">
                    <c:v>Naive mean</c:v>
                  </c:pt>
                  <c:pt idx="1">
                    <c:v>F: lagged</c:v>
                  </c:pt>
                  <c:pt idx="2">
                    <c:v>A: oil</c:v>
                  </c:pt>
                  <c:pt idx="3">
                    <c:v>B</c:v>
                  </c:pt>
                  <c:pt idx="4">
                    <c:v>C: six-factor</c:v>
                  </c:pt>
                  <c:pt idx="5">
                    <c:v>D</c:v>
                  </c:pt>
                </c:lvl>
              </c:multiLvlStrCache>
            </c:multiLvlStrRef>
          </c:cat>
          <c:val>
            <c:numRef>
              <c:f>Sheet1!$B$2:$B$7</c:f>
              <c:numCache>
                <c:formatCode>General</c:formatCode>
                <c:ptCount val="6"/>
                <c:pt idx="0">
                  <c:v>0.738</c:v>
                </c:pt>
                <c:pt idx="1">
                  <c:v>0.785</c:v>
                </c:pt>
                <c:pt idx="2">
                  <c:v>0.865</c:v>
                </c:pt>
                <c:pt idx="3">
                  <c:v>0.872</c:v>
                </c:pt>
                <c:pt idx="4">
                  <c:v>1.008</c:v>
                </c:pt>
                <c:pt idx="5">
                  <c:v>1.14</c:v>
                </c:pt>
              </c:numCache>
            </c:numRef>
          </c:val>
        </c:ser>
        <c:dLbls>
          <c:numFmt formatCode="0.00" sourceLinked="0"/>
          <c:txPr>
            <a:bodyPr/>
            <a:lstStyle/>
            <a:p>
              <a:pPr>
                <a:defRPr b="0" i="0" strike="noStrike" sz="1100" u="none">
                  <a:solidFill>
                    <a:srgbClr val="1B1F2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1F23"/>
                </a:solidFill>
                <a:latin typeface="+mn-lt"/>
              </a:defRPr>
            </a:pPr>
            <a:endParaRPr lang="en-US"/>
          </a:p>
        </c:txPr>
        <c:crossAx val="2094734552"/>
        <c:crosses val="autoZero"/>
        <c:auto val="1"/>
        <c:lblAlgn val="ctr"/>
        <c:noMultiLvlLbl val="1"/>
      </c:catAx>
      <c:valAx>
        <c:axId val="2094734552"/>
        <c:scaling>
          <c:orientation val="minMax"/>
          <c:max val="1.2"/>
          <c:min val="0"/>
        </c:scaling>
        <c:delete val="0"/>
        <c:axPos val="l"/>
        <c:majorGridlines>
          <c:spPr>
            <a:ln w="9525" cap="flat">
              <a:solidFill>
                <a:srgbClr val="E3E8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F6B73"/>
                </a:solidFill>
                <a:latin typeface="+mn-lt"/>
              </a:defRPr>
            </a:pPr>
            <a:endParaRPr lang="en-US"/>
          </a:p>
        </c:txPr>
        <c:crossAx val="2094734554"/>
        <c:crosses val="autoZero"/>
        <c:crossBetween val="between"/>
        <c:majorUnit val="0.3"/>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Ankit opens. Introduce the team and the question: is oil really what moves the rupee, or something else? We answer it with 175 months of official data and an R-based intelligence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one-line answer: FPI flows and the broad dollar drive the rupee; oil does not. Walk the four numbers left to right. Then the honest caveat: these drivers explain a month after it happens but don't forecast the next one, so the business answer is scenario-based hedging.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rupee has lost more than half its value against the dollar since 2010. Shaded bands are the six shock windows we study. Businesses hear 'oil went up, so the rupee fell'. Our job is to test that with data and give treasurers a better decision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research question maps to a block of the syllabus, sessions 6 to 18. This is how we cover the maximum concepts on one real business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data comes from official publishers, pulled by R code. Two series, NSDL FPI and recent MoSPI CPI, are copied exactly from official tables because there's no API. Nothing is simulated or filled in, and every column has a provenance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command, source R/run_all.R, runs everything. Key design choices: we model monthly returns, not levels, because the ADF test shows levels trend; and we split train and test by date so no model sees the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Gopalakrishnan presents. The mode month type is a depreciation above half a percent. The distribution is right-skewed: big falls in the rupee are bigger than big gains.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Correlations on the left: FPI and the dollar lead, oil is small and not significant. On the right, the tests confirm it: outflow months are much weaker, oil-up and oil-down months are no different, and ANOVA across FPI regimes is highly significant.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Murugan presents. The nested-model experiment. Model A uses oil only: adjusted R-squared 0.03. Model C adds inflation gap, rate gap, dollar, FPI and trade, and jumps to 0.43. Model D adds VIX and lagged FPI and gains nothing. Inside Model C oil's coefficient is essentially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Standardised betas put every driver on one scale. Only FPI and the broad dollar are significant with Newey-West robust errors. In real units, a US$1 bn inflow means a 0.18% stronger rupee; a 1% dollar rally means a 0.43% weaker rupee. Diagnostics are clean.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2023 to 2026 test months, the naive average has the lowest error. Model C explains in sample but its test RMSE is 1.01. We report this as a finding: same-month associations are real, next month is hard to predict. That shapes our managerial advice.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Aswin presents. A high-pressure month is depreciation above 1.26 percent. Early warning uses only last month's data, so it's a true forecast: LDA catches 4 of 5 stress months with balanced accuracy 0.72. Nowcast uses same-month data: AUC up to 0.87, but that's explanation, not prediction.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early-warning tree scored 88 percent accuracy by always saying Normal, and caught zero stress months. That's why we use the confusion matrix and balanced accuracy. Odds ratios: falling reserves last month warn of pressure; same month, a 1 percent dollar rise multiplies the odds by 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Atul presents. Six shock windows. Look at the FPI column: every shock saw billions of outflows. Oil rose in some and crashed in others. COVID is the clearest test: oil fell 54 percent and the rupee still weakened 6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k-means on six features finds two regimes; the silhouette peaks at k equals 2 and hierarchical clustering agrees on 75 percent of months. The pressure regime is outflows, a firm dollar and rising VIX. Apriori market-basket rules: low FPI appears in almost every rule that ends in a weak rupee.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prescriptive block replaces RFM, which doesn't fit currency data. We feed shocks into Model C from 95.51 and compare the extra cost of staying unhedged on a US$10 mn payable with a 0.40 percent hedge cost. A 3 percent dollar rally or a 5 billion outflow says Hedge; a 20 percent oil spike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ANKIT, about 90 seconds across this slide and the next.
[0:00-0:20, Overview] This is our Rupee Intelligence Dashboard, built in R Shiny. Everything you see is read from the pipeline's own output files, so every number traces back to an official source. The top row gives a treasurer the situation in five seconds: USD/INR averaged 95.51 in September, the live Yahoo quote is 94.94, our month-to-date model estimate for October is plus 1.84 percent, and reserves stand at 636 billion dollars.
[0:20-0:30, chart] The chart is the rupee since 2010. Grey bands are the six shocks we study, from the taper tantrum to the 2026 West Asia conflict.
[0:30] Let me show you the tabs that turn this into a decision.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ANKIT, continued.
[0:30-0:45, Shock Explorer] Pick any shock. Here, the 2026 West Asia conflict: Brent jumped by about two-thirds, yet the rupee moved only about 5 percent. Oil is not the story.
[0:45-1:00, Driver Scorecard] This is why. Only FPI flows and the broad dollar are significant; oil sits on zero. The table beside it is our 'Is oil the villain?' model comparison.
[1:00-1:20, What-if Simulator] The heart of the app. A treasurer moves sliders: oil plus 20, dollar plus 3, FPI outflow of 5 billion. The model says plus 2 percent, about 97.4 rupees, with an 80 percent range of 0.5 to 3.5 percent. That range, not a point forecast, is what we hedge against.
[1:20-1:35, Stress Monitor] Finally, the monthly probability of a high-pressure month, early-warning or nowcast, with the test-period scorecard.
[1:35-1:45] Regimes and Rules shows the two currency regimes, and Data and Sources shows the provenance of every column. It refreshes daily with one script. Over to Devanshu.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Devanshu presents. Six takeaways. The headline: don't hedge on oil headlines; watch FPI and the dollar; set hedging policy using scenarios because forecasts don't beat naive.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these are associations. Two signs run against theory, likely reverse causation. Future work: daily data, RBI repo and intervention data, regime-switching models, and a hosted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one sentence, the team contributions, and open for questions. Reproduce with Rscript R/run_all.R then shiny::runApp().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74320" y="91440"/>
            <a:ext cx="1143000" cy="310896"/>
          </a:xfrm>
          <a:prstGeom prst="rect">
            <a:avLst/>
          </a:prstGeom>
          <a:solidFill>
            <a:srgbClr val="0F2A3A"/>
          </a:solidFill>
          <a:ln/>
        </p:spPr>
      </p:sp>
      <p:sp>
        <p:nvSpPr>
          <p:cNvPr id="3" name="Text 1"/>
          <p:cNvSpPr/>
          <p:nvPr/>
        </p:nvSpPr>
        <p:spPr>
          <a:xfrm>
            <a:off x="274320" y="91440"/>
            <a:ext cx="114300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GROUP 4</a:t>
            </a:r>
            <a:endParaRPr lang="en-US" sz="1200" dirty="0"/>
          </a:p>
        </p:txBody>
      </p:sp>
      <p:sp>
        <p:nvSpPr>
          <p:cNvPr id="4" name="Text 2"/>
          <p:cNvSpPr/>
          <p:nvPr/>
        </p:nvSpPr>
        <p:spPr>
          <a:xfrm>
            <a:off x="2194560" y="91440"/>
            <a:ext cx="6583680" cy="310896"/>
          </a:xfrm>
          <a:prstGeom prst="rect">
            <a:avLst/>
          </a:prstGeom>
          <a:noFill/>
          <a:ln/>
        </p:spPr>
        <p:txBody>
          <a:bodyPr wrap="square" lIns="0" tIns="0" rIns="0" bIns="0" rtlCol="0" anchor="ctr"/>
          <a:lstStyle/>
          <a:p>
            <a:pPr algn="ctr" indent="0" marL="0">
              <a:buNone/>
            </a:pPr>
            <a:r>
              <a:rPr lang="en-US" sz="1300" i="1" dirty="0">
                <a:solidFill>
                  <a:srgbClr val="5F6B73"/>
                </a:solidFill>
                <a:latin typeface="Calibri" pitchFamily="34" charset="0"/>
                <a:ea typeface="Calibri" pitchFamily="34" charset="-122"/>
                <a:cs typeface="Calibri" pitchFamily="34" charset="-120"/>
              </a:rPr>
              <a:t>What Really Drives the Rupee? Decoding USD/INR Movements</a:t>
            </a:r>
            <a:endParaRPr lang="en-US" sz="1300" dirty="0"/>
          </a:p>
        </p:txBody>
      </p:sp>
      <p:sp>
        <p:nvSpPr>
          <p:cNvPr id="5" name="Shape 3"/>
          <p:cNvSpPr/>
          <p:nvPr/>
        </p:nvSpPr>
        <p:spPr>
          <a:xfrm>
            <a:off x="0" y="502920"/>
            <a:ext cx="10607040" cy="868680"/>
          </a:xfrm>
          <a:prstGeom prst="rect">
            <a:avLst/>
          </a:prstGeom>
          <a:solidFill>
            <a:srgbClr val="0F2A3A"/>
          </a:solidFill>
          <a:ln/>
        </p:spPr>
      </p:sp>
      <p:sp>
        <p:nvSpPr>
          <p:cNvPr id="6" name="Text 4"/>
          <p:cNvSpPr/>
          <p:nvPr/>
        </p:nvSpPr>
        <p:spPr>
          <a:xfrm>
            <a:off x="11384280" y="6382512"/>
            <a:ext cx="640080" cy="329184"/>
          </a:xfrm>
          <a:prstGeom prst="rect">
            <a:avLst/>
          </a:prstGeom>
          <a:noFill/>
          <a:ln/>
        </p:spPr>
        <p:txBody>
          <a:bodyPr wrap="square" lIns="0" tIns="0" rIns="0" bIns="0" rtlCol="0" anchor="ctr"/>
          <a:lstStyle/>
          <a:p>
            <a:pPr algn="l" indent="0" marL="0">
              <a:buNone/>
            </a:pPr>
            <a:r>
              <a:rPr lang="en-US" sz="1200" b="1" dirty="0">
                <a:solidFill>
                  <a:srgbClr val="0F2A3A"/>
                </a:solidFill>
                <a:latin typeface="Calibri" pitchFamily="34" charset="0"/>
                <a:ea typeface="Calibri" pitchFamily="34" charset="-122"/>
                <a:cs typeface="Calibri" pitchFamily="34" charset="-120"/>
              </a:rPr>
              <a:t>of 21</a:t>
            </a:r>
            <a:endParaRPr lang="en-US" sz="1200" dirty="0"/>
          </a:p>
        </p:txBody>
      </p:sp>
      <p:sp>
        <p:nvSpPr>
          <p:cNvPr id="7" name="Text 5"/>
          <p:cNvSpPr/>
          <p:nvPr>
            <p:ph idx="105" type="title" hasCustomPrompt="1"/>
          </p:nvPr>
        </p:nvSpPr>
        <p:spPr>
          <a:xfrm>
            <a:off x="365760" y="502920"/>
            <a:ext cx="10058400" cy="868680"/>
          </a:xfrm>
          <a:prstGeom prst="rect">
            <a:avLst/>
          </a:prstGeom>
          <a:noFill/>
          <a:ln/>
        </p:spPr>
        <p:txBody>
          <a:bodyPr wrap="square" rtlCol="0"/>
          <a:lstStyle>
            <a:lvl1pPr algn="l" indent="0" marL="0">
              <a:buNone/>
              <a:defRPr lang="en-US" sz="2800" b="1" dirty="0">
                <a:solidFill>
                  <a:srgbClr val="FFFFFF"/>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0927080" y="6382512"/>
            <a:ext cx="420624" cy="329184"/>
          </a:xfrm>
          <a:prstGeom prst="rect">
            <a:avLst/>
          </a:prstGeom>
          <a:extLst>
            <a:ext uri="{C572A759-6A51-4108-AA02-DFA0A04FC94B}">
              <ma14:wrappingTextBoxFlag xmlns:ma14="http://schemas.microsoft.com/office/mac/drawingml/2011/main" val="0"/>
            </a:ext>
          </a:extLst>
        </p:spPr>
        <p:txBody>
          <a:bodyPr/>
          <a:lstStyle>
            <a:lvl1pPr>
              <a:defRPr sz="1200">
                <a:solidFill>
                  <a:srgbClr val="0F2A3A"/>
                </a:solidFill>
                <a:latin typeface="Calibri"/>
                <a:ea typeface="Calibri"/>
                <a:cs typeface="Calibri"/>
              </a:defRPr>
            </a:lvl1pPr>
          </a:lstStyle>
          <a:p>
            <a:pPr algn="r"/>
            <a:fld id="{F7021451-1387-4CA6-816F-3879F97B5CBC}" type="slidenum">
              <a:rPr b="1"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27080" y="6382512"/>
            <a:ext cx="420624" cy="329184"/>
          </a:xfrm>
          <a:prstGeom prst="rect">
            <a:avLst/>
          </a:prstGeom>
          <a:extLst>
            <a:ext uri="{C572A759-6A51-4108-AA02-DFA0A04FC94B}">
              <ma14:wrappingTextBoxFlag xmlns:ma14="http://schemas.microsoft.com/office/mac/drawingml/2011/main" val="0"/>
            </a:ext>
          </a:extLst>
        </p:spPr>
        <p:txBody>
          <a:bodyPr/>
          <a:lstStyle>
            <a:lvl1pPr>
              <a:defRPr sz="1200">
                <a:solidFill>
                  <a:srgbClr val="0F2A3A"/>
                </a:solidFill>
                <a:latin typeface="Calibri"/>
                <a:ea typeface="Calibri"/>
                <a:cs typeface="Calibri"/>
              </a:defRPr>
            </a:lvl1pPr>
          </a:lstStyle>
          <a:p>
            <a:pPr algn="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www.linkedin.com/search/results/people/?keywords=Ankit%20Singh%20IIM%20Kashipur" TargetMode="External"/><Relationship Id="rId2" Type="http://schemas.openxmlformats.org/officeDocument/2006/relationships/hyperlink" Target="mailto:ankit.embaa25004@iimkashipur.ac.in" TargetMode="External"/><Relationship Id="rId3" Type="http://schemas.openxmlformats.org/officeDocument/2006/relationships/hyperlink" Target="https://www.linkedin.com/search/results/people/?keywords=Gopalakrishnan%20S%20IIM%20Kashipur" TargetMode="External"/><Relationship Id="rId4" Type="http://schemas.openxmlformats.org/officeDocument/2006/relationships/hyperlink" Target="mailto:gopalakrishnan.embaa25017@iimkashipur.ac.in" TargetMode="External"/><Relationship Id="rId5" Type="http://schemas.openxmlformats.org/officeDocument/2006/relationships/hyperlink" Target="https://www.linkedin.com/search/results/people/?keywords=Murugan%20Perumal%20IIM%20Kashipur" TargetMode="External"/><Relationship Id="rId6" Type="http://schemas.openxmlformats.org/officeDocument/2006/relationships/hyperlink" Target="mailto:murugan.embaa25020@iimkashipur.ac.in" TargetMode="External"/><Relationship Id="rId7" Type="http://schemas.openxmlformats.org/officeDocument/2006/relationships/hyperlink" Target="https://www.linkedin.com/search/results/people/?keywords=Aswin%20G.%20IIM%20Kashipur" TargetMode="External"/><Relationship Id="rId8" Type="http://schemas.openxmlformats.org/officeDocument/2006/relationships/hyperlink" Target="mailto:aswin.embaa25008@iimkashipur.ac.in" TargetMode="External"/><Relationship Id="rId9" Type="http://schemas.openxmlformats.org/officeDocument/2006/relationships/hyperlink" Target="https://www.linkedin.com/search/results/people/?keywords=Atul%20Kumar%20Singh%20IIM%20Kashipur" TargetMode="External"/><Relationship Id="rId10" Type="http://schemas.openxmlformats.org/officeDocument/2006/relationships/hyperlink" Target="mailto:atul.embaa25009@iimkashipur.ac.in" TargetMode="External"/><Relationship Id="rId11" Type="http://schemas.openxmlformats.org/officeDocument/2006/relationships/hyperlink" Target="https://www.linkedin.com/search/results/people/?keywords=Devanshu%20Priyam%20IIM%20Kashipur" TargetMode="External"/><Relationship Id="rId12" Type="http://schemas.openxmlformats.org/officeDocument/2006/relationships/hyperlink" Target="mailto:devanshu.embaa25014@iimkashipur.ac.in" TargetMode="External"/><Relationship Id="rId13" Type="http://schemas.openxmlformats.org/officeDocument/2006/relationships/slideLayout" Target="../slideLayouts/slideLayout2.xml"/><Relationship Id="rId1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www.linkedin.com/search/results/people/?keywords=Ankit%20Singh%20IIM%20Kashipur" TargetMode="External"/><Relationship Id="rId2" Type="http://schemas.openxmlformats.org/officeDocument/2006/relationships/hyperlink" Target="mailto:ankit.embaa25004@iimkashipur.ac.in" TargetMode="External"/><Relationship Id="rId3" Type="http://schemas.openxmlformats.org/officeDocument/2006/relationships/hyperlink" Target="https://www.linkedin.com/search/results/people/?keywords=Gopalakrishnan%20S%20IIM%20Kashipur" TargetMode="External"/><Relationship Id="rId4" Type="http://schemas.openxmlformats.org/officeDocument/2006/relationships/hyperlink" Target="mailto:gopalakrishnan.embaa25017@iimkashipur.ac.in" TargetMode="External"/><Relationship Id="rId5" Type="http://schemas.openxmlformats.org/officeDocument/2006/relationships/hyperlink" Target="https://www.linkedin.com/search/results/people/?keywords=Murugan%20Perumal%20IIM%20Kashipur" TargetMode="External"/><Relationship Id="rId6" Type="http://schemas.openxmlformats.org/officeDocument/2006/relationships/hyperlink" Target="mailto:murugan.embaa25020@iimkashipur.ac.in" TargetMode="External"/><Relationship Id="rId7" Type="http://schemas.openxmlformats.org/officeDocument/2006/relationships/hyperlink" Target="https://www.linkedin.com/search/results/people/?keywords=Aswin%20G.%20IIM%20Kashipur" TargetMode="External"/><Relationship Id="rId8" Type="http://schemas.openxmlformats.org/officeDocument/2006/relationships/hyperlink" Target="mailto:aswin.embaa25008@iimkashipur.ac.in" TargetMode="External"/><Relationship Id="rId9" Type="http://schemas.openxmlformats.org/officeDocument/2006/relationships/hyperlink" Target="https://www.linkedin.com/search/results/people/?keywords=Atul%20Kumar%20Singh%20IIM%20Kashipur" TargetMode="External"/><Relationship Id="rId10" Type="http://schemas.openxmlformats.org/officeDocument/2006/relationships/hyperlink" Target="mailto:atul.embaa25009@iimkashipur.ac.in" TargetMode="External"/><Relationship Id="rId11" Type="http://schemas.openxmlformats.org/officeDocument/2006/relationships/hyperlink" Target="https://www.linkedin.com/search/results/people/?keywords=Devanshu%20Priyam%20IIM%20Kashipur" TargetMode="External"/><Relationship Id="rId12" Type="http://schemas.openxmlformats.org/officeDocument/2006/relationships/hyperlink" Target="mailto:devanshu.embaa25014@iimkashipur.ac.in" TargetMode="External"/><Relationship Id="rId13" Type="http://schemas.openxmlformats.org/officeDocument/2006/relationships/slideLayout" Target="../slideLayouts/slideLayout2.xml"/><Relationship Id="rId1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www.linkedin.com/search/results/people/?keywords=Ankit%20Singh%20IIM%20Kashipur" TargetMode="External"/><Relationship Id="rId2" Type="http://schemas.openxmlformats.org/officeDocument/2006/relationships/hyperlink" Target="mailto:ankit.embaa25004@iimkashipur.ac.in" TargetMode="External"/><Relationship Id="rId3" Type="http://schemas.openxmlformats.org/officeDocument/2006/relationships/hyperlink" Target="https://www.linkedin.com/search/results/people/?keywords=Gopalakrishnan%20S%20IIM%20Kashipur" TargetMode="External"/><Relationship Id="rId4" Type="http://schemas.openxmlformats.org/officeDocument/2006/relationships/hyperlink" Target="mailto:gopalakrishnan.embaa25017@iimkashipur.ac.in" TargetMode="External"/><Relationship Id="rId5" Type="http://schemas.openxmlformats.org/officeDocument/2006/relationships/hyperlink" Target="https://www.linkedin.com/search/results/people/?keywords=Murugan%20Perumal%20IIM%20Kashipur" TargetMode="External"/><Relationship Id="rId6" Type="http://schemas.openxmlformats.org/officeDocument/2006/relationships/hyperlink" Target="mailto:murugan.embaa25020@iimkashipur.ac.in" TargetMode="External"/><Relationship Id="rId7" Type="http://schemas.openxmlformats.org/officeDocument/2006/relationships/hyperlink" Target="https://www.linkedin.com/search/results/people/?keywords=Aswin%20G.%20IIM%20Kashipur" TargetMode="External"/><Relationship Id="rId8" Type="http://schemas.openxmlformats.org/officeDocument/2006/relationships/hyperlink" Target="mailto:aswin.embaa25008@iimkashipur.ac.in" TargetMode="External"/><Relationship Id="rId9" Type="http://schemas.openxmlformats.org/officeDocument/2006/relationships/hyperlink" Target="https://www.linkedin.com/search/results/people/?keywords=Atul%20Kumar%20Singh%20IIM%20Kashipur" TargetMode="External"/><Relationship Id="rId10" Type="http://schemas.openxmlformats.org/officeDocument/2006/relationships/hyperlink" Target="mailto:atul.embaa25009@iimkashipur.ac.in" TargetMode="External"/><Relationship Id="rId11" Type="http://schemas.openxmlformats.org/officeDocument/2006/relationships/hyperlink" Target="https://www.linkedin.com/search/results/people/?keywords=Devanshu%20Priyam%20IIM%20Kashipur" TargetMode="External"/><Relationship Id="rId12" Type="http://schemas.openxmlformats.org/officeDocument/2006/relationships/hyperlink" Target="mailto:devanshu.embaa25014@iimkashipur.ac.in" TargetMode="External"/><Relationship Id="rId13" Type="http://schemas.openxmlformats.org/officeDocument/2006/relationships/image" Target="../media/image-3-1.png"/><Relationship Id="rId14" Type="http://schemas.openxmlformats.org/officeDocument/2006/relationships/slideLayout" Target="../slideLayouts/slideLayout2.xml"/><Relationship Id="rId1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www.linkedin.com/search/results/people/?keywords=Ankit%20Singh%20IIM%20Kashipur" TargetMode="External"/><Relationship Id="rId2" Type="http://schemas.openxmlformats.org/officeDocument/2006/relationships/hyperlink" Target="mailto:ankit.embaa25004@iimkashipur.ac.in" TargetMode="External"/><Relationship Id="rId3" Type="http://schemas.openxmlformats.org/officeDocument/2006/relationships/hyperlink" Target="https://www.linkedin.com/search/results/people/?keywords=Gopalakrishnan%20S%20IIM%20Kashipur" TargetMode="External"/><Relationship Id="rId4" Type="http://schemas.openxmlformats.org/officeDocument/2006/relationships/hyperlink" Target="mailto:gopalakrishnan.embaa25017@iimkashipur.ac.in" TargetMode="External"/><Relationship Id="rId5" Type="http://schemas.openxmlformats.org/officeDocument/2006/relationships/hyperlink" Target="https://www.linkedin.com/search/results/people/?keywords=Murugan%20Perumal%20IIM%20Kashipur" TargetMode="External"/><Relationship Id="rId6" Type="http://schemas.openxmlformats.org/officeDocument/2006/relationships/hyperlink" Target="mailto:murugan.embaa25020@iimkashipur.ac.in" TargetMode="External"/><Relationship Id="rId7" Type="http://schemas.openxmlformats.org/officeDocument/2006/relationships/hyperlink" Target="https://www.linkedin.com/search/results/people/?keywords=Aswin%20G.%20IIM%20Kashipur" TargetMode="External"/><Relationship Id="rId8" Type="http://schemas.openxmlformats.org/officeDocument/2006/relationships/hyperlink" Target="mailto:aswin.embaa25008@iimkashipur.ac.in" TargetMode="External"/><Relationship Id="rId9" Type="http://schemas.openxmlformats.org/officeDocument/2006/relationships/hyperlink" Target="https://www.linkedin.com/search/results/people/?keywords=Atul%20Kumar%20Singh%20IIM%20Kashipur" TargetMode="External"/><Relationship Id="rId10" Type="http://schemas.openxmlformats.org/officeDocument/2006/relationships/hyperlink" Target="mailto:atul.embaa25009@iimkashipur.ac.in" TargetMode="External"/><Relationship Id="rId11" Type="http://schemas.openxmlformats.org/officeDocument/2006/relationships/hyperlink" Target="https://www.linkedin.com/search/results/people/?keywords=Devanshu%20Priyam%20IIM%20Kashipur" TargetMode="External"/><Relationship Id="rId12" Type="http://schemas.openxmlformats.org/officeDocument/2006/relationships/hyperlink" Target="mailto:devanshu.embaa25014@iimkashipur.ac.in" TargetMode="External"/><Relationship Id="rId13" Type="http://schemas.openxmlformats.org/officeDocument/2006/relationships/slideLayout" Target="../slideLayouts/slideLayout2.xml"/><Relationship Id="rId1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www.linkedin.com/search/results/people/?keywords=Ankit%20Singh%20IIM%20Kashipur" TargetMode="External"/><Relationship Id="rId2" Type="http://schemas.openxmlformats.org/officeDocument/2006/relationships/hyperlink" Target="mailto:ankit.embaa25004@iimkashipur.ac.in" TargetMode="External"/><Relationship Id="rId3" Type="http://schemas.openxmlformats.org/officeDocument/2006/relationships/hyperlink" Target="https://www.linkedin.com/search/results/people/?keywords=Gopalakrishnan%20S%20IIM%20Kashipur" TargetMode="External"/><Relationship Id="rId4" Type="http://schemas.openxmlformats.org/officeDocument/2006/relationships/hyperlink" Target="mailto:gopalakrishnan.embaa25017@iimkashipur.ac.in" TargetMode="External"/><Relationship Id="rId5" Type="http://schemas.openxmlformats.org/officeDocument/2006/relationships/hyperlink" Target="https://www.linkedin.com/search/results/people/?keywords=Murugan%20Perumal%20IIM%20Kashipur" TargetMode="External"/><Relationship Id="rId6" Type="http://schemas.openxmlformats.org/officeDocument/2006/relationships/hyperlink" Target="mailto:murugan.embaa25020@iimkashipur.ac.in" TargetMode="External"/><Relationship Id="rId7" Type="http://schemas.openxmlformats.org/officeDocument/2006/relationships/hyperlink" Target="https://www.linkedin.com/search/results/people/?keywords=Aswin%20G.%20IIM%20Kashipur" TargetMode="External"/><Relationship Id="rId8" Type="http://schemas.openxmlformats.org/officeDocument/2006/relationships/hyperlink" Target="mailto:aswin.embaa25008@iimkashipur.ac.in" TargetMode="External"/><Relationship Id="rId9" Type="http://schemas.openxmlformats.org/officeDocument/2006/relationships/hyperlink" Target="https://www.linkedin.com/search/results/people/?keywords=Atul%20Kumar%20Singh%20IIM%20Kashipur" TargetMode="External"/><Relationship Id="rId10" Type="http://schemas.openxmlformats.org/officeDocument/2006/relationships/hyperlink" Target="mailto:atul.embaa25009@iimkashipur.ac.in" TargetMode="External"/><Relationship Id="rId11" Type="http://schemas.openxmlformats.org/officeDocument/2006/relationships/hyperlink" Target="https://www.linkedin.com/search/results/people/?keywords=Devanshu%20Priyam%20IIM%20Kashipur" TargetMode="External"/><Relationship Id="rId12" Type="http://schemas.openxmlformats.org/officeDocument/2006/relationships/hyperlink" Target="mailto:devanshu.embaa25014@iimkashipur.ac.in" TargetMode="External"/><Relationship Id="rId13" Type="http://schemas.openxmlformats.org/officeDocument/2006/relationships/slideLayout" Target="../slideLayouts/slideLayout2.xml"/><Relationship Id="rId1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www.linkedin.com/search/results/people/?keywords=Ankit%20Singh%20IIM%20Kashipur" TargetMode="External"/><Relationship Id="rId2" Type="http://schemas.openxmlformats.org/officeDocument/2006/relationships/hyperlink" Target="mailto:ankit.embaa25004@iimkashipur.ac.in" TargetMode="External"/><Relationship Id="rId3" Type="http://schemas.openxmlformats.org/officeDocument/2006/relationships/hyperlink" Target="https://www.linkedin.com/search/results/people/?keywords=Gopalakrishnan%20S%20IIM%20Kashipur" TargetMode="External"/><Relationship Id="rId4" Type="http://schemas.openxmlformats.org/officeDocument/2006/relationships/hyperlink" Target="mailto:gopalakrishnan.embaa25017@iimkashipur.ac.in" TargetMode="External"/><Relationship Id="rId5" Type="http://schemas.openxmlformats.org/officeDocument/2006/relationships/hyperlink" Target="https://www.linkedin.com/search/results/people/?keywords=Murugan%20Perumal%20IIM%20Kashipur" TargetMode="External"/><Relationship Id="rId6" Type="http://schemas.openxmlformats.org/officeDocument/2006/relationships/hyperlink" Target="mailto:murugan.embaa25020@iimkashipur.ac.in" TargetMode="External"/><Relationship Id="rId7" Type="http://schemas.openxmlformats.org/officeDocument/2006/relationships/hyperlink" Target="https://www.linkedin.com/search/results/people/?keywords=Aswin%20G.%20IIM%20Kashipur" TargetMode="External"/><Relationship Id="rId8" Type="http://schemas.openxmlformats.org/officeDocument/2006/relationships/hyperlink" Target="mailto:aswin.embaa25008@iimkashipur.ac.in" TargetMode="External"/><Relationship Id="rId9" Type="http://schemas.openxmlformats.org/officeDocument/2006/relationships/hyperlink" Target="https://www.linkedin.com/search/results/people/?keywords=Atul%20Kumar%20Singh%20IIM%20Kashipur" TargetMode="External"/><Relationship Id="rId10" Type="http://schemas.openxmlformats.org/officeDocument/2006/relationships/hyperlink" Target="mailto:atul.embaa25009@iimkashipur.ac.in" TargetMode="External"/><Relationship Id="rId11" Type="http://schemas.openxmlformats.org/officeDocument/2006/relationships/hyperlink" Target="https://www.linkedin.com/search/results/people/?keywords=Devanshu%20Priyam%20IIM%20Kashipur" TargetMode="External"/><Relationship Id="rId12" Type="http://schemas.openxmlformats.org/officeDocument/2006/relationships/hyperlink" Target="mailto:devanshu.embaa25014@iimkashipur.ac.in" TargetMode="External"/><Relationship Id="rId13" Type="http://schemas.openxmlformats.org/officeDocument/2006/relationships/slideLayout" Target="../slideLayouts/slideLayout2.xml"/><Relationship Id="rId1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www.linkedin.com/search/results/people/?keywords=Ankit%20Singh%20IIM%20Kashipur" TargetMode="External"/><Relationship Id="rId2" Type="http://schemas.openxmlformats.org/officeDocument/2006/relationships/hyperlink" Target="mailto:ankit.embaa25004@iimkashipur.ac.in" TargetMode="External"/><Relationship Id="rId3" Type="http://schemas.openxmlformats.org/officeDocument/2006/relationships/hyperlink" Target="https://www.linkedin.com/search/results/people/?keywords=Gopalakrishnan%20S%20IIM%20Kashipur" TargetMode="External"/><Relationship Id="rId4" Type="http://schemas.openxmlformats.org/officeDocument/2006/relationships/hyperlink" Target="mailto:gopalakrishnan.embaa25017@iimkashipur.ac.in" TargetMode="External"/><Relationship Id="rId5" Type="http://schemas.openxmlformats.org/officeDocument/2006/relationships/hyperlink" Target="https://www.linkedin.com/search/results/people/?keywords=Murugan%20Perumal%20IIM%20Kashipur" TargetMode="External"/><Relationship Id="rId6" Type="http://schemas.openxmlformats.org/officeDocument/2006/relationships/hyperlink" Target="mailto:murugan.embaa25020@iimkashipur.ac.in" TargetMode="External"/><Relationship Id="rId7" Type="http://schemas.openxmlformats.org/officeDocument/2006/relationships/hyperlink" Target="https://www.linkedin.com/search/results/people/?keywords=Aswin%20G.%20IIM%20Kashipur" TargetMode="External"/><Relationship Id="rId8" Type="http://schemas.openxmlformats.org/officeDocument/2006/relationships/hyperlink" Target="mailto:aswin.embaa25008@iimkashipur.ac.in" TargetMode="External"/><Relationship Id="rId9" Type="http://schemas.openxmlformats.org/officeDocument/2006/relationships/hyperlink" Target="https://www.linkedin.com/search/results/people/?keywords=Atul%20Kumar%20Singh%20IIM%20Kashipur" TargetMode="External"/><Relationship Id="rId10" Type="http://schemas.openxmlformats.org/officeDocument/2006/relationships/hyperlink" Target="mailto:atul.embaa25009@iimkashipur.ac.in" TargetMode="External"/><Relationship Id="rId11" Type="http://schemas.openxmlformats.org/officeDocument/2006/relationships/hyperlink" Target="https://www.linkedin.com/search/results/people/?keywords=Devanshu%20Priyam%20IIM%20Kashipur" TargetMode="External"/><Relationship Id="rId12" Type="http://schemas.openxmlformats.org/officeDocument/2006/relationships/hyperlink" Target="mailto:devanshu.embaa25014@iimkashipur.ac.in" TargetMode="External"/><Relationship Id="rId13" Type="http://schemas.openxmlformats.org/officeDocument/2006/relationships/image" Target="../media/image-7-1.png"/><Relationship Id="rId14" Type="http://schemas.openxmlformats.org/officeDocument/2006/relationships/slideLayout" Target="../slideLayouts/slideLayout2.xml"/><Relationship Id="rId1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www.linkedin.com/search/results/people/?keywords=Ankit%20Singh%20IIM%20Kashipur" TargetMode="External"/><Relationship Id="rId2" Type="http://schemas.openxmlformats.org/officeDocument/2006/relationships/hyperlink" Target="mailto:ankit.embaa25004@iimkashipur.ac.in" TargetMode="External"/><Relationship Id="rId3" Type="http://schemas.openxmlformats.org/officeDocument/2006/relationships/hyperlink" Target="https://www.linkedin.com/search/results/people/?keywords=Gopalakrishnan%20S%20IIM%20Kashipur" TargetMode="External"/><Relationship Id="rId4" Type="http://schemas.openxmlformats.org/officeDocument/2006/relationships/hyperlink" Target="mailto:gopalakrishnan.embaa25017@iimkashipur.ac.in" TargetMode="External"/><Relationship Id="rId5" Type="http://schemas.openxmlformats.org/officeDocument/2006/relationships/hyperlink" Target="https://www.linkedin.com/search/results/people/?keywords=Murugan%20Perumal%20IIM%20Kashipur" TargetMode="External"/><Relationship Id="rId6" Type="http://schemas.openxmlformats.org/officeDocument/2006/relationships/hyperlink" Target="mailto:murugan.embaa25020@iimkashipur.ac.in" TargetMode="External"/><Relationship Id="rId7" Type="http://schemas.openxmlformats.org/officeDocument/2006/relationships/hyperlink" Target="https://www.linkedin.com/search/results/people/?keywords=Aswin%20G.%20IIM%20Kashipur" TargetMode="External"/><Relationship Id="rId8" Type="http://schemas.openxmlformats.org/officeDocument/2006/relationships/hyperlink" Target="mailto:aswin.embaa25008@iimkashipur.ac.in" TargetMode="External"/><Relationship Id="rId9" Type="http://schemas.openxmlformats.org/officeDocument/2006/relationships/hyperlink" Target="https://www.linkedin.com/search/results/people/?keywords=Atul%20Kumar%20Singh%20IIM%20Kashipur" TargetMode="External"/><Relationship Id="rId10" Type="http://schemas.openxmlformats.org/officeDocument/2006/relationships/hyperlink" Target="mailto:atul.embaa25009@iimkashipur.ac.in" TargetMode="External"/><Relationship Id="rId11" Type="http://schemas.openxmlformats.org/officeDocument/2006/relationships/hyperlink" Target="https://www.linkedin.com/search/results/people/?keywords=Devanshu%20Priyam%20IIM%20Kashipur" TargetMode="External"/><Relationship Id="rId12" Type="http://schemas.openxmlformats.org/officeDocument/2006/relationships/hyperlink" Target="mailto:devanshu.embaa25014@iimkashipur.ac.in" TargetMode="External"/><Relationship Id="rId13" Type="http://schemas.openxmlformats.org/officeDocument/2006/relationships/chart" Target="/ppt/charts/chart1.xml"/><Relationship Id="rId14" Type="http://schemas.openxmlformats.org/officeDocument/2006/relationships/slideLayout" Target="../slideLayouts/slideLayout2.xml"/><Relationship Id="rId1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www.linkedin.com/search/results/people/?keywords=Ankit%20Singh%20IIM%20Kashipur" TargetMode="External"/><Relationship Id="rId2" Type="http://schemas.openxmlformats.org/officeDocument/2006/relationships/hyperlink" Target="mailto:ankit.embaa25004@iimkashipur.ac.in" TargetMode="External"/><Relationship Id="rId3" Type="http://schemas.openxmlformats.org/officeDocument/2006/relationships/hyperlink" Target="https://www.linkedin.com/search/results/people/?keywords=Gopalakrishnan%20S%20IIM%20Kashipur" TargetMode="External"/><Relationship Id="rId4" Type="http://schemas.openxmlformats.org/officeDocument/2006/relationships/hyperlink" Target="mailto:gopalakrishnan.embaa25017@iimkashipur.ac.in" TargetMode="External"/><Relationship Id="rId5" Type="http://schemas.openxmlformats.org/officeDocument/2006/relationships/hyperlink" Target="https://www.linkedin.com/search/results/people/?keywords=Murugan%20Perumal%20IIM%20Kashipur" TargetMode="External"/><Relationship Id="rId6" Type="http://schemas.openxmlformats.org/officeDocument/2006/relationships/hyperlink" Target="mailto:murugan.embaa25020@iimkashipur.ac.in" TargetMode="External"/><Relationship Id="rId7" Type="http://schemas.openxmlformats.org/officeDocument/2006/relationships/hyperlink" Target="https://www.linkedin.com/search/results/people/?keywords=Aswin%20G.%20IIM%20Kashipur" TargetMode="External"/><Relationship Id="rId8" Type="http://schemas.openxmlformats.org/officeDocument/2006/relationships/hyperlink" Target="mailto:aswin.embaa25008@iimkashipur.ac.in" TargetMode="External"/><Relationship Id="rId9" Type="http://schemas.openxmlformats.org/officeDocument/2006/relationships/hyperlink" Target="https://www.linkedin.com/search/results/people/?keywords=Atul%20Kumar%20Singh%20IIM%20Kashipur" TargetMode="External"/><Relationship Id="rId10" Type="http://schemas.openxmlformats.org/officeDocument/2006/relationships/hyperlink" Target="mailto:atul.embaa25009@iimkashipur.ac.in" TargetMode="External"/><Relationship Id="rId11" Type="http://schemas.openxmlformats.org/officeDocument/2006/relationships/hyperlink" Target="https://www.linkedin.com/search/results/people/?keywords=Devanshu%20Priyam%20IIM%20Kashipur" TargetMode="External"/><Relationship Id="rId12" Type="http://schemas.openxmlformats.org/officeDocument/2006/relationships/hyperlink" Target="mailto:devanshu.embaa25014@iimkashipur.ac.in" TargetMode="External"/><Relationship Id="rId13" Type="http://schemas.openxmlformats.org/officeDocument/2006/relationships/chart" Target="/ppt/charts/chart2.xml"/><Relationship Id="rId14" Type="http://schemas.openxmlformats.org/officeDocument/2006/relationships/slideLayout" Target="../slideLayouts/slideLayout2.xml"/><Relationship Id="rId1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www.linkedin.com/search/results/people/?keywords=Ankit%20Singh%20IIM%20Kashipur" TargetMode="External"/><Relationship Id="rId2" Type="http://schemas.openxmlformats.org/officeDocument/2006/relationships/hyperlink" Target="mailto:ankit.embaa25004@iimkashipur.ac.in" TargetMode="External"/><Relationship Id="rId3" Type="http://schemas.openxmlformats.org/officeDocument/2006/relationships/hyperlink" Target="https://www.linkedin.com/search/results/people/?keywords=Gopalakrishnan%20S%20IIM%20Kashipur" TargetMode="External"/><Relationship Id="rId4" Type="http://schemas.openxmlformats.org/officeDocument/2006/relationships/hyperlink" Target="mailto:gopalakrishnan.embaa25017@iimkashipur.ac.in" TargetMode="External"/><Relationship Id="rId5" Type="http://schemas.openxmlformats.org/officeDocument/2006/relationships/hyperlink" Target="https://www.linkedin.com/search/results/people/?keywords=Murugan%20Perumal%20IIM%20Kashipur" TargetMode="External"/><Relationship Id="rId6" Type="http://schemas.openxmlformats.org/officeDocument/2006/relationships/hyperlink" Target="mailto:murugan.embaa25020@iimkashipur.ac.in" TargetMode="External"/><Relationship Id="rId7" Type="http://schemas.openxmlformats.org/officeDocument/2006/relationships/hyperlink" Target="https://www.linkedin.com/search/results/people/?keywords=Aswin%20G.%20IIM%20Kashipur" TargetMode="External"/><Relationship Id="rId8" Type="http://schemas.openxmlformats.org/officeDocument/2006/relationships/hyperlink" Target="mailto:aswin.embaa25008@iimkashipur.ac.in" TargetMode="External"/><Relationship Id="rId9" Type="http://schemas.openxmlformats.org/officeDocument/2006/relationships/hyperlink" Target="https://www.linkedin.com/search/results/people/?keywords=Atul%20Kumar%20Singh%20IIM%20Kashipur" TargetMode="External"/><Relationship Id="rId10" Type="http://schemas.openxmlformats.org/officeDocument/2006/relationships/hyperlink" Target="mailto:atul.embaa25009@iimkashipur.ac.in" TargetMode="External"/><Relationship Id="rId11" Type="http://schemas.openxmlformats.org/officeDocument/2006/relationships/hyperlink" Target="https://www.linkedin.com/search/results/people/?keywords=Devanshu%20Priyam%20IIM%20Kashipur" TargetMode="External"/><Relationship Id="rId12" Type="http://schemas.openxmlformats.org/officeDocument/2006/relationships/hyperlink" Target="mailto:devanshu.embaa25014@iimkashipur.ac.in" TargetMode="External"/><Relationship Id="rId13" Type="http://schemas.openxmlformats.org/officeDocument/2006/relationships/chart" Target="/ppt/charts/chart3.xml"/><Relationship Id="rId14" Type="http://schemas.openxmlformats.org/officeDocument/2006/relationships/slideLayout" Target="../slideLayouts/slideLayout2.xml"/><Relationship Id="rId1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www.linkedin.com/search/results/people/?keywords=Ankit%20Singh%20IIM%20Kashipur" TargetMode="External"/><Relationship Id="rId2" Type="http://schemas.openxmlformats.org/officeDocument/2006/relationships/hyperlink" Target="mailto:ankit.embaa25004@iimkashipur.ac.in" TargetMode="External"/><Relationship Id="rId3" Type="http://schemas.openxmlformats.org/officeDocument/2006/relationships/hyperlink" Target="https://www.linkedin.com/search/results/people/?keywords=Gopalakrishnan%20S%20IIM%20Kashipur" TargetMode="External"/><Relationship Id="rId4" Type="http://schemas.openxmlformats.org/officeDocument/2006/relationships/hyperlink" Target="mailto:gopalakrishnan.embaa25017@iimkashipur.ac.in" TargetMode="External"/><Relationship Id="rId5" Type="http://schemas.openxmlformats.org/officeDocument/2006/relationships/hyperlink" Target="https://www.linkedin.com/search/results/people/?keywords=Murugan%20Perumal%20IIM%20Kashipur" TargetMode="External"/><Relationship Id="rId6" Type="http://schemas.openxmlformats.org/officeDocument/2006/relationships/hyperlink" Target="mailto:murugan.embaa25020@iimkashipur.ac.in" TargetMode="External"/><Relationship Id="rId7" Type="http://schemas.openxmlformats.org/officeDocument/2006/relationships/hyperlink" Target="https://www.linkedin.com/search/results/people/?keywords=Aswin%20G.%20IIM%20Kashipur" TargetMode="External"/><Relationship Id="rId8" Type="http://schemas.openxmlformats.org/officeDocument/2006/relationships/hyperlink" Target="mailto:aswin.embaa25008@iimkashipur.ac.in" TargetMode="External"/><Relationship Id="rId9" Type="http://schemas.openxmlformats.org/officeDocument/2006/relationships/hyperlink" Target="https://www.linkedin.com/search/results/people/?keywords=Atul%20Kumar%20Singh%20IIM%20Kashipur" TargetMode="External"/><Relationship Id="rId10" Type="http://schemas.openxmlformats.org/officeDocument/2006/relationships/hyperlink" Target="mailto:atul.embaa25009@iimkashipur.ac.in" TargetMode="External"/><Relationship Id="rId11" Type="http://schemas.openxmlformats.org/officeDocument/2006/relationships/hyperlink" Target="https://www.linkedin.com/search/results/people/?keywords=Devanshu%20Priyam%20IIM%20Kashipur" TargetMode="External"/><Relationship Id="rId12" Type="http://schemas.openxmlformats.org/officeDocument/2006/relationships/hyperlink" Target="mailto:devanshu.embaa25014@iimkashipur.ac.in" TargetMode="External"/><Relationship Id="rId13" Type="http://schemas.openxmlformats.org/officeDocument/2006/relationships/chart" Target="/ppt/charts/chart4.xml"/><Relationship Id="rId14" Type="http://schemas.openxmlformats.org/officeDocument/2006/relationships/image" Target="../media/image-11-1.png"/><Relationship Id="rId15" Type="http://schemas.openxmlformats.org/officeDocument/2006/relationships/slideLayout" Target="../slideLayouts/slideLayout2.xml"/><Relationship Id="rId1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www.linkedin.com/search/results/people/?keywords=Ankit%20Singh%20IIM%20Kashipur" TargetMode="External"/><Relationship Id="rId2" Type="http://schemas.openxmlformats.org/officeDocument/2006/relationships/hyperlink" Target="mailto:ankit.embaa25004@iimkashipur.ac.in" TargetMode="External"/><Relationship Id="rId3" Type="http://schemas.openxmlformats.org/officeDocument/2006/relationships/hyperlink" Target="https://www.linkedin.com/search/results/people/?keywords=Gopalakrishnan%20S%20IIM%20Kashipur" TargetMode="External"/><Relationship Id="rId4" Type="http://schemas.openxmlformats.org/officeDocument/2006/relationships/hyperlink" Target="mailto:gopalakrishnan.embaa25017@iimkashipur.ac.in" TargetMode="External"/><Relationship Id="rId5" Type="http://schemas.openxmlformats.org/officeDocument/2006/relationships/hyperlink" Target="https://www.linkedin.com/search/results/people/?keywords=Murugan%20Perumal%20IIM%20Kashipur" TargetMode="External"/><Relationship Id="rId6" Type="http://schemas.openxmlformats.org/officeDocument/2006/relationships/hyperlink" Target="mailto:murugan.embaa25020@iimkashipur.ac.in" TargetMode="External"/><Relationship Id="rId7" Type="http://schemas.openxmlformats.org/officeDocument/2006/relationships/hyperlink" Target="https://www.linkedin.com/search/results/people/?keywords=Aswin%20G.%20IIM%20Kashipur" TargetMode="External"/><Relationship Id="rId8" Type="http://schemas.openxmlformats.org/officeDocument/2006/relationships/hyperlink" Target="mailto:aswin.embaa25008@iimkashipur.ac.in" TargetMode="External"/><Relationship Id="rId9" Type="http://schemas.openxmlformats.org/officeDocument/2006/relationships/hyperlink" Target="https://www.linkedin.com/search/results/people/?keywords=Atul%20Kumar%20Singh%20IIM%20Kashipur" TargetMode="External"/><Relationship Id="rId10" Type="http://schemas.openxmlformats.org/officeDocument/2006/relationships/hyperlink" Target="mailto:atul.embaa25009@iimkashipur.ac.in" TargetMode="External"/><Relationship Id="rId11" Type="http://schemas.openxmlformats.org/officeDocument/2006/relationships/hyperlink" Target="https://www.linkedin.com/search/results/people/?keywords=Devanshu%20Priyam%20IIM%20Kashipur" TargetMode="External"/><Relationship Id="rId12" Type="http://schemas.openxmlformats.org/officeDocument/2006/relationships/hyperlink" Target="mailto:devanshu.embaa25014@iimkashipur.ac.in" TargetMode="External"/><Relationship Id="rId13" Type="http://schemas.openxmlformats.org/officeDocument/2006/relationships/slideLayout" Target="../slideLayouts/slideLayout2.xml"/><Relationship Id="rId1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www.linkedin.com/search/results/people/?keywords=Ankit%20Singh%20IIM%20Kashipur" TargetMode="External"/><Relationship Id="rId2" Type="http://schemas.openxmlformats.org/officeDocument/2006/relationships/hyperlink" Target="mailto:ankit.embaa25004@iimkashipur.ac.in" TargetMode="External"/><Relationship Id="rId3" Type="http://schemas.openxmlformats.org/officeDocument/2006/relationships/hyperlink" Target="https://www.linkedin.com/search/results/people/?keywords=Gopalakrishnan%20S%20IIM%20Kashipur" TargetMode="External"/><Relationship Id="rId4" Type="http://schemas.openxmlformats.org/officeDocument/2006/relationships/hyperlink" Target="mailto:gopalakrishnan.embaa25017@iimkashipur.ac.in" TargetMode="External"/><Relationship Id="rId5" Type="http://schemas.openxmlformats.org/officeDocument/2006/relationships/hyperlink" Target="https://www.linkedin.com/search/results/people/?keywords=Murugan%20Perumal%20IIM%20Kashipur" TargetMode="External"/><Relationship Id="rId6" Type="http://schemas.openxmlformats.org/officeDocument/2006/relationships/hyperlink" Target="mailto:murugan.embaa25020@iimkashipur.ac.in" TargetMode="External"/><Relationship Id="rId7" Type="http://schemas.openxmlformats.org/officeDocument/2006/relationships/hyperlink" Target="https://www.linkedin.com/search/results/people/?keywords=Aswin%20G.%20IIM%20Kashipur" TargetMode="External"/><Relationship Id="rId8" Type="http://schemas.openxmlformats.org/officeDocument/2006/relationships/hyperlink" Target="mailto:aswin.embaa25008@iimkashipur.ac.in" TargetMode="External"/><Relationship Id="rId9" Type="http://schemas.openxmlformats.org/officeDocument/2006/relationships/hyperlink" Target="https://www.linkedin.com/search/results/people/?keywords=Atul%20Kumar%20Singh%20IIM%20Kashipur" TargetMode="External"/><Relationship Id="rId10" Type="http://schemas.openxmlformats.org/officeDocument/2006/relationships/hyperlink" Target="mailto:atul.embaa25009@iimkashipur.ac.in" TargetMode="External"/><Relationship Id="rId11" Type="http://schemas.openxmlformats.org/officeDocument/2006/relationships/hyperlink" Target="https://www.linkedin.com/search/results/people/?keywords=Devanshu%20Priyam%20IIM%20Kashipur" TargetMode="External"/><Relationship Id="rId12" Type="http://schemas.openxmlformats.org/officeDocument/2006/relationships/hyperlink" Target="mailto:devanshu.embaa25014@iimkashipur.ac.in" TargetMode="External"/><Relationship Id="rId13" Type="http://schemas.openxmlformats.org/officeDocument/2006/relationships/image" Target="../media/image-13-1.png"/><Relationship Id="rId14" Type="http://schemas.openxmlformats.org/officeDocument/2006/relationships/slideLayout" Target="../slideLayouts/slideLayout2.xml"/><Relationship Id="rId1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www.linkedin.com/search/results/people/?keywords=Ankit%20Singh%20IIM%20Kashipur" TargetMode="External"/><Relationship Id="rId2" Type="http://schemas.openxmlformats.org/officeDocument/2006/relationships/hyperlink" Target="mailto:ankit.embaa25004@iimkashipur.ac.in" TargetMode="External"/><Relationship Id="rId3" Type="http://schemas.openxmlformats.org/officeDocument/2006/relationships/hyperlink" Target="https://www.linkedin.com/search/results/people/?keywords=Gopalakrishnan%20S%20IIM%20Kashipur" TargetMode="External"/><Relationship Id="rId4" Type="http://schemas.openxmlformats.org/officeDocument/2006/relationships/hyperlink" Target="mailto:gopalakrishnan.embaa25017@iimkashipur.ac.in" TargetMode="External"/><Relationship Id="rId5" Type="http://schemas.openxmlformats.org/officeDocument/2006/relationships/hyperlink" Target="https://www.linkedin.com/search/results/people/?keywords=Murugan%20Perumal%20IIM%20Kashipur" TargetMode="External"/><Relationship Id="rId6" Type="http://schemas.openxmlformats.org/officeDocument/2006/relationships/hyperlink" Target="mailto:murugan.embaa25020@iimkashipur.ac.in" TargetMode="External"/><Relationship Id="rId7" Type="http://schemas.openxmlformats.org/officeDocument/2006/relationships/hyperlink" Target="https://www.linkedin.com/search/results/people/?keywords=Aswin%20G.%20IIM%20Kashipur" TargetMode="External"/><Relationship Id="rId8" Type="http://schemas.openxmlformats.org/officeDocument/2006/relationships/hyperlink" Target="mailto:aswin.embaa25008@iimkashipur.ac.in" TargetMode="External"/><Relationship Id="rId9" Type="http://schemas.openxmlformats.org/officeDocument/2006/relationships/hyperlink" Target="https://www.linkedin.com/search/results/people/?keywords=Atul%20Kumar%20Singh%20IIM%20Kashipur" TargetMode="External"/><Relationship Id="rId10" Type="http://schemas.openxmlformats.org/officeDocument/2006/relationships/hyperlink" Target="mailto:atul.embaa25009@iimkashipur.ac.in" TargetMode="External"/><Relationship Id="rId11" Type="http://schemas.openxmlformats.org/officeDocument/2006/relationships/hyperlink" Target="https://www.linkedin.com/search/results/people/?keywords=Devanshu%20Priyam%20IIM%20Kashipur" TargetMode="External"/><Relationship Id="rId12" Type="http://schemas.openxmlformats.org/officeDocument/2006/relationships/hyperlink" Target="mailto:devanshu.embaa25014@iimkashipur.ac.in" TargetMode="External"/><Relationship Id="rId13" Type="http://schemas.openxmlformats.org/officeDocument/2006/relationships/slideLayout" Target="../slideLayouts/slideLayout2.xml"/><Relationship Id="rId1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www.linkedin.com/search/results/people/?keywords=Ankit%20Singh%20IIM%20Kashipur" TargetMode="External"/><Relationship Id="rId2" Type="http://schemas.openxmlformats.org/officeDocument/2006/relationships/hyperlink" Target="mailto:ankit.embaa25004@iimkashipur.ac.in" TargetMode="External"/><Relationship Id="rId3" Type="http://schemas.openxmlformats.org/officeDocument/2006/relationships/hyperlink" Target="https://www.linkedin.com/search/results/people/?keywords=Gopalakrishnan%20S%20IIM%20Kashipur" TargetMode="External"/><Relationship Id="rId4" Type="http://schemas.openxmlformats.org/officeDocument/2006/relationships/hyperlink" Target="mailto:gopalakrishnan.embaa25017@iimkashipur.ac.in" TargetMode="External"/><Relationship Id="rId5" Type="http://schemas.openxmlformats.org/officeDocument/2006/relationships/hyperlink" Target="https://www.linkedin.com/search/results/people/?keywords=Murugan%20Perumal%20IIM%20Kashipur" TargetMode="External"/><Relationship Id="rId6" Type="http://schemas.openxmlformats.org/officeDocument/2006/relationships/hyperlink" Target="mailto:murugan.embaa25020@iimkashipur.ac.in" TargetMode="External"/><Relationship Id="rId7" Type="http://schemas.openxmlformats.org/officeDocument/2006/relationships/hyperlink" Target="https://www.linkedin.com/search/results/people/?keywords=Aswin%20G.%20IIM%20Kashipur" TargetMode="External"/><Relationship Id="rId8" Type="http://schemas.openxmlformats.org/officeDocument/2006/relationships/hyperlink" Target="mailto:aswin.embaa25008@iimkashipur.ac.in" TargetMode="External"/><Relationship Id="rId9" Type="http://schemas.openxmlformats.org/officeDocument/2006/relationships/hyperlink" Target="https://www.linkedin.com/search/results/people/?keywords=Atul%20Kumar%20Singh%20IIM%20Kashipur" TargetMode="External"/><Relationship Id="rId10" Type="http://schemas.openxmlformats.org/officeDocument/2006/relationships/hyperlink" Target="mailto:atul.embaa25009@iimkashipur.ac.in" TargetMode="External"/><Relationship Id="rId11" Type="http://schemas.openxmlformats.org/officeDocument/2006/relationships/hyperlink" Target="https://www.linkedin.com/search/results/people/?keywords=Devanshu%20Priyam%20IIM%20Kashipur" TargetMode="External"/><Relationship Id="rId12" Type="http://schemas.openxmlformats.org/officeDocument/2006/relationships/hyperlink" Target="mailto:devanshu.embaa25014@iimkashipur.ac.in" TargetMode="External"/><Relationship Id="rId13" Type="http://schemas.openxmlformats.org/officeDocument/2006/relationships/image" Target="../media/image-15-1.png"/><Relationship Id="rId14" Type="http://schemas.openxmlformats.org/officeDocument/2006/relationships/slideLayout" Target="../slideLayouts/slideLayout2.xml"/><Relationship Id="rId1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www.linkedin.com/search/results/people/?keywords=Ankit%20Singh%20IIM%20Kashipur" TargetMode="External"/><Relationship Id="rId2" Type="http://schemas.openxmlformats.org/officeDocument/2006/relationships/hyperlink" Target="mailto:ankit.embaa25004@iimkashipur.ac.in" TargetMode="External"/><Relationship Id="rId3" Type="http://schemas.openxmlformats.org/officeDocument/2006/relationships/hyperlink" Target="https://www.linkedin.com/search/results/people/?keywords=Gopalakrishnan%20S%20IIM%20Kashipur" TargetMode="External"/><Relationship Id="rId4" Type="http://schemas.openxmlformats.org/officeDocument/2006/relationships/hyperlink" Target="mailto:gopalakrishnan.embaa25017@iimkashipur.ac.in" TargetMode="External"/><Relationship Id="rId5" Type="http://schemas.openxmlformats.org/officeDocument/2006/relationships/hyperlink" Target="https://www.linkedin.com/search/results/people/?keywords=Murugan%20Perumal%20IIM%20Kashipur" TargetMode="External"/><Relationship Id="rId6" Type="http://schemas.openxmlformats.org/officeDocument/2006/relationships/hyperlink" Target="mailto:murugan.embaa25020@iimkashipur.ac.in" TargetMode="External"/><Relationship Id="rId7" Type="http://schemas.openxmlformats.org/officeDocument/2006/relationships/hyperlink" Target="https://www.linkedin.com/search/results/people/?keywords=Aswin%20G.%20IIM%20Kashipur" TargetMode="External"/><Relationship Id="rId8" Type="http://schemas.openxmlformats.org/officeDocument/2006/relationships/hyperlink" Target="mailto:aswin.embaa25008@iimkashipur.ac.in" TargetMode="External"/><Relationship Id="rId9" Type="http://schemas.openxmlformats.org/officeDocument/2006/relationships/hyperlink" Target="https://www.linkedin.com/search/results/people/?keywords=Atul%20Kumar%20Singh%20IIM%20Kashipur" TargetMode="External"/><Relationship Id="rId10" Type="http://schemas.openxmlformats.org/officeDocument/2006/relationships/hyperlink" Target="mailto:atul.embaa25009@iimkashipur.ac.in" TargetMode="External"/><Relationship Id="rId11" Type="http://schemas.openxmlformats.org/officeDocument/2006/relationships/hyperlink" Target="https://www.linkedin.com/search/results/people/?keywords=Devanshu%20Priyam%20IIM%20Kashipur" TargetMode="External"/><Relationship Id="rId12" Type="http://schemas.openxmlformats.org/officeDocument/2006/relationships/hyperlink" Target="mailto:devanshu.embaa25014@iimkashipur.ac.in" TargetMode="External"/><Relationship Id="rId13" Type="http://schemas.openxmlformats.org/officeDocument/2006/relationships/slideLayout" Target="../slideLayouts/slideLayout2.xml"/><Relationship Id="rId1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www.linkedin.com/search/results/people/?keywords=Ankit%20Singh%20IIM%20Kashipur" TargetMode="External"/><Relationship Id="rId2" Type="http://schemas.openxmlformats.org/officeDocument/2006/relationships/hyperlink" Target="mailto:ankit.embaa25004@iimkashipur.ac.in" TargetMode="External"/><Relationship Id="rId3" Type="http://schemas.openxmlformats.org/officeDocument/2006/relationships/hyperlink" Target="https://www.linkedin.com/search/results/people/?keywords=Gopalakrishnan%20S%20IIM%20Kashipur" TargetMode="External"/><Relationship Id="rId4" Type="http://schemas.openxmlformats.org/officeDocument/2006/relationships/hyperlink" Target="mailto:gopalakrishnan.embaa25017@iimkashipur.ac.in" TargetMode="External"/><Relationship Id="rId5" Type="http://schemas.openxmlformats.org/officeDocument/2006/relationships/hyperlink" Target="https://www.linkedin.com/search/results/people/?keywords=Murugan%20Perumal%20IIM%20Kashipur" TargetMode="External"/><Relationship Id="rId6" Type="http://schemas.openxmlformats.org/officeDocument/2006/relationships/hyperlink" Target="mailto:murugan.embaa25020@iimkashipur.ac.in" TargetMode="External"/><Relationship Id="rId7" Type="http://schemas.openxmlformats.org/officeDocument/2006/relationships/hyperlink" Target="https://www.linkedin.com/search/results/people/?keywords=Aswin%20G.%20IIM%20Kashipur" TargetMode="External"/><Relationship Id="rId8" Type="http://schemas.openxmlformats.org/officeDocument/2006/relationships/hyperlink" Target="mailto:aswin.embaa25008@iimkashipur.ac.in" TargetMode="External"/><Relationship Id="rId9" Type="http://schemas.openxmlformats.org/officeDocument/2006/relationships/hyperlink" Target="https://www.linkedin.com/search/results/people/?keywords=Atul%20Kumar%20Singh%20IIM%20Kashipur" TargetMode="External"/><Relationship Id="rId10" Type="http://schemas.openxmlformats.org/officeDocument/2006/relationships/hyperlink" Target="mailto:atul.embaa25009@iimkashipur.ac.in" TargetMode="External"/><Relationship Id="rId11" Type="http://schemas.openxmlformats.org/officeDocument/2006/relationships/hyperlink" Target="https://www.linkedin.com/search/results/people/?keywords=Devanshu%20Priyam%20IIM%20Kashipur" TargetMode="External"/><Relationship Id="rId12" Type="http://schemas.openxmlformats.org/officeDocument/2006/relationships/hyperlink" Target="mailto:devanshu.embaa25014@iimkashipur.ac.in" TargetMode="External"/><Relationship Id="rId13" Type="http://schemas.openxmlformats.org/officeDocument/2006/relationships/image" Target="../media/image-17-1.png"/><Relationship Id="rId14" Type="http://schemas.openxmlformats.org/officeDocument/2006/relationships/slideLayout" Target="../slideLayouts/slideLayout2.xml"/><Relationship Id="rId1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www.linkedin.com/search/results/people/?keywords=Ankit%20Singh%20IIM%20Kashipur" TargetMode="External"/><Relationship Id="rId2" Type="http://schemas.openxmlformats.org/officeDocument/2006/relationships/hyperlink" Target="mailto:ankit.embaa25004@iimkashipur.ac.in" TargetMode="External"/><Relationship Id="rId3" Type="http://schemas.openxmlformats.org/officeDocument/2006/relationships/hyperlink" Target="https://www.linkedin.com/search/results/people/?keywords=Gopalakrishnan%20S%20IIM%20Kashipur" TargetMode="External"/><Relationship Id="rId4" Type="http://schemas.openxmlformats.org/officeDocument/2006/relationships/hyperlink" Target="mailto:gopalakrishnan.embaa25017@iimkashipur.ac.in" TargetMode="External"/><Relationship Id="rId5" Type="http://schemas.openxmlformats.org/officeDocument/2006/relationships/hyperlink" Target="https://www.linkedin.com/search/results/people/?keywords=Murugan%20Perumal%20IIM%20Kashipur" TargetMode="External"/><Relationship Id="rId6" Type="http://schemas.openxmlformats.org/officeDocument/2006/relationships/hyperlink" Target="mailto:murugan.embaa25020@iimkashipur.ac.in" TargetMode="External"/><Relationship Id="rId7" Type="http://schemas.openxmlformats.org/officeDocument/2006/relationships/hyperlink" Target="https://www.linkedin.com/search/results/people/?keywords=Aswin%20G.%20IIM%20Kashipur" TargetMode="External"/><Relationship Id="rId8" Type="http://schemas.openxmlformats.org/officeDocument/2006/relationships/hyperlink" Target="mailto:aswin.embaa25008@iimkashipur.ac.in" TargetMode="External"/><Relationship Id="rId9" Type="http://schemas.openxmlformats.org/officeDocument/2006/relationships/hyperlink" Target="https://www.linkedin.com/search/results/people/?keywords=Atul%20Kumar%20Singh%20IIM%20Kashipur" TargetMode="External"/><Relationship Id="rId10" Type="http://schemas.openxmlformats.org/officeDocument/2006/relationships/hyperlink" Target="mailto:atul.embaa25009@iimkashipur.ac.in" TargetMode="External"/><Relationship Id="rId11" Type="http://schemas.openxmlformats.org/officeDocument/2006/relationships/hyperlink" Target="https://www.linkedin.com/search/results/people/?keywords=Devanshu%20Priyam%20IIM%20Kashipur" TargetMode="External"/><Relationship Id="rId12" Type="http://schemas.openxmlformats.org/officeDocument/2006/relationships/hyperlink" Target="mailto:devanshu.embaa25014@iimkashipur.ac.in" TargetMode="External"/><Relationship Id="rId13" Type="http://schemas.openxmlformats.org/officeDocument/2006/relationships/image" Target="../media/image-18-1.png"/><Relationship Id="rId14" Type="http://schemas.openxmlformats.org/officeDocument/2006/relationships/image" Target="../media/image-18-2.png"/><Relationship Id="rId15" Type="http://schemas.openxmlformats.org/officeDocument/2006/relationships/image" Target="../media/image-18-3.png"/><Relationship Id="rId16" Type="http://schemas.openxmlformats.org/officeDocument/2006/relationships/image" Target="../media/image-18-4.png"/><Relationship Id="rId17" Type="http://schemas.openxmlformats.org/officeDocument/2006/relationships/slideLayout" Target="../slideLayouts/slideLayout2.xml"/><Relationship Id="rId1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https://www.linkedin.com/search/results/people/?keywords=Ankit%20Singh%20IIM%20Kashipur" TargetMode="External"/><Relationship Id="rId2" Type="http://schemas.openxmlformats.org/officeDocument/2006/relationships/hyperlink" Target="mailto:ankit.embaa25004@iimkashipur.ac.in" TargetMode="External"/><Relationship Id="rId3" Type="http://schemas.openxmlformats.org/officeDocument/2006/relationships/hyperlink" Target="https://www.linkedin.com/search/results/people/?keywords=Gopalakrishnan%20S%20IIM%20Kashipur" TargetMode="External"/><Relationship Id="rId4" Type="http://schemas.openxmlformats.org/officeDocument/2006/relationships/hyperlink" Target="mailto:gopalakrishnan.embaa25017@iimkashipur.ac.in" TargetMode="External"/><Relationship Id="rId5" Type="http://schemas.openxmlformats.org/officeDocument/2006/relationships/hyperlink" Target="https://www.linkedin.com/search/results/people/?keywords=Murugan%20Perumal%20IIM%20Kashipur" TargetMode="External"/><Relationship Id="rId6" Type="http://schemas.openxmlformats.org/officeDocument/2006/relationships/hyperlink" Target="mailto:murugan.embaa25020@iimkashipur.ac.in" TargetMode="External"/><Relationship Id="rId7" Type="http://schemas.openxmlformats.org/officeDocument/2006/relationships/hyperlink" Target="https://www.linkedin.com/search/results/people/?keywords=Aswin%20G.%20IIM%20Kashipur" TargetMode="External"/><Relationship Id="rId8" Type="http://schemas.openxmlformats.org/officeDocument/2006/relationships/hyperlink" Target="mailto:aswin.embaa25008@iimkashipur.ac.in" TargetMode="External"/><Relationship Id="rId9" Type="http://schemas.openxmlformats.org/officeDocument/2006/relationships/hyperlink" Target="https://www.linkedin.com/search/results/people/?keywords=Atul%20Kumar%20Singh%20IIM%20Kashipur" TargetMode="External"/><Relationship Id="rId10" Type="http://schemas.openxmlformats.org/officeDocument/2006/relationships/hyperlink" Target="mailto:atul.embaa25009@iimkashipur.ac.in" TargetMode="External"/><Relationship Id="rId11" Type="http://schemas.openxmlformats.org/officeDocument/2006/relationships/hyperlink" Target="https://www.linkedin.com/search/results/people/?keywords=Devanshu%20Priyam%20IIM%20Kashipur" TargetMode="External"/><Relationship Id="rId12" Type="http://schemas.openxmlformats.org/officeDocument/2006/relationships/hyperlink" Target="mailto:devanshu.embaa25014@iimkashipur.ac.in" TargetMode="External"/><Relationship Id="rId13" Type="http://schemas.openxmlformats.org/officeDocument/2006/relationships/slideLayout" Target="../slideLayouts/slideLayout2.xml"/><Relationship Id="rId1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hyperlink" Target="https://www.linkedin.com/search/results/people/?keywords=Ankit%20Singh%20IIM%20Kashipur" TargetMode="External"/><Relationship Id="rId2" Type="http://schemas.openxmlformats.org/officeDocument/2006/relationships/hyperlink" Target="mailto:ankit.embaa25004@iimkashipur.ac.in" TargetMode="External"/><Relationship Id="rId3" Type="http://schemas.openxmlformats.org/officeDocument/2006/relationships/hyperlink" Target="https://www.linkedin.com/search/results/people/?keywords=Gopalakrishnan%20S%20IIM%20Kashipur" TargetMode="External"/><Relationship Id="rId4" Type="http://schemas.openxmlformats.org/officeDocument/2006/relationships/hyperlink" Target="mailto:gopalakrishnan.embaa25017@iimkashipur.ac.in" TargetMode="External"/><Relationship Id="rId5" Type="http://schemas.openxmlformats.org/officeDocument/2006/relationships/hyperlink" Target="https://www.linkedin.com/search/results/people/?keywords=Murugan%20Perumal%20IIM%20Kashipur" TargetMode="External"/><Relationship Id="rId6" Type="http://schemas.openxmlformats.org/officeDocument/2006/relationships/hyperlink" Target="mailto:murugan.embaa25020@iimkashipur.ac.in" TargetMode="External"/><Relationship Id="rId7" Type="http://schemas.openxmlformats.org/officeDocument/2006/relationships/hyperlink" Target="https://www.linkedin.com/search/results/people/?keywords=Aswin%20G.%20IIM%20Kashipur" TargetMode="External"/><Relationship Id="rId8" Type="http://schemas.openxmlformats.org/officeDocument/2006/relationships/hyperlink" Target="mailto:aswin.embaa25008@iimkashipur.ac.in" TargetMode="External"/><Relationship Id="rId9" Type="http://schemas.openxmlformats.org/officeDocument/2006/relationships/hyperlink" Target="https://www.linkedin.com/search/results/people/?keywords=Atul%20Kumar%20Singh%20IIM%20Kashipur" TargetMode="External"/><Relationship Id="rId10" Type="http://schemas.openxmlformats.org/officeDocument/2006/relationships/hyperlink" Target="mailto:atul.embaa25009@iimkashipur.ac.in" TargetMode="External"/><Relationship Id="rId11" Type="http://schemas.openxmlformats.org/officeDocument/2006/relationships/hyperlink" Target="https://www.linkedin.com/search/results/people/?keywords=Devanshu%20Priyam%20IIM%20Kashipur" TargetMode="External"/><Relationship Id="rId12" Type="http://schemas.openxmlformats.org/officeDocument/2006/relationships/hyperlink" Target="mailto:devanshu.embaa25014@iimkashipur.ac.in" TargetMode="External"/><Relationship Id="rId13" Type="http://schemas.openxmlformats.org/officeDocument/2006/relationships/slideLayout" Target="../slideLayouts/slideLayout2.xml"/><Relationship Id="rId1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hyperlink" Target="https://www.linkedin.com/search/results/people/?keywords=Ankit%20Singh%20IIM%20Kashipur" TargetMode="External"/><Relationship Id="rId2" Type="http://schemas.openxmlformats.org/officeDocument/2006/relationships/hyperlink" Target="mailto:ankit.embaa25004@iimkashipur.ac.in" TargetMode="External"/><Relationship Id="rId3" Type="http://schemas.openxmlformats.org/officeDocument/2006/relationships/hyperlink" Target="https://www.linkedin.com/search/results/people/?keywords=Gopalakrishnan%20S%20IIM%20Kashipur" TargetMode="External"/><Relationship Id="rId4" Type="http://schemas.openxmlformats.org/officeDocument/2006/relationships/hyperlink" Target="mailto:gopalakrishnan.embaa25017@iimkashipur.ac.in" TargetMode="External"/><Relationship Id="rId5" Type="http://schemas.openxmlformats.org/officeDocument/2006/relationships/hyperlink" Target="https://www.linkedin.com/search/results/people/?keywords=Murugan%20Perumal%20IIM%20Kashipur" TargetMode="External"/><Relationship Id="rId6" Type="http://schemas.openxmlformats.org/officeDocument/2006/relationships/hyperlink" Target="mailto:murugan.embaa25020@iimkashipur.ac.in" TargetMode="External"/><Relationship Id="rId7" Type="http://schemas.openxmlformats.org/officeDocument/2006/relationships/hyperlink" Target="https://www.linkedin.com/search/results/people/?keywords=Aswin%20G.%20IIM%20Kashipur" TargetMode="External"/><Relationship Id="rId8" Type="http://schemas.openxmlformats.org/officeDocument/2006/relationships/hyperlink" Target="mailto:aswin.embaa25008@iimkashipur.ac.in" TargetMode="External"/><Relationship Id="rId9" Type="http://schemas.openxmlformats.org/officeDocument/2006/relationships/hyperlink" Target="https://www.linkedin.com/search/results/people/?keywords=Atul%20Kumar%20Singh%20IIM%20Kashipur" TargetMode="External"/><Relationship Id="rId10" Type="http://schemas.openxmlformats.org/officeDocument/2006/relationships/hyperlink" Target="mailto:atul.embaa25009@iimkashipur.ac.in" TargetMode="External"/><Relationship Id="rId11" Type="http://schemas.openxmlformats.org/officeDocument/2006/relationships/hyperlink" Target="https://www.linkedin.com/search/results/people/?keywords=Devanshu%20Priyam%20IIM%20Kashipur" TargetMode="External"/><Relationship Id="rId12" Type="http://schemas.openxmlformats.org/officeDocument/2006/relationships/hyperlink" Target="mailto:devanshu.embaa25014@iimkashipur.ac.in" TargetMode="External"/><Relationship Id="rId13" Type="http://schemas.openxmlformats.org/officeDocument/2006/relationships/slideLayout" Target="../slideLayouts/slideLayout2.xml"/><Relationship Id="rId14"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5"/>
          <p:cNvSpPr/>
          <p:nvPr>
            <p:ph idx="105" type="title" hasCustomPrompt="1"/>
          </p:nvPr>
        </p:nvSpPr>
        <p:spPr>
          <a:xfrm>
            <a:off x="365760" y="502920"/>
            <a:ext cx="10058400" cy="868680"/>
          </a:xfrm>
          <a:prstGeom prst="rect">
            <a:avLst/>
          </a:prstGeom>
          <a:noFill/>
          <a:ln/>
        </p:spPr>
        <p:txBody>
          <a:bodyPr wrap="square" lIns="0" tIns="0" rIns="0" bIns="0" rtlCol="0" anchor="ctr"/>
          <a:lstStyle/>
          <a:p>
            <a:pPr algn="l" indent="0" marL="0">
              <a:buNone/>
            </a:pPr>
            <a:r>
              <a:rPr lang="en-US" sz="2800" b="1" dirty="0">
                <a:solidFill>
                  <a:srgbClr val="FFFFFF"/>
                </a:solidFill>
              </a:rPr>
              <a:t>What Really Drives the Rupee?</a:t>
            </a:r>
            <a:endParaRPr lang="en-US" sz="2800" dirty="0"/>
          </a:p>
        </p:txBody>
      </p:sp>
      <p:sp>
        <p:nvSpPr>
          <p:cNvPr id="3" name="Current presenter"/>
          <p:cNvSpPr txBox="1"/>
          <p:nvPr/>
        </p:nvSpPr>
        <p:spPr>
          <a:xfrm>
            <a:off x="8869680" y="91440"/>
            <a:ext cx="3063240" cy="310896"/>
          </a:xfrm>
          <a:prstGeom prst="rect">
            <a:avLst/>
          </a:prstGeom>
          <a:noFill/>
          <a:ln/>
        </p:spPr>
        <p:txBody>
          <a:bodyPr wrap="square" lIns="0" tIns="0" rIns="0" bIns="0" rtlCol="0" anchor="ctr"/>
          <a:lstStyle/>
          <a:p>
            <a:pPr algn="r" indent="0" marL="0">
              <a:buNone/>
            </a:pPr>
            <a:r>
              <a:rPr lang="en-US" sz="1100" dirty="0">
                <a:solidFill>
                  <a:srgbClr val="5F6B73"/>
                </a:solidFill>
              </a:rPr>
              <a:t>Presenter: </a:t>
            </a:r>
            <a:pPr algn="r" indent="0" marL="0">
              <a:buNone/>
            </a:pPr>
            <a:r>
              <a:rPr lang="en-US" sz="1100" b="1" dirty="0">
                <a:solidFill>
                  <a:srgbClr val="0F2A3A"/>
                </a:solidFill>
              </a:rPr>
              <a:t>Ankit Singh - EMBAA25004</a:t>
            </a:r>
            <a:endParaRPr lang="en-US" sz="1100" dirty="0"/>
          </a:p>
        </p:txBody>
      </p:sp>
      <p:sp>
        <p:nvSpPr>
          <p:cNvPr id="4" name="Presenter photo placeholder"/>
          <p:cNvSpPr/>
          <p:nvPr/>
        </p:nvSpPr>
        <p:spPr>
          <a:xfrm>
            <a:off x="10744200" y="502920"/>
            <a:ext cx="1188720" cy="868680"/>
          </a:xfrm>
          <a:prstGeom prst="rect">
            <a:avLst/>
          </a:prstGeom>
          <a:solidFill>
            <a:schemeClr val="accent2"/>
          </a:solidFill>
          <a:ln w="12700">
            <a:solidFill>
              <a:schemeClr val="accent2"/>
            </a:solidFill>
            <a:prstDash val="solid"/>
          </a:ln>
        </p:spPr>
      </p:sp>
      <p:sp>
        <p:nvSpPr>
          <p:cNvPr id="5" name="Presenter initials"/>
          <p:cNvSpPr txBox="1"/>
          <p:nvPr/>
        </p:nvSpPr>
        <p:spPr>
          <a:xfrm>
            <a:off x="10744200" y="502920"/>
            <a:ext cx="1188720" cy="868680"/>
          </a:xfrm>
          <a:prstGeom prst="rect">
            <a:avLst/>
          </a:prstGeom>
          <a:noFill/>
          <a:ln/>
        </p:spPr>
        <p:txBody>
          <a:bodyPr wrap="square" lIns="0" tIns="0" rIns="0" bIns="0" rtlCol="0" anchor="ctr"/>
          <a:lstStyle/>
          <a:p>
            <a:pPr algn="ctr" indent="0" marL="0">
              <a:buNone/>
            </a:pPr>
            <a:r>
              <a:rPr lang="en-US" sz="2600" b="1" dirty="0">
                <a:solidFill>
                  <a:schemeClr val="bg1"/>
                </a:solidFill>
              </a:rPr>
              <a:t>AS</a:t>
            </a:r>
            <a:endParaRPr lang="en-US" sz="2600" dirty="0"/>
          </a:p>
        </p:txBody>
      </p:sp>
      <p:sp>
        <p:nvSpPr>
          <p:cNvPr id="6" name="Footer rule"/>
          <p:cNvSpPr/>
          <p:nvPr/>
        </p:nvSpPr>
        <p:spPr>
          <a:xfrm>
            <a:off x="274320" y="6272784"/>
            <a:ext cx="10515600" cy="0"/>
          </a:xfrm>
          <a:prstGeom prst="line">
            <a:avLst/>
          </a:prstGeom>
          <a:noFill/>
          <a:ln w="12700">
            <a:solidFill>
              <a:srgbClr val="EEF2F4"/>
            </a:solidFill>
            <a:prstDash val="solid"/>
          </a:ln>
        </p:spPr>
      </p:sp>
      <p:sp>
        <p:nvSpPr>
          <p:cNvPr id="7" name="Team footer"/>
          <p:cNvSpPr txBox="1"/>
          <p:nvPr/>
        </p:nvSpPr>
        <p:spPr>
          <a:xfrm>
            <a:off x="274320" y="6309360"/>
            <a:ext cx="10515600" cy="457200"/>
          </a:xfrm>
          <a:prstGeom prst="rect">
            <a:avLst/>
          </a:prstGeom>
          <a:noFill/>
          <a:ln/>
        </p:spPr>
        <p:txBody>
          <a:bodyPr wrap="square" lIns="0" tIns="0" rIns="0" bIns="0" rtlCol="0" anchor="ctr"/>
          <a:lstStyle/>
          <a:p>
            <a:pPr algn="ctr" indent="0" marL="0">
              <a:buNone/>
            </a:pPr>
            <a:r>
              <a:rPr lang="en-US" sz="850" b="1" u="sng" dirty="0">
                <a:solidFill>
                  <a:srgbClr val="1F5FA8"/>
                </a:solidFill>
                <a:hlinkClick r:id="rId1" invalidUrl="" action="" tgtFrame="" tooltip="Ankit Singh on LinkedIn" history="1" highlightClick="0" endSnd="0">
                  <a:extLst>
                    <a:ext uri="{A12FA001-AC4F-418D-AE19-62706E023703}">
                      <ahyp:hlinkClr xmlns:ahyp="http://schemas.microsoft.com/office/drawing/2018/hyperlinkcolor" val="tx"/>
                    </a:ext>
                  </a:extLst>
                </a:hlinkClick>
              </a:rPr>
              <a:t>Ankit Singh</a:t>
            </a:r>
            <a:pPr algn="ctr" indent="0" marL="0">
              <a:buNone/>
            </a:pPr>
            <a:r>
              <a:rPr lang="en-US" sz="850" dirty="0">
                <a:solidFill>
                  <a:srgbClr val="5F6B73"/>
                </a:solidFill>
              </a:rPr>
              <a:t> - EMBAA25004 - </a:t>
            </a:r>
            <a:pPr algn="ctr" indent="0" marL="0">
              <a:buNone/>
            </a:pPr>
            <a:r>
              <a:rPr lang="en-US" sz="850" u="sng" dirty="0">
                <a:solidFill>
                  <a:srgbClr val="1F5FA8"/>
                </a:solidFill>
                <a:hlinkClick r:id="rId2" invalidUrl="" action="" tgtFrame="" tooltip="" history="1" highlightClick="0" endSnd="0">
                  <a:extLst>
                    <a:ext uri="{A12FA001-AC4F-418D-AE19-62706E023703}">
                      <ahyp:hlinkClr xmlns:ahyp="http://schemas.microsoft.com/office/drawing/2018/hyperlinkcolor" val="tx"/>
                    </a:ext>
                  </a:extLst>
                </a:hlinkClick>
              </a:rPr>
              <a:t>ankit.embaa25004@iimkashipur.ac.in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3" invalidUrl="" action="" tgtFrame="" tooltip="Gopalakrishnan S on LinkedIn" history="1" highlightClick="0" endSnd="0">
                  <a:extLst>
                    <a:ext uri="{A12FA001-AC4F-418D-AE19-62706E023703}">
                      <ahyp:hlinkClr xmlns:ahyp="http://schemas.microsoft.com/office/drawing/2018/hyperlinkcolor" val="tx"/>
                    </a:ext>
                  </a:extLst>
                </a:hlinkClick>
              </a:rPr>
              <a:t>Gopalakrishnan S</a:t>
            </a:r>
            <a:pPr algn="ctr" indent="0" marL="0">
              <a:buNone/>
            </a:pPr>
            <a:r>
              <a:rPr lang="en-US" sz="850" dirty="0">
                <a:solidFill>
                  <a:srgbClr val="5F6B73"/>
                </a:solidFill>
              </a:rPr>
              <a:t> - EMBAA25017 - </a:t>
            </a:r>
            <a:pPr algn="ctr" indent="0" marL="0">
              <a:buNone/>
            </a:pPr>
            <a:r>
              <a:rPr lang="en-US" sz="850" u="sng" dirty="0">
                <a:solidFill>
                  <a:srgbClr val="1F5FA8"/>
                </a:solidFill>
                <a:hlinkClick r:id="rId4" invalidUrl="" action="" tgtFrame="" tooltip="" history="1" highlightClick="0" endSnd="0">
                  <a:extLst>
                    <a:ext uri="{A12FA001-AC4F-418D-AE19-62706E023703}">
                      <ahyp:hlinkClr xmlns:ahyp="http://schemas.microsoft.com/office/drawing/2018/hyperlinkcolor" val="tx"/>
                    </a:ext>
                  </a:extLst>
                </a:hlinkClick>
              </a:rPr>
              <a:t>gopalakrishnan.embaa25017@iimkashipur.ac.in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5" invalidUrl="" action="" tgtFrame="" tooltip="Murugan Perumal on LinkedIn" history="1" highlightClick="0" endSnd="0">
                  <a:extLst>
                    <a:ext uri="{A12FA001-AC4F-418D-AE19-62706E023703}">
                      <ahyp:hlinkClr xmlns:ahyp="http://schemas.microsoft.com/office/drawing/2018/hyperlinkcolor" val="tx"/>
                    </a:ext>
                  </a:extLst>
                </a:hlinkClick>
              </a:rPr>
              <a:t>Murugan Perumal</a:t>
            </a:r>
            <a:pPr algn="ctr" indent="0" marL="0">
              <a:buNone/>
            </a:pPr>
            <a:r>
              <a:rPr lang="en-US" sz="850" dirty="0">
                <a:solidFill>
                  <a:srgbClr val="5F6B73"/>
                </a:solidFill>
              </a:rPr>
              <a:t> - EMBAA25020 - </a:t>
            </a:r>
            <a:pPr algn="ctr" indent="0" marL="0">
              <a:buNone/>
            </a:pPr>
            <a:r>
              <a:rPr lang="en-US" sz="850" u="sng" dirty="0">
                <a:solidFill>
                  <a:srgbClr val="1F5FA8"/>
                </a:solidFill>
                <a:hlinkClick r:id="rId6" invalidUrl="" action="" tgtFrame="" tooltip="" history="1" highlightClick="0" endSnd="0">
                  <a:extLst>
                    <a:ext uri="{A12FA001-AC4F-418D-AE19-62706E023703}">
                      <ahyp:hlinkClr xmlns:ahyp="http://schemas.microsoft.com/office/drawing/2018/hyperlinkcolor" val="tx"/>
                    </a:ext>
                  </a:extLst>
                </a:hlinkClick>
              </a:rPr>
              <a:t>murugan.embaa25020@iimkashipur.ac.in</a:t>
            </a:r>
            <a:pPr algn="ctr" indent="0" marL="0">
              <a:buNone/>
            </a:pPr>
            <a:endParaRPr lang="en-US" sz="850" dirty="0"/>
          </a:p>
          <a:p>
            <a:pPr algn="ctr" indent="0" marL="0">
              <a:buNone/>
            </a:pPr>
            <a:r>
              <a:rPr lang="en-US" sz="850" b="1" u="sng" dirty="0">
                <a:solidFill>
                  <a:srgbClr val="1F5FA8"/>
                </a:solidFill>
                <a:hlinkClick r:id="rId7" invalidUrl="" action="" tgtFrame="" tooltip="Aswin G. on LinkedIn" history="1" highlightClick="0" endSnd="0">
                  <a:extLst>
                    <a:ext uri="{A12FA001-AC4F-418D-AE19-62706E023703}">
                      <ahyp:hlinkClr xmlns:ahyp="http://schemas.microsoft.com/office/drawing/2018/hyperlinkcolor" val="tx"/>
                    </a:ext>
                  </a:extLst>
                </a:hlinkClick>
              </a:rPr>
              <a:t>Aswin G.</a:t>
            </a:r>
            <a:pPr algn="ctr" indent="0" marL="0">
              <a:buNone/>
            </a:pPr>
            <a:r>
              <a:rPr lang="en-US" sz="850" dirty="0">
                <a:solidFill>
                  <a:srgbClr val="5F6B73"/>
                </a:solidFill>
              </a:rPr>
              <a:t> - EMBAA25008 - </a:t>
            </a:r>
            <a:pPr algn="ctr" indent="0" marL="0">
              <a:buNone/>
            </a:pPr>
            <a:r>
              <a:rPr lang="en-US" sz="850" u="sng" dirty="0">
                <a:solidFill>
                  <a:srgbClr val="1F5FA8"/>
                </a:solidFill>
                <a:hlinkClick r:id="rId8" invalidUrl="" action="" tgtFrame="" tooltip="" history="1" highlightClick="0" endSnd="0">
                  <a:extLst>
                    <a:ext uri="{A12FA001-AC4F-418D-AE19-62706E023703}">
                      <ahyp:hlinkClr xmlns:ahyp="http://schemas.microsoft.com/office/drawing/2018/hyperlinkcolor" val="tx"/>
                    </a:ext>
                  </a:extLst>
                </a:hlinkClick>
              </a:rPr>
              <a:t>aswin.embaa25008@iimkashipur.ac.in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9" invalidUrl="" action="" tgtFrame="" tooltip="Atul Kumar Singh on LinkedIn" history="1" highlightClick="0" endSnd="0">
                  <a:extLst>
                    <a:ext uri="{A12FA001-AC4F-418D-AE19-62706E023703}">
                      <ahyp:hlinkClr xmlns:ahyp="http://schemas.microsoft.com/office/drawing/2018/hyperlinkcolor" val="tx"/>
                    </a:ext>
                  </a:extLst>
                </a:hlinkClick>
              </a:rPr>
              <a:t>Atul Kumar Singh</a:t>
            </a:r>
            <a:pPr algn="ctr" indent="0" marL="0">
              <a:buNone/>
            </a:pPr>
            <a:r>
              <a:rPr lang="en-US" sz="850" dirty="0">
                <a:solidFill>
                  <a:srgbClr val="5F6B73"/>
                </a:solidFill>
              </a:rPr>
              <a:t> - EMBAA25009 - </a:t>
            </a:r>
            <a:pPr algn="ctr" indent="0" marL="0">
              <a:buNone/>
            </a:pPr>
            <a:r>
              <a:rPr lang="en-US" sz="850" u="sng" dirty="0">
                <a:solidFill>
                  <a:srgbClr val="1F5FA8"/>
                </a:solidFill>
                <a:hlinkClick r:id="rId10" invalidUrl="" action="" tgtFrame="" tooltip="" history="1" highlightClick="0" endSnd="0">
                  <a:extLst>
                    <a:ext uri="{A12FA001-AC4F-418D-AE19-62706E023703}">
                      <ahyp:hlinkClr xmlns:ahyp="http://schemas.microsoft.com/office/drawing/2018/hyperlinkcolor" val="tx"/>
                    </a:ext>
                  </a:extLst>
                </a:hlinkClick>
              </a:rPr>
              <a:t>atul.embaa25009@iimkashipur.ac.in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11" invalidUrl="" action="" tgtFrame="" tooltip="Devanshu Priyam on LinkedIn" history="1" highlightClick="0" endSnd="0">
                  <a:extLst>
                    <a:ext uri="{A12FA001-AC4F-418D-AE19-62706E023703}">
                      <ahyp:hlinkClr xmlns:ahyp="http://schemas.microsoft.com/office/drawing/2018/hyperlinkcolor" val="tx"/>
                    </a:ext>
                  </a:extLst>
                </a:hlinkClick>
              </a:rPr>
              <a:t>Devanshu Priyam</a:t>
            </a:r>
            <a:pPr algn="ctr" indent="0" marL="0">
              <a:buNone/>
            </a:pPr>
            <a:r>
              <a:rPr lang="en-US" sz="850" dirty="0">
                <a:solidFill>
                  <a:srgbClr val="5F6B73"/>
                </a:solidFill>
              </a:rPr>
              <a:t> - EMBAA25014 - </a:t>
            </a:r>
            <a:pPr algn="ctr" indent="0" marL="0">
              <a:buNone/>
            </a:pPr>
            <a:r>
              <a:rPr lang="en-US" sz="850" u="sng" dirty="0">
                <a:solidFill>
                  <a:srgbClr val="1F5FA8"/>
                </a:solidFill>
                <a:hlinkClick r:id="rId12" invalidUrl="" action="" tgtFrame="" tooltip="" history="1" highlightClick="0" endSnd="0">
                  <a:extLst>
                    <a:ext uri="{A12FA001-AC4F-418D-AE19-62706E023703}">
                      <ahyp:hlinkClr xmlns:ahyp="http://schemas.microsoft.com/office/drawing/2018/hyperlinkcolor" val="tx"/>
                    </a:ext>
                  </a:extLst>
                </a:hlinkClick>
              </a:rPr>
              <a:t>devanshu.embaa25014@iimkashipur.ac.in</a:t>
            </a:r>
            <a:endParaRPr lang="en-US" sz="850" dirty="0"/>
          </a:p>
        </p:txBody>
      </p:sp>
      <p:sp>
        <p:nvSpPr>
          <p:cNvPr id="9" name="Text 6"/>
          <p:cNvSpPr txBox="1"/>
          <p:nvPr/>
        </p:nvSpPr>
        <p:spPr>
          <a:xfrm>
            <a:off x="457200" y="1645920"/>
            <a:ext cx="7315200" cy="868680"/>
          </a:xfrm>
          <a:prstGeom prst="rect">
            <a:avLst/>
          </a:prstGeom>
          <a:noFill/>
          <a:ln/>
        </p:spPr>
        <p:txBody>
          <a:bodyPr wrap="square" lIns="0" tIns="0" rIns="0" bIns="0" rtlCol="0" anchor="t"/>
          <a:lstStyle/>
          <a:p>
            <a:pPr indent="0" marL="0">
              <a:buNone/>
            </a:pPr>
            <a:r>
              <a:rPr lang="en-US" sz="2400" b="1" dirty="0">
                <a:solidFill>
                  <a:schemeClr val="tx2"/>
                </a:solidFill>
                <a:latin typeface="Cambria" pitchFamily="34" charset="0"/>
                <a:ea typeface="Cambria" pitchFamily="34" charset="-122"/>
                <a:cs typeface="Cambria" pitchFamily="34" charset="-120"/>
              </a:rPr>
              <a:t>A Data-Driven Intelligence System for Explaining and Predicting USD/INR Movements</a:t>
            </a:r>
            <a:endParaRPr lang="en-US" sz="2400" dirty="0"/>
          </a:p>
        </p:txBody>
      </p:sp>
      <p:sp>
        <p:nvSpPr>
          <p:cNvPr id="10" name="Text 7"/>
          <p:cNvSpPr txBox="1"/>
          <p:nvPr/>
        </p:nvSpPr>
        <p:spPr>
          <a:xfrm>
            <a:off x="457200" y="2606040"/>
            <a:ext cx="7315200" cy="685800"/>
          </a:xfrm>
          <a:prstGeom prst="rect">
            <a:avLst/>
          </a:prstGeom>
          <a:noFill/>
          <a:ln/>
        </p:spPr>
        <p:txBody>
          <a:bodyPr wrap="square" lIns="0" tIns="0" rIns="0" bIns="0" rtlCol="0" anchor="t"/>
          <a:lstStyle/>
          <a:p>
            <a:pPr indent="0" marL="0">
              <a:buNone/>
            </a:pPr>
            <a:r>
              <a:rPr lang="en-US" sz="1400" dirty="0">
                <a:solidFill>
                  <a:schemeClr val="accent6"/>
                </a:solidFill>
              </a:rPr>
              <a:t>IIM Kashipur  ·  Executive MBA (Analytics)  ·  Business Intelligence &amp; Business Analytics, Term V</a:t>
            </a:r>
            <a:endParaRPr lang="en-US" sz="1400" dirty="0"/>
          </a:p>
          <a:p>
            <a:pPr indent="0" marL="0">
              <a:buNone/>
            </a:pPr>
            <a:r>
              <a:rPr lang="en-US" sz="1400" dirty="0">
                <a:solidFill>
                  <a:schemeClr val="accent6"/>
                </a:solidFill>
              </a:rPr>
              <a:t>Faculty: Prof. Nitin Varma  ·  Group Project, Sessions 19–20</a:t>
            </a:r>
            <a:endParaRPr lang="en-US" sz="1400" dirty="0"/>
          </a:p>
        </p:txBody>
      </p:sp>
      <p:sp>
        <p:nvSpPr>
          <p:cNvPr id="11" name="Rupee level card"/>
          <p:cNvSpPr/>
          <p:nvPr/>
        </p:nvSpPr>
        <p:spPr>
          <a:xfrm>
            <a:off x="8138160" y="1645920"/>
            <a:ext cx="3611880" cy="1645920"/>
          </a:xfrm>
          <a:prstGeom prst="roundRect">
            <a:avLst>
              <a:gd name="adj" fmla="val 4444"/>
            </a:avLst>
          </a:prstGeom>
          <a:solidFill>
            <a:schemeClr val="tx2"/>
          </a:solidFill>
          <a:ln w="12700">
            <a:solidFill>
              <a:schemeClr val="tx2"/>
            </a:solidFill>
            <a:prstDash val="solid"/>
          </a:ln>
        </p:spPr>
      </p:sp>
      <p:sp>
        <p:nvSpPr>
          <p:cNvPr id="12" name="Text 9"/>
          <p:cNvSpPr txBox="1"/>
          <p:nvPr/>
        </p:nvSpPr>
        <p:spPr>
          <a:xfrm>
            <a:off x="8321040" y="1783080"/>
            <a:ext cx="3291840" cy="731520"/>
          </a:xfrm>
          <a:prstGeom prst="rect">
            <a:avLst/>
          </a:prstGeom>
          <a:noFill/>
          <a:ln/>
        </p:spPr>
        <p:txBody>
          <a:bodyPr wrap="square" lIns="0" tIns="0" rIns="0" bIns="0" rtlCol="0" anchor="ctr"/>
          <a:lstStyle/>
          <a:p>
            <a:pPr indent="0" marL="0">
              <a:buNone/>
            </a:pPr>
            <a:r>
              <a:rPr lang="en-US" sz="3400" b="1" dirty="0">
                <a:solidFill>
                  <a:schemeClr val="accent1"/>
                </a:solidFill>
                <a:latin typeface="Cambria" pitchFamily="34" charset="0"/>
                <a:ea typeface="Cambria" pitchFamily="34" charset="-122"/>
                <a:cs typeface="Cambria" pitchFamily="34" charset="-120"/>
              </a:rPr>
              <a:t>₹45 → ₹95.51</a:t>
            </a:r>
            <a:endParaRPr lang="en-US" sz="3400" dirty="0"/>
          </a:p>
        </p:txBody>
      </p:sp>
      <p:sp>
        <p:nvSpPr>
          <p:cNvPr id="13" name="Text 10"/>
          <p:cNvSpPr txBox="1"/>
          <p:nvPr/>
        </p:nvSpPr>
        <p:spPr>
          <a:xfrm>
            <a:off x="8321040" y="2560320"/>
            <a:ext cx="3291840" cy="548640"/>
          </a:xfrm>
          <a:prstGeom prst="rect">
            <a:avLst/>
          </a:prstGeom>
          <a:noFill/>
          <a:ln/>
        </p:spPr>
        <p:txBody>
          <a:bodyPr wrap="square" lIns="0" tIns="0" rIns="0" bIns="0" rtlCol="0" anchor="t"/>
          <a:lstStyle/>
          <a:p>
            <a:pPr indent="0" marL="0">
              <a:buNone/>
            </a:pPr>
            <a:r>
              <a:rPr lang="en-US" sz="1300" dirty="0">
                <a:solidFill>
                  <a:schemeClr val="bg1"/>
                </a:solidFill>
              </a:rPr>
              <a:t>USD/INR, 2010 average to Sep 2026 average (FRED EXINUS)</a:t>
            </a:r>
            <a:endParaRPr lang="en-US" sz="1300" dirty="0"/>
          </a:p>
        </p:txBody>
      </p:sp>
      <p:sp>
        <p:nvSpPr>
          <p:cNvPr id="14" name="Team card Ankit Singh"/>
          <p:cNvSpPr/>
          <p:nvPr/>
        </p:nvSpPr>
        <p:spPr>
          <a:xfrm>
            <a:off x="457200" y="3611880"/>
            <a:ext cx="3611880" cy="1097280"/>
          </a:xfrm>
          <a:prstGeom prst="roundRect">
            <a:avLst>
              <a:gd name="adj" fmla="val 6667"/>
            </a:avLst>
          </a:prstGeom>
          <a:solidFill>
            <a:schemeClr val="bg2"/>
          </a:solidFill>
          <a:ln w="12700">
            <a:solidFill>
              <a:schemeClr val="bg2"/>
            </a:solidFill>
            <a:prstDash val="solid"/>
          </a:ln>
        </p:spPr>
      </p:sp>
      <p:sp>
        <p:nvSpPr>
          <p:cNvPr id="15" name="Avatar AS"/>
          <p:cNvSpPr/>
          <p:nvPr/>
        </p:nvSpPr>
        <p:spPr>
          <a:xfrm>
            <a:off x="621792" y="3840480"/>
            <a:ext cx="640080" cy="640080"/>
          </a:xfrm>
          <a:prstGeom prst="ellipse">
            <a:avLst/>
          </a:prstGeom>
          <a:solidFill>
            <a:schemeClr val="accent2"/>
          </a:solidFill>
          <a:ln w="12700">
            <a:solidFill>
              <a:schemeClr val="accent2"/>
            </a:solidFill>
            <a:prstDash val="solid"/>
          </a:ln>
        </p:spPr>
      </p:sp>
      <p:sp>
        <p:nvSpPr>
          <p:cNvPr id="16" name="Text 13"/>
          <p:cNvSpPr txBox="1"/>
          <p:nvPr/>
        </p:nvSpPr>
        <p:spPr>
          <a:xfrm>
            <a:off x="621792" y="3840480"/>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AS</a:t>
            </a:r>
            <a:endParaRPr lang="en-US" sz="1600" dirty="0"/>
          </a:p>
        </p:txBody>
      </p:sp>
      <p:sp>
        <p:nvSpPr>
          <p:cNvPr id="17" name="Text 14"/>
          <p:cNvSpPr txBox="1"/>
          <p:nvPr/>
        </p:nvSpPr>
        <p:spPr>
          <a:xfrm>
            <a:off x="1417320" y="3813048"/>
            <a:ext cx="2560320" cy="731520"/>
          </a:xfrm>
          <a:prstGeom prst="rect">
            <a:avLst/>
          </a:prstGeom>
          <a:noFill/>
          <a:ln/>
        </p:spPr>
        <p:txBody>
          <a:bodyPr wrap="square" lIns="0" tIns="0" rIns="0" bIns="0" rtlCol="0" anchor="ctr"/>
          <a:lstStyle/>
          <a:p>
            <a:pPr indent="0" marL="0">
              <a:buNone/>
            </a:pPr>
            <a:r>
              <a:rPr lang="en-US" sz="1500" b="1" dirty="0">
                <a:solidFill>
                  <a:schemeClr val="tx1"/>
                </a:solidFill>
              </a:rPr>
              <a:t>Ankit Singh</a:t>
            </a:r>
            <a:endParaRPr lang="en-US" sz="1500" dirty="0"/>
          </a:p>
          <a:p>
            <a:pPr indent="0" marL="0">
              <a:buNone/>
            </a:pPr>
            <a:r>
              <a:rPr lang="en-US" sz="1200" dirty="0">
                <a:solidFill>
                  <a:srgbClr val="5F6B73"/>
                </a:solidFill>
              </a:rPr>
              <a:t>EMBAA25004  ·  Data &amp; dashboard</a:t>
            </a:r>
            <a:endParaRPr lang="en-US" sz="1500" dirty="0"/>
          </a:p>
        </p:txBody>
      </p:sp>
      <p:sp>
        <p:nvSpPr>
          <p:cNvPr id="18" name="Team card Gopalakrishnan S"/>
          <p:cNvSpPr/>
          <p:nvPr/>
        </p:nvSpPr>
        <p:spPr>
          <a:xfrm>
            <a:off x="4251960" y="3611880"/>
            <a:ext cx="3611880" cy="1097280"/>
          </a:xfrm>
          <a:prstGeom prst="roundRect">
            <a:avLst>
              <a:gd name="adj" fmla="val 6667"/>
            </a:avLst>
          </a:prstGeom>
          <a:solidFill>
            <a:schemeClr val="bg2"/>
          </a:solidFill>
          <a:ln w="12700">
            <a:solidFill>
              <a:schemeClr val="bg2"/>
            </a:solidFill>
            <a:prstDash val="solid"/>
          </a:ln>
        </p:spPr>
      </p:sp>
      <p:sp>
        <p:nvSpPr>
          <p:cNvPr id="19" name="Avatar GS"/>
          <p:cNvSpPr/>
          <p:nvPr/>
        </p:nvSpPr>
        <p:spPr>
          <a:xfrm>
            <a:off x="4416552" y="3840480"/>
            <a:ext cx="640080" cy="640080"/>
          </a:xfrm>
          <a:prstGeom prst="ellipse">
            <a:avLst/>
          </a:prstGeom>
          <a:solidFill>
            <a:schemeClr val="accent2"/>
          </a:solidFill>
          <a:ln w="12700">
            <a:solidFill>
              <a:schemeClr val="accent2"/>
            </a:solidFill>
            <a:prstDash val="solid"/>
          </a:ln>
        </p:spPr>
      </p:sp>
      <p:sp>
        <p:nvSpPr>
          <p:cNvPr id="20" name="Text 17"/>
          <p:cNvSpPr txBox="1"/>
          <p:nvPr/>
        </p:nvSpPr>
        <p:spPr>
          <a:xfrm>
            <a:off x="4416552" y="3840480"/>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GS</a:t>
            </a:r>
            <a:endParaRPr lang="en-US" sz="1600" dirty="0"/>
          </a:p>
        </p:txBody>
      </p:sp>
      <p:sp>
        <p:nvSpPr>
          <p:cNvPr id="21" name="Text 18"/>
          <p:cNvSpPr txBox="1"/>
          <p:nvPr/>
        </p:nvSpPr>
        <p:spPr>
          <a:xfrm>
            <a:off x="5212080" y="3813048"/>
            <a:ext cx="2560320" cy="731520"/>
          </a:xfrm>
          <a:prstGeom prst="rect">
            <a:avLst/>
          </a:prstGeom>
          <a:noFill/>
          <a:ln/>
        </p:spPr>
        <p:txBody>
          <a:bodyPr wrap="square" lIns="0" tIns="0" rIns="0" bIns="0" rtlCol="0" anchor="ctr"/>
          <a:lstStyle/>
          <a:p>
            <a:pPr indent="0" marL="0">
              <a:buNone/>
            </a:pPr>
            <a:r>
              <a:rPr lang="en-US" sz="1500" b="1" dirty="0">
                <a:solidFill>
                  <a:schemeClr val="tx1"/>
                </a:solidFill>
              </a:rPr>
              <a:t>Gopalakrishnan S</a:t>
            </a:r>
            <a:endParaRPr lang="en-US" sz="1500" dirty="0"/>
          </a:p>
          <a:p>
            <a:pPr indent="0" marL="0">
              <a:buNone/>
            </a:pPr>
            <a:r>
              <a:rPr lang="en-US" sz="1200" dirty="0">
                <a:solidFill>
                  <a:srgbClr val="5F6B73"/>
                </a:solidFill>
              </a:rPr>
              <a:t>EMBAA25017  ·  Descriptive &amp; inferential</a:t>
            </a:r>
            <a:endParaRPr lang="en-US" sz="1500" dirty="0"/>
          </a:p>
        </p:txBody>
      </p:sp>
      <p:sp>
        <p:nvSpPr>
          <p:cNvPr id="22" name="Team card Murugan Perumal"/>
          <p:cNvSpPr/>
          <p:nvPr/>
        </p:nvSpPr>
        <p:spPr>
          <a:xfrm>
            <a:off x="8046720" y="3611880"/>
            <a:ext cx="3611880" cy="1097280"/>
          </a:xfrm>
          <a:prstGeom prst="roundRect">
            <a:avLst>
              <a:gd name="adj" fmla="val 6667"/>
            </a:avLst>
          </a:prstGeom>
          <a:solidFill>
            <a:schemeClr val="bg2"/>
          </a:solidFill>
          <a:ln w="12700">
            <a:solidFill>
              <a:schemeClr val="bg2"/>
            </a:solidFill>
            <a:prstDash val="solid"/>
          </a:ln>
        </p:spPr>
      </p:sp>
      <p:sp>
        <p:nvSpPr>
          <p:cNvPr id="23" name="Avatar MP"/>
          <p:cNvSpPr/>
          <p:nvPr/>
        </p:nvSpPr>
        <p:spPr>
          <a:xfrm>
            <a:off x="8211312" y="3840480"/>
            <a:ext cx="640080" cy="640080"/>
          </a:xfrm>
          <a:prstGeom prst="ellipse">
            <a:avLst/>
          </a:prstGeom>
          <a:solidFill>
            <a:schemeClr val="accent2"/>
          </a:solidFill>
          <a:ln w="12700">
            <a:solidFill>
              <a:schemeClr val="accent2"/>
            </a:solidFill>
            <a:prstDash val="solid"/>
          </a:ln>
        </p:spPr>
      </p:sp>
      <p:sp>
        <p:nvSpPr>
          <p:cNvPr id="24" name="Text 21"/>
          <p:cNvSpPr txBox="1"/>
          <p:nvPr/>
        </p:nvSpPr>
        <p:spPr>
          <a:xfrm>
            <a:off x="8211312" y="3840480"/>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MP</a:t>
            </a:r>
            <a:endParaRPr lang="en-US" sz="1600" dirty="0"/>
          </a:p>
        </p:txBody>
      </p:sp>
      <p:sp>
        <p:nvSpPr>
          <p:cNvPr id="25" name="Text 22"/>
          <p:cNvSpPr txBox="1"/>
          <p:nvPr/>
        </p:nvSpPr>
        <p:spPr>
          <a:xfrm>
            <a:off x="9006840" y="3813048"/>
            <a:ext cx="2560320" cy="731520"/>
          </a:xfrm>
          <a:prstGeom prst="rect">
            <a:avLst/>
          </a:prstGeom>
          <a:noFill/>
          <a:ln/>
        </p:spPr>
        <p:txBody>
          <a:bodyPr wrap="square" lIns="0" tIns="0" rIns="0" bIns="0" rtlCol="0" anchor="ctr"/>
          <a:lstStyle/>
          <a:p>
            <a:pPr indent="0" marL="0">
              <a:buNone/>
            </a:pPr>
            <a:r>
              <a:rPr lang="en-US" sz="1500" b="1" dirty="0">
                <a:solidFill>
                  <a:schemeClr val="tx1"/>
                </a:solidFill>
              </a:rPr>
              <a:t>Murugan Perumal</a:t>
            </a:r>
            <a:endParaRPr lang="en-US" sz="1500" dirty="0"/>
          </a:p>
          <a:p>
            <a:pPr indent="0" marL="0">
              <a:buNone/>
            </a:pPr>
            <a:r>
              <a:rPr lang="en-US" sz="1200" dirty="0">
                <a:solidFill>
                  <a:srgbClr val="5F6B73"/>
                </a:solidFill>
              </a:rPr>
              <a:t>EMBAA25020  ·  Regression &amp; diagnostics</a:t>
            </a:r>
            <a:endParaRPr lang="en-US" sz="1500" dirty="0"/>
          </a:p>
        </p:txBody>
      </p:sp>
      <p:sp>
        <p:nvSpPr>
          <p:cNvPr id="26" name="Team card Aswin G."/>
          <p:cNvSpPr/>
          <p:nvPr/>
        </p:nvSpPr>
        <p:spPr>
          <a:xfrm>
            <a:off x="457200" y="4873752"/>
            <a:ext cx="3611880" cy="1097280"/>
          </a:xfrm>
          <a:prstGeom prst="roundRect">
            <a:avLst>
              <a:gd name="adj" fmla="val 6667"/>
            </a:avLst>
          </a:prstGeom>
          <a:solidFill>
            <a:schemeClr val="bg2"/>
          </a:solidFill>
          <a:ln w="12700">
            <a:solidFill>
              <a:schemeClr val="bg2"/>
            </a:solidFill>
            <a:prstDash val="solid"/>
          </a:ln>
        </p:spPr>
      </p:sp>
      <p:sp>
        <p:nvSpPr>
          <p:cNvPr id="27" name="Avatar AG"/>
          <p:cNvSpPr/>
          <p:nvPr/>
        </p:nvSpPr>
        <p:spPr>
          <a:xfrm>
            <a:off x="621792" y="5102352"/>
            <a:ext cx="640080" cy="640080"/>
          </a:xfrm>
          <a:prstGeom prst="ellipse">
            <a:avLst/>
          </a:prstGeom>
          <a:solidFill>
            <a:schemeClr val="accent2"/>
          </a:solidFill>
          <a:ln w="12700">
            <a:solidFill>
              <a:schemeClr val="accent2"/>
            </a:solidFill>
            <a:prstDash val="solid"/>
          </a:ln>
        </p:spPr>
      </p:sp>
      <p:sp>
        <p:nvSpPr>
          <p:cNvPr id="28" name="Text 25"/>
          <p:cNvSpPr txBox="1"/>
          <p:nvPr/>
        </p:nvSpPr>
        <p:spPr>
          <a:xfrm>
            <a:off x="621792" y="5102352"/>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AG</a:t>
            </a:r>
            <a:endParaRPr lang="en-US" sz="1600" dirty="0"/>
          </a:p>
        </p:txBody>
      </p:sp>
      <p:sp>
        <p:nvSpPr>
          <p:cNvPr id="29" name="Text 26"/>
          <p:cNvSpPr txBox="1"/>
          <p:nvPr/>
        </p:nvSpPr>
        <p:spPr>
          <a:xfrm>
            <a:off x="1417320" y="5074920"/>
            <a:ext cx="2560320" cy="731520"/>
          </a:xfrm>
          <a:prstGeom prst="rect">
            <a:avLst/>
          </a:prstGeom>
          <a:noFill/>
          <a:ln/>
        </p:spPr>
        <p:txBody>
          <a:bodyPr wrap="square" lIns="0" tIns="0" rIns="0" bIns="0" rtlCol="0" anchor="ctr"/>
          <a:lstStyle/>
          <a:p>
            <a:pPr indent="0" marL="0">
              <a:buNone/>
            </a:pPr>
            <a:r>
              <a:rPr lang="en-US" sz="1500" b="1" dirty="0">
                <a:solidFill>
                  <a:schemeClr val="tx1"/>
                </a:solidFill>
              </a:rPr>
              <a:t>Aswin G.</a:t>
            </a:r>
            <a:endParaRPr lang="en-US" sz="1500" dirty="0"/>
          </a:p>
          <a:p>
            <a:pPr indent="0" marL="0">
              <a:buNone/>
            </a:pPr>
            <a:r>
              <a:rPr lang="en-US" sz="1200" dirty="0">
                <a:solidFill>
                  <a:srgbClr val="5F6B73"/>
                </a:solidFill>
              </a:rPr>
              <a:t>EMBAA25008  ·  Classification</a:t>
            </a:r>
            <a:endParaRPr lang="en-US" sz="1500" dirty="0"/>
          </a:p>
        </p:txBody>
      </p:sp>
      <p:sp>
        <p:nvSpPr>
          <p:cNvPr id="30" name="Team card Atul Kumar Singh"/>
          <p:cNvSpPr/>
          <p:nvPr/>
        </p:nvSpPr>
        <p:spPr>
          <a:xfrm>
            <a:off x="4251960" y="4873752"/>
            <a:ext cx="3611880" cy="1097280"/>
          </a:xfrm>
          <a:prstGeom prst="roundRect">
            <a:avLst>
              <a:gd name="adj" fmla="val 6667"/>
            </a:avLst>
          </a:prstGeom>
          <a:solidFill>
            <a:schemeClr val="bg2"/>
          </a:solidFill>
          <a:ln w="12700">
            <a:solidFill>
              <a:schemeClr val="bg2"/>
            </a:solidFill>
            <a:prstDash val="solid"/>
          </a:ln>
        </p:spPr>
      </p:sp>
      <p:sp>
        <p:nvSpPr>
          <p:cNvPr id="31" name="Avatar AK"/>
          <p:cNvSpPr/>
          <p:nvPr/>
        </p:nvSpPr>
        <p:spPr>
          <a:xfrm>
            <a:off x="4416552" y="5102352"/>
            <a:ext cx="640080" cy="640080"/>
          </a:xfrm>
          <a:prstGeom prst="ellipse">
            <a:avLst/>
          </a:prstGeom>
          <a:solidFill>
            <a:schemeClr val="accent2"/>
          </a:solidFill>
          <a:ln w="12700">
            <a:solidFill>
              <a:schemeClr val="accent2"/>
            </a:solidFill>
            <a:prstDash val="solid"/>
          </a:ln>
        </p:spPr>
      </p:sp>
      <p:sp>
        <p:nvSpPr>
          <p:cNvPr id="32" name="Text 29"/>
          <p:cNvSpPr txBox="1"/>
          <p:nvPr/>
        </p:nvSpPr>
        <p:spPr>
          <a:xfrm>
            <a:off x="4416552" y="5102352"/>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AK</a:t>
            </a:r>
            <a:endParaRPr lang="en-US" sz="1600" dirty="0"/>
          </a:p>
        </p:txBody>
      </p:sp>
      <p:sp>
        <p:nvSpPr>
          <p:cNvPr id="33" name="Text 30"/>
          <p:cNvSpPr txBox="1"/>
          <p:nvPr/>
        </p:nvSpPr>
        <p:spPr>
          <a:xfrm>
            <a:off x="5212080" y="5074920"/>
            <a:ext cx="2560320" cy="731520"/>
          </a:xfrm>
          <a:prstGeom prst="rect">
            <a:avLst/>
          </a:prstGeom>
          <a:noFill/>
          <a:ln/>
        </p:spPr>
        <p:txBody>
          <a:bodyPr wrap="square" lIns="0" tIns="0" rIns="0" bIns="0" rtlCol="0" anchor="ctr"/>
          <a:lstStyle/>
          <a:p>
            <a:pPr indent="0" marL="0">
              <a:buNone/>
            </a:pPr>
            <a:r>
              <a:rPr lang="en-US" sz="1500" b="1" dirty="0">
                <a:solidFill>
                  <a:schemeClr val="tx1"/>
                </a:solidFill>
              </a:rPr>
              <a:t>Atul Kumar Singh</a:t>
            </a:r>
            <a:endParaRPr lang="en-US" sz="1500" dirty="0"/>
          </a:p>
          <a:p>
            <a:pPr indent="0" marL="0">
              <a:buNone/>
            </a:pPr>
            <a:r>
              <a:rPr lang="en-US" sz="1200" dirty="0">
                <a:solidFill>
                  <a:srgbClr val="5F6B73"/>
                </a:solidFill>
              </a:rPr>
              <a:t>EMBAA25009  ·  Clustering &amp; scenarios</a:t>
            </a:r>
            <a:endParaRPr lang="en-US" sz="1500" dirty="0"/>
          </a:p>
        </p:txBody>
      </p:sp>
      <p:sp>
        <p:nvSpPr>
          <p:cNvPr id="34" name="Team card Devanshu Priyam"/>
          <p:cNvSpPr/>
          <p:nvPr/>
        </p:nvSpPr>
        <p:spPr>
          <a:xfrm>
            <a:off x="8046720" y="4873752"/>
            <a:ext cx="3611880" cy="1097280"/>
          </a:xfrm>
          <a:prstGeom prst="roundRect">
            <a:avLst>
              <a:gd name="adj" fmla="val 6667"/>
            </a:avLst>
          </a:prstGeom>
          <a:solidFill>
            <a:schemeClr val="bg2"/>
          </a:solidFill>
          <a:ln w="12700">
            <a:solidFill>
              <a:schemeClr val="bg2"/>
            </a:solidFill>
            <a:prstDash val="solid"/>
          </a:ln>
        </p:spPr>
      </p:sp>
      <p:sp>
        <p:nvSpPr>
          <p:cNvPr id="35" name="Avatar DP"/>
          <p:cNvSpPr/>
          <p:nvPr/>
        </p:nvSpPr>
        <p:spPr>
          <a:xfrm>
            <a:off x="8211312" y="5102352"/>
            <a:ext cx="640080" cy="640080"/>
          </a:xfrm>
          <a:prstGeom prst="ellipse">
            <a:avLst/>
          </a:prstGeom>
          <a:solidFill>
            <a:schemeClr val="accent2"/>
          </a:solidFill>
          <a:ln w="12700">
            <a:solidFill>
              <a:schemeClr val="accent2"/>
            </a:solidFill>
            <a:prstDash val="solid"/>
          </a:ln>
        </p:spPr>
      </p:sp>
      <p:sp>
        <p:nvSpPr>
          <p:cNvPr id="36" name="Text 33"/>
          <p:cNvSpPr txBox="1"/>
          <p:nvPr/>
        </p:nvSpPr>
        <p:spPr>
          <a:xfrm>
            <a:off x="8211312" y="5102352"/>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DP</a:t>
            </a:r>
            <a:endParaRPr lang="en-US" sz="1600" dirty="0"/>
          </a:p>
        </p:txBody>
      </p:sp>
      <p:sp>
        <p:nvSpPr>
          <p:cNvPr id="37" name="Text 34"/>
          <p:cNvSpPr txBox="1"/>
          <p:nvPr/>
        </p:nvSpPr>
        <p:spPr>
          <a:xfrm>
            <a:off x="9006840" y="5074920"/>
            <a:ext cx="2560320" cy="731520"/>
          </a:xfrm>
          <a:prstGeom prst="rect">
            <a:avLst/>
          </a:prstGeom>
          <a:noFill/>
          <a:ln/>
        </p:spPr>
        <p:txBody>
          <a:bodyPr wrap="square" lIns="0" tIns="0" rIns="0" bIns="0" rtlCol="0" anchor="ctr"/>
          <a:lstStyle/>
          <a:p>
            <a:pPr indent="0" marL="0">
              <a:buNone/>
            </a:pPr>
            <a:r>
              <a:rPr lang="en-US" sz="1500" b="1" dirty="0">
                <a:solidFill>
                  <a:schemeClr val="tx1"/>
                </a:solidFill>
              </a:rPr>
              <a:t>Devanshu Priyam</a:t>
            </a:r>
            <a:endParaRPr lang="en-US" sz="1500" dirty="0"/>
          </a:p>
          <a:p>
            <a:pPr indent="0" marL="0">
              <a:buNone/>
            </a:pPr>
            <a:r>
              <a:rPr lang="en-US" sz="1200" dirty="0">
                <a:solidFill>
                  <a:srgbClr val="5F6B73"/>
                </a:solidFill>
              </a:rPr>
              <a:t>EMBAA25014  ·  Live refresh &amp; reporting</a:t>
            </a:r>
            <a:endParaRPr lang="en-US" sz="1500" dirty="0"/>
          </a:p>
        </p:txBody>
      </p:sp>
      <p:sp>
        <p:nvSpPr>
          <p:cNvPr id="25" name="Slide Number Placeholder 0"/>
          <p:cNvSpPr>
            <a:spLocks noGrp="1"/>
          </p:cNvSpPr>
          <p:nvPr>
            <p:ph type="sldNum" sz="quarter" idx="4294967295"/>
          </p:nvPr>
        </p:nvSpPr>
        <p:spPr>
          <a:xfrm>
            <a:off x="10927080" y="6382512"/>
            <a:ext cx="420624" cy="329184"/>
          </a:xfrm>
          <a:prstGeom prst="rect">
            <a:avLst/>
          </a:prstGeom>
          <a:extLst>
            <a:ext uri="{C572A759-6A51-4108-AA02-DFA0A04FC94B}">
              <ma14:wrappingTextBoxFlag xmlns:ma14="http://schemas.microsoft.com/office/mac/drawingml/2011/main" val="0"/>
            </a:ext>
          </a:extLst>
        </p:spPr>
        <p:txBody>
          <a:bodyPr/>
          <a:lstStyle>
            <a:lvl1pPr>
              <a:defRPr sz="1200">
                <a:solidFill>
                  <a:srgbClr val="0F2A3A"/>
                </a:solidFill>
                <a:latin typeface="Calibri"/>
                <a:ea typeface="Calibri"/>
                <a:cs typeface="Calibri"/>
              </a:defRPr>
            </a:lvl1pPr>
          </a:lstStyle>
          <a:p>
            <a:pPr algn="r"/>
            <a:fld id="{F7021451-1387-4CA6-816F-3879F97B5CBC}" type="slidenum">
              <a:rPr b="1"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5"/>
          <p:cNvSpPr/>
          <p:nvPr>
            <p:ph idx="105" type="title" hasCustomPrompt="1"/>
          </p:nvPr>
        </p:nvSpPr>
        <p:spPr>
          <a:xfrm>
            <a:off x="365760" y="502920"/>
            <a:ext cx="10058400" cy="868680"/>
          </a:xfrm>
          <a:prstGeom prst="rect">
            <a:avLst/>
          </a:prstGeom>
          <a:noFill/>
          <a:ln/>
        </p:spPr>
        <p:txBody>
          <a:bodyPr wrap="square" lIns="0" tIns="0" rIns="0" bIns="0" rtlCol="0" anchor="ctr"/>
          <a:lstStyle/>
          <a:p>
            <a:pPr algn="l" indent="0" marL="0">
              <a:buNone/>
            </a:pPr>
            <a:r>
              <a:rPr lang="en-US" sz="2800" b="1" dirty="0">
                <a:solidFill>
                  <a:srgbClr val="FFFFFF"/>
                </a:solidFill>
              </a:rPr>
              <a:t>Executive summary: oil is not the villain</a:t>
            </a:r>
            <a:endParaRPr lang="en-US" sz="2800" dirty="0"/>
          </a:p>
        </p:txBody>
      </p:sp>
      <p:sp>
        <p:nvSpPr>
          <p:cNvPr id="3" name="Current presenter"/>
          <p:cNvSpPr txBox="1"/>
          <p:nvPr/>
        </p:nvSpPr>
        <p:spPr>
          <a:xfrm>
            <a:off x="8869680" y="91440"/>
            <a:ext cx="3063240" cy="310896"/>
          </a:xfrm>
          <a:prstGeom prst="rect">
            <a:avLst/>
          </a:prstGeom>
          <a:noFill/>
          <a:ln/>
        </p:spPr>
        <p:txBody>
          <a:bodyPr wrap="square" lIns="0" tIns="0" rIns="0" bIns="0" rtlCol="0" anchor="ctr"/>
          <a:lstStyle/>
          <a:p>
            <a:pPr algn="r" indent="0" marL="0">
              <a:buNone/>
            </a:pPr>
            <a:r>
              <a:rPr lang="en-US" sz="1100" dirty="0">
                <a:solidFill>
                  <a:srgbClr val="5F6B73"/>
                </a:solidFill>
              </a:rPr>
              <a:t>Presenter: </a:t>
            </a:r>
            <a:pPr algn="r" indent="0" marL="0">
              <a:buNone/>
            </a:pPr>
            <a:r>
              <a:rPr lang="en-US" sz="1100" b="1" dirty="0">
                <a:solidFill>
                  <a:srgbClr val="0F2A3A"/>
                </a:solidFill>
              </a:rPr>
              <a:t>Ankit Singh - EMBAA25004</a:t>
            </a:r>
            <a:endParaRPr lang="en-US" sz="1100" dirty="0"/>
          </a:p>
        </p:txBody>
      </p:sp>
      <p:sp>
        <p:nvSpPr>
          <p:cNvPr id="4" name="Presenter photo placeholder"/>
          <p:cNvSpPr/>
          <p:nvPr/>
        </p:nvSpPr>
        <p:spPr>
          <a:xfrm>
            <a:off x="10744200" y="502920"/>
            <a:ext cx="1188720" cy="868680"/>
          </a:xfrm>
          <a:prstGeom prst="rect">
            <a:avLst/>
          </a:prstGeom>
          <a:solidFill>
            <a:schemeClr val="accent2"/>
          </a:solidFill>
          <a:ln w="12700">
            <a:solidFill>
              <a:schemeClr val="accent2"/>
            </a:solidFill>
            <a:prstDash val="solid"/>
          </a:ln>
        </p:spPr>
      </p:sp>
      <p:sp>
        <p:nvSpPr>
          <p:cNvPr id="5" name="Presenter initials"/>
          <p:cNvSpPr txBox="1"/>
          <p:nvPr/>
        </p:nvSpPr>
        <p:spPr>
          <a:xfrm>
            <a:off x="10744200" y="502920"/>
            <a:ext cx="1188720" cy="868680"/>
          </a:xfrm>
          <a:prstGeom prst="rect">
            <a:avLst/>
          </a:prstGeom>
          <a:noFill/>
          <a:ln/>
        </p:spPr>
        <p:txBody>
          <a:bodyPr wrap="square" lIns="0" tIns="0" rIns="0" bIns="0" rtlCol="0" anchor="ctr"/>
          <a:lstStyle/>
          <a:p>
            <a:pPr algn="ctr" indent="0" marL="0">
              <a:buNone/>
            </a:pPr>
            <a:r>
              <a:rPr lang="en-US" sz="2600" b="1" dirty="0">
                <a:solidFill>
                  <a:schemeClr val="bg1"/>
                </a:solidFill>
              </a:rPr>
              <a:t>AS</a:t>
            </a:r>
            <a:endParaRPr lang="en-US" sz="2600" dirty="0"/>
          </a:p>
        </p:txBody>
      </p:sp>
      <p:sp>
        <p:nvSpPr>
          <p:cNvPr id="6" name="Footer rule"/>
          <p:cNvSpPr/>
          <p:nvPr/>
        </p:nvSpPr>
        <p:spPr>
          <a:xfrm>
            <a:off x="274320" y="6272784"/>
            <a:ext cx="10515600" cy="0"/>
          </a:xfrm>
          <a:prstGeom prst="line">
            <a:avLst/>
          </a:prstGeom>
          <a:noFill/>
          <a:ln w="12700">
            <a:solidFill>
              <a:srgbClr val="EEF2F4"/>
            </a:solidFill>
            <a:prstDash val="solid"/>
          </a:ln>
        </p:spPr>
      </p:sp>
      <p:sp>
        <p:nvSpPr>
          <p:cNvPr id="7" name="Team footer"/>
          <p:cNvSpPr txBox="1"/>
          <p:nvPr/>
        </p:nvSpPr>
        <p:spPr>
          <a:xfrm>
            <a:off x="274320" y="6309360"/>
            <a:ext cx="10515600" cy="457200"/>
          </a:xfrm>
          <a:prstGeom prst="rect">
            <a:avLst/>
          </a:prstGeom>
          <a:noFill/>
          <a:ln/>
        </p:spPr>
        <p:txBody>
          <a:bodyPr wrap="square" lIns="0" tIns="0" rIns="0" bIns="0" rtlCol="0" anchor="ctr"/>
          <a:lstStyle/>
          <a:p>
            <a:pPr algn="ctr" indent="0" marL="0">
              <a:buNone/>
            </a:pPr>
            <a:r>
              <a:rPr lang="en-US" sz="850" b="1" u="sng" dirty="0">
                <a:solidFill>
                  <a:srgbClr val="1F5FA8"/>
                </a:solidFill>
                <a:hlinkClick r:id="rId1" invalidUrl="" action="" tgtFrame="" tooltip="Ankit Singh on LinkedIn" history="1" highlightClick="0" endSnd="0">
                  <a:extLst>
                    <a:ext uri="{A12FA001-AC4F-418D-AE19-62706E023703}">
                      <ahyp:hlinkClr xmlns:ahyp="http://schemas.microsoft.com/office/drawing/2018/hyperlinkcolor" val="tx"/>
                    </a:ext>
                  </a:extLst>
                </a:hlinkClick>
              </a:rPr>
              <a:t>Ankit Singh</a:t>
            </a:r>
            <a:pPr algn="ctr" indent="0" marL="0">
              <a:buNone/>
            </a:pPr>
            <a:r>
              <a:rPr lang="en-US" sz="850" dirty="0">
                <a:solidFill>
                  <a:srgbClr val="5F6B73"/>
                </a:solidFill>
              </a:rPr>
              <a:t> - EMBAA25004 - </a:t>
            </a:r>
            <a:pPr algn="ctr" indent="0" marL="0">
              <a:buNone/>
            </a:pPr>
            <a:r>
              <a:rPr lang="en-US" sz="850" u="sng" dirty="0">
                <a:solidFill>
                  <a:srgbClr val="1F5FA8"/>
                </a:solidFill>
                <a:hlinkClick r:id="rId2" invalidUrl="" action="" tgtFrame="" tooltip="" history="1" highlightClick="0" endSnd="0">
                  <a:extLst>
                    <a:ext uri="{A12FA001-AC4F-418D-AE19-62706E023703}">
                      <ahyp:hlinkClr xmlns:ahyp="http://schemas.microsoft.com/office/drawing/2018/hyperlinkcolor" val="tx"/>
                    </a:ext>
                  </a:extLst>
                </a:hlinkClick>
              </a:rPr>
              <a:t>ankit.embaa25004@iimkashipur.ac.in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3" invalidUrl="" action="" tgtFrame="" tooltip="Gopalakrishnan S on LinkedIn" history="1" highlightClick="0" endSnd="0">
                  <a:extLst>
                    <a:ext uri="{A12FA001-AC4F-418D-AE19-62706E023703}">
                      <ahyp:hlinkClr xmlns:ahyp="http://schemas.microsoft.com/office/drawing/2018/hyperlinkcolor" val="tx"/>
                    </a:ext>
                  </a:extLst>
                </a:hlinkClick>
              </a:rPr>
              <a:t>Gopalakrishnan S</a:t>
            </a:r>
            <a:pPr algn="ctr" indent="0" marL="0">
              <a:buNone/>
            </a:pPr>
            <a:r>
              <a:rPr lang="en-US" sz="850" dirty="0">
                <a:solidFill>
                  <a:srgbClr val="5F6B73"/>
                </a:solidFill>
              </a:rPr>
              <a:t> - EMBAA25017 - </a:t>
            </a:r>
            <a:pPr algn="ctr" indent="0" marL="0">
              <a:buNone/>
            </a:pPr>
            <a:r>
              <a:rPr lang="en-US" sz="850" u="sng" dirty="0">
                <a:solidFill>
                  <a:srgbClr val="1F5FA8"/>
                </a:solidFill>
                <a:hlinkClick r:id="rId4" invalidUrl="" action="" tgtFrame="" tooltip="" history="1" highlightClick="0" endSnd="0">
                  <a:extLst>
                    <a:ext uri="{A12FA001-AC4F-418D-AE19-62706E023703}">
                      <ahyp:hlinkClr xmlns:ahyp="http://schemas.microsoft.com/office/drawing/2018/hyperlinkcolor" val="tx"/>
                    </a:ext>
                  </a:extLst>
                </a:hlinkClick>
              </a:rPr>
              <a:t>gopalakrishnan.embaa25017@iimkashipur.ac.in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5" invalidUrl="" action="" tgtFrame="" tooltip="Murugan Perumal on LinkedIn" history="1" highlightClick="0" endSnd="0">
                  <a:extLst>
                    <a:ext uri="{A12FA001-AC4F-418D-AE19-62706E023703}">
                      <ahyp:hlinkClr xmlns:ahyp="http://schemas.microsoft.com/office/drawing/2018/hyperlinkcolor" val="tx"/>
                    </a:ext>
                  </a:extLst>
                </a:hlinkClick>
              </a:rPr>
              <a:t>Murugan Perumal</a:t>
            </a:r>
            <a:pPr algn="ctr" indent="0" marL="0">
              <a:buNone/>
            </a:pPr>
            <a:r>
              <a:rPr lang="en-US" sz="850" dirty="0">
                <a:solidFill>
                  <a:srgbClr val="5F6B73"/>
                </a:solidFill>
              </a:rPr>
              <a:t> - EMBAA25020 - </a:t>
            </a:r>
            <a:pPr algn="ctr" indent="0" marL="0">
              <a:buNone/>
            </a:pPr>
            <a:r>
              <a:rPr lang="en-US" sz="850" u="sng" dirty="0">
                <a:solidFill>
                  <a:srgbClr val="1F5FA8"/>
                </a:solidFill>
                <a:hlinkClick r:id="rId6" invalidUrl="" action="" tgtFrame="" tooltip="" history="1" highlightClick="0" endSnd="0">
                  <a:extLst>
                    <a:ext uri="{A12FA001-AC4F-418D-AE19-62706E023703}">
                      <ahyp:hlinkClr xmlns:ahyp="http://schemas.microsoft.com/office/drawing/2018/hyperlinkcolor" val="tx"/>
                    </a:ext>
                  </a:extLst>
                </a:hlinkClick>
              </a:rPr>
              <a:t>murugan.embaa25020@iimkashipur.ac.in</a:t>
            </a:r>
            <a:pPr algn="ctr" indent="0" marL="0">
              <a:buNone/>
            </a:pPr>
            <a:endParaRPr lang="en-US" sz="850" dirty="0"/>
          </a:p>
          <a:p>
            <a:pPr algn="ctr" indent="0" marL="0">
              <a:buNone/>
            </a:pPr>
            <a:r>
              <a:rPr lang="en-US" sz="850" b="1" u="sng" dirty="0">
                <a:solidFill>
                  <a:srgbClr val="1F5FA8"/>
                </a:solidFill>
                <a:hlinkClick r:id="rId7" invalidUrl="" action="" tgtFrame="" tooltip="Aswin G. on LinkedIn" history="1" highlightClick="0" endSnd="0">
                  <a:extLst>
                    <a:ext uri="{A12FA001-AC4F-418D-AE19-62706E023703}">
                      <ahyp:hlinkClr xmlns:ahyp="http://schemas.microsoft.com/office/drawing/2018/hyperlinkcolor" val="tx"/>
                    </a:ext>
                  </a:extLst>
                </a:hlinkClick>
              </a:rPr>
              <a:t>Aswin G.</a:t>
            </a:r>
            <a:pPr algn="ctr" indent="0" marL="0">
              <a:buNone/>
            </a:pPr>
            <a:r>
              <a:rPr lang="en-US" sz="850" dirty="0">
                <a:solidFill>
                  <a:srgbClr val="5F6B73"/>
                </a:solidFill>
              </a:rPr>
              <a:t> - EMBAA25008 - </a:t>
            </a:r>
            <a:pPr algn="ctr" indent="0" marL="0">
              <a:buNone/>
            </a:pPr>
            <a:r>
              <a:rPr lang="en-US" sz="850" u="sng" dirty="0">
                <a:solidFill>
                  <a:srgbClr val="1F5FA8"/>
                </a:solidFill>
                <a:hlinkClick r:id="rId8" invalidUrl="" action="" tgtFrame="" tooltip="" history="1" highlightClick="0" endSnd="0">
                  <a:extLst>
                    <a:ext uri="{A12FA001-AC4F-418D-AE19-62706E023703}">
                      <ahyp:hlinkClr xmlns:ahyp="http://schemas.microsoft.com/office/drawing/2018/hyperlinkcolor" val="tx"/>
                    </a:ext>
                  </a:extLst>
                </a:hlinkClick>
              </a:rPr>
              <a:t>aswin.embaa25008@iimkashipur.ac.in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9" invalidUrl="" action="" tgtFrame="" tooltip="Atul Kumar Singh on LinkedIn" history="1" highlightClick="0" endSnd="0">
                  <a:extLst>
                    <a:ext uri="{A12FA001-AC4F-418D-AE19-62706E023703}">
                      <ahyp:hlinkClr xmlns:ahyp="http://schemas.microsoft.com/office/drawing/2018/hyperlinkcolor" val="tx"/>
                    </a:ext>
                  </a:extLst>
                </a:hlinkClick>
              </a:rPr>
              <a:t>Atul Kumar Singh</a:t>
            </a:r>
            <a:pPr algn="ctr" indent="0" marL="0">
              <a:buNone/>
            </a:pPr>
            <a:r>
              <a:rPr lang="en-US" sz="850" dirty="0">
                <a:solidFill>
                  <a:srgbClr val="5F6B73"/>
                </a:solidFill>
              </a:rPr>
              <a:t> - EMBAA25009 - </a:t>
            </a:r>
            <a:pPr algn="ctr" indent="0" marL="0">
              <a:buNone/>
            </a:pPr>
            <a:r>
              <a:rPr lang="en-US" sz="850" u="sng" dirty="0">
                <a:solidFill>
                  <a:srgbClr val="1F5FA8"/>
                </a:solidFill>
                <a:hlinkClick r:id="rId10" invalidUrl="" action="" tgtFrame="" tooltip="" history="1" highlightClick="0" endSnd="0">
                  <a:extLst>
                    <a:ext uri="{A12FA001-AC4F-418D-AE19-62706E023703}">
                      <ahyp:hlinkClr xmlns:ahyp="http://schemas.microsoft.com/office/drawing/2018/hyperlinkcolor" val="tx"/>
                    </a:ext>
                  </a:extLst>
                </a:hlinkClick>
              </a:rPr>
              <a:t>atul.embaa25009@iimkashipur.ac.in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11" invalidUrl="" action="" tgtFrame="" tooltip="Devanshu Priyam on LinkedIn" history="1" highlightClick="0" endSnd="0">
                  <a:extLst>
                    <a:ext uri="{A12FA001-AC4F-418D-AE19-62706E023703}">
                      <ahyp:hlinkClr xmlns:ahyp="http://schemas.microsoft.com/office/drawing/2018/hyperlinkcolor" val="tx"/>
                    </a:ext>
                  </a:extLst>
                </a:hlinkClick>
              </a:rPr>
              <a:t>Devanshu Priyam</a:t>
            </a:r>
            <a:pPr algn="ctr" indent="0" marL="0">
              <a:buNone/>
            </a:pPr>
            <a:r>
              <a:rPr lang="en-US" sz="850" dirty="0">
                <a:solidFill>
                  <a:srgbClr val="5F6B73"/>
                </a:solidFill>
              </a:rPr>
              <a:t> - EMBAA25014 - </a:t>
            </a:r>
            <a:pPr algn="ctr" indent="0" marL="0">
              <a:buNone/>
            </a:pPr>
            <a:r>
              <a:rPr lang="en-US" sz="850" u="sng" dirty="0">
                <a:solidFill>
                  <a:srgbClr val="1F5FA8"/>
                </a:solidFill>
                <a:hlinkClick r:id="rId12" invalidUrl="" action="" tgtFrame="" tooltip="" history="1" highlightClick="0" endSnd="0">
                  <a:extLst>
                    <a:ext uri="{A12FA001-AC4F-418D-AE19-62706E023703}">
                      <ahyp:hlinkClr xmlns:ahyp="http://schemas.microsoft.com/office/drawing/2018/hyperlinkcolor" val="tx"/>
                    </a:ext>
                  </a:extLst>
                </a:hlinkClick>
              </a:rPr>
              <a:t>devanshu.embaa25014@iimkashipur.ac.in</a:t>
            </a:r>
            <a:endParaRPr lang="en-US" sz="850" dirty="0"/>
          </a:p>
        </p:txBody>
      </p:sp>
      <p:sp>
        <p:nvSpPr>
          <p:cNvPr id="9" name="Text 6"/>
          <p:cNvSpPr txBox="1"/>
          <p:nvPr/>
        </p:nvSpPr>
        <p:spPr>
          <a:xfrm>
            <a:off x="457200" y="1600200"/>
            <a:ext cx="11247120" cy="548640"/>
          </a:xfrm>
          <a:prstGeom prst="rect">
            <a:avLst/>
          </a:prstGeom>
          <a:noFill/>
          <a:ln/>
        </p:spPr>
        <p:txBody>
          <a:bodyPr wrap="square" lIns="0" tIns="0" rIns="0" bIns="0" rtlCol="0" anchor="t"/>
          <a:lstStyle/>
          <a:p>
            <a:pPr indent="0" marL="0">
              <a:buNone/>
            </a:pPr>
            <a:r>
              <a:rPr lang="en-US" sz="2000" b="1" dirty="0">
                <a:solidFill>
                  <a:schemeClr val="tx2"/>
                </a:solidFill>
              </a:rPr>
              <a:t>FPI flows and the US dollar drive the rupee. Oil's effect disappears once they are counted.</a:t>
            </a:r>
            <a:endParaRPr lang="en-US" sz="2000" dirty="0"/>
          </a:p>
        </p:txBody>
      </p:sp>
      <p:sp>
        <p:nvSpPr>
          <p:cNvPr id="10" name="Stat Adj. R²: oil alone v"/>
          <p:cNvSpPr/>
          <p:nvPr/>
        </p:nvSpPr>
        <p:spPr>
          <a:xfrm>
            <a:off x="457200" y="2331720"/>
            <a:ext cx="2651760" cy="1508760"/>
          </a:xfrm>
          <a:prstGeom prst="roundRect">
            <a:avLst>
              <a:gd name="adj" fmla="val 4848"/>
            </a:avLst>
          </a:prstGeom>
          <a:solidFill>
            <a:schemeClr val="bg2"/>
          </a:solidFill>
          <a:ln w="12700">
            <a:solidFill>
              <a:schemeClr val="bg2"/>
            </a:solidFill>
            <a:prstDash val="solid"/>
          </a:ln>
        </p:spPr>
      </p:sp>
      <p:sp>
        <p:nvSpPr>
          <p:cNvPr id="11" name="Text 8"/>
          <p:cNvSpPr txBox="1"/>
          <p:nvPr/>
        </p:nvSpPr>
        <p:spPr>
          <a:xfrm>
            <a:off x="640080" y="2468880"/>
            <a:ext cx="2286000" cy="73152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0.03 → 0.43</a:t>
            </a:r>
            <a:endParaRPr lang="en-US" sz="3600" dirty="0"/>
          </a:p>
        </p:txBody>
      </p:sp>
      <p:sp>
        <p:nvSpPr>
          <p:cNvPr id="12" name="Text 9"/>
          <p:cNvSpPr txBox="1"/>
          <p:nvPr/>
        </p:nvSpPr>
        <p:spPr>
          <a:xfrm>
            <a:off x="640080" y="3200400"/>
            <a:ext cx="2286000" cy="548640"/>
          </a:xfrm>
          <a:prstGeom prst="rect">
            <a:avLst/>
          </a:prstGeom>
          <a:noFill/>
          <a:ln/>
        </p:spPr>
        <p:txBody>
          <a:bodyPr wrap="square" lIns="0" tIns="0" rIns="0" bIns="0" rtlCol="0" anchor="t"/>
          <a:lstStyle/>
          <a:p>
            <a:pPr indent="0" marL="0">
              <a:buNone/>
            </a:pPr>
            <a:r>
              <a:rPr lang="en-US" sz="1300" dirty="0">
                <a:solidFill>
                  <a:schemeClr val="tx1"/>
                </a:solidFill>
              </a:rPr>
              <a:t>Adj. R²: oil alone vs six-factor model</a:t>
            </a:r>
            <a:endParaRPr lang="en-US" sz="1300" dirty="0"/>
          </a:p>
        </p:txBody>
      </p:sp>
      <p:sp>
        <p:nvSpPr>
          <p:cNvPr id="13" name="Stat FPI effect (std. β),"/>
          <p:cNvSpPr/>
          <p:nvPr/>
        </p:nvSpPr>
        <p:spPr>
          <a:xfrm>
            <a:off x="3291840" y="2331720"/>
            <a:ext cx="2651760" cy="1508760"/>
          </a:xfrm>
          <a:prstGeom prst="roundRect">
            <a:avLst>
              <a:gd name="adj" fmla="val 4848"/>
            </a:avLst>
          </a:prstGeom>
          <a:solidFill>
            <a:schemeClr val="bg2"/>
          </a:solidFill>
          <a:ln w="12700">
            <a:solidFill>
              <a:schemeClr val="bg2"/>
            </a:solidFill>
            <a:prstDash val="solid"/>
          </a:ln>
        </p:spPr>
      </p:sp>
      <p:sp>
        <p:nvSpPr>
          <p:cNvPr id="14" name="Text 11"/>
          <p:cNvSpPr txBox="1"/>
          <p:nvPr/>
        </p:nvSpPr>
        <p:spPr>
          <a:xfrm>
            <a:off x="3474720" y="2468880"/>
            <a:ext cx="2286000" cy="73152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−0.40</a:t>
            </a:r>
            <a:endParaRPr lang="en-US" sz="3600" dirty="0"/>
          </a:p>
        </p:txBody>
      </p:sp>
      <p:sp>
        <p:nvSpPr>
          <p:cNvPr id="15" name="Text 12"/>
          <p:cNvSpPr txBox="1"/>
          <p:nvPr/>
        </p:nvSpPr>
        <p:spPr>
          <a:xfrm>
            <a:off x="3474720" y="3200400"/>
            <a:ext cx="2286000" cy="548640"/>
          </a:xfrm>
          <a:prstGeom prst="rect">
            <a:avLst/>
          </a:prstGeom>
          <a:noFill/>
          <a:ln/>
        </p:spPr>
        <p:txBody>
          <a:bodyPr wrap="square" lIns="0" tIns="0" rIns="0" bIns="0" rtlCol="0" anchor="t"/>
          <a:lstStyle/>
          <a:p>
            <a:pPr indent="0" marL="0">
              <a:buNone/>
            </a:pPr>
            <a:r>
              <a:rPr lang="en-US" sz="1300" dirty="0">
                <a:solidFill>
                  <a:schemeClr val="tx1"/>
                </a:solidFill>
              </a:rPr>
              <a:t>FPI effect (std. β), significant</a:t>
            </a:r>
            <a:endParaRPr lang="en-US" sz="1300" dirty="0"/>
          </a:p>
        </p:txBody>
      </p:sp>
      <p:sp>
        <p:nvSpPr>
          <p:cNvPr id="16" name="Stat Broad dollar effect "/>
          <p:cNvSpPr/>
          <p:nvPr/>
        </p:nvSpPr>
        <p:spPr>
          <a:xfrm>
            <a:off x="6126480" y="2331720"/>
            <a:ext cx="2651760" cy="1508760"/>
          </a:xfrm>
          <a:prstGeom prst="roundRect">
            <a:avLst>
              <a:gd name="adj" fmla="val 4848"/>
            </a:avLst>
          </a:prstGeom>
          <a:solidFill>
            <a:schemeClr val="bg2"/>
          </a:solidFill>
          <a:ln w="12700">
            <a:solidFill>
              <a:schemeClr val="bg2"/>
            </a:solidFill>
            <a:prstDash val="solid"/>
          </a:ln>
        </p:spPr>
      </p:sp>
      <p:sp>
        <p:nvSpPr>
          <p:cNvPr id="17" name="Text 14"/>
          <p:cNvSpPr txBox="1"/>
          <p:nvPr/>
        </p:nvSpPr>
        <p:spPr>
          <a:xfrm>
            <a:off x="6309360" y="2468880"/>
            <a:ext cx="2286000" cy="73152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+0.32</a:t>
            </a:r>
            <a:endParaRPr lang="en-US" sz="3600" dirty="0"/>
          </a:p>
        </p:txBody>
      </p:sp>
      <p:sp>
        <p:nvSpPr>
          <p:cNvPr id="18" name="Text 15"/>
          <p:cNvSpPr txBox="1"/>
          <p:nvPr/>
        </p:nvSpPr>
        <p:spPr>
          <a:xfrm>
            <a:off x="6309360" y="3200400"/>
            <a:ext cx="2286000" cy="548640"/>
          </a:xfrm>
          <a:prstGeom prst="rect">
            <a:avLst/>
          </a:prstGeom>
          <a:noFill/>
          <a:ln/>
        </p:spPr>
        <p:txBody>
          <a:bodyPr wrap="square" lIns="0" tIns="0" rIns="0" bIns="0" rtlCol="0" anchor="t"/>
          <a:lstStyle/>
          <a:p>
            <a:pPr indent="0" marL="0">
              <a:buNone/>
            </a:pPr>
            <a:r>
              <a:rPr lang="en-US" sz="1300" dirty="0">
                <a:solidFill>
                  <a:schemeClr val="tx1"/>
                </a:solidFill>
              </a:rPr>
              <a:t>Broad dollar effect (std. β), significant</a:t>
            </a:r>
            <a:endParaRPr lang="en-US" sz="1300" dirty="0"/>
          </a:p>
        </p:txBody>
      </p:sp>
      <p:sp>
        <p:nvSpPr>
          <p:cNvPr id="19" name="Stat Oil effect (std. β),"/>
          <p:cNvSpPr/>
          <p:nvPr/>
        </p:nvSpPr>
        <p:spPr>
          <a:xfrm>
            <a:off x="8961120" y="2331720"/>
            <a:ext cx="2743200" cy="1508760"/>
          </a:xfrm>
          <a:prstGeom prst="roundRect">
            <a:avLst>
              <a:gd name="adj" fmla="val 4848"/>
            </a:avLst>
          </a:prstGeom>
          <a:solidFill>
            <a:schemeClr val="bg2"/>
          </a:solidFill>
          <a:ln w="12700">
            <a:solidFill>
              <a:schemeClr val="bg2"/>
            </a:solidFill>
            <a:prstDash val="solid"/>
          </a:ln>
        </p:spPr>
      </p:sp>
      <p:sp>
        <p:nvSpPr>
          <p:cNvPr id="20" name="Text 17"/>
          <p:cNvSpPr txBox="1"/>
          <p:nvPr/>
        </p:nvSpPr>
        <p:spPr>
          <a:xfrm>
            <a:off x="9144000" y="2468880"/>
            <a:ext cx="2377440" cy="731520"/>
          </a:xfrm>
          <a:prstGeom prst="rect">
            <a:avLst/>
          </a:prstGeom>
          <a:noFill/>
          <a:ln/>
        </p:spPr>
        <p:txBody>
          <a:bodyPr wrap="square" lIns="0" tIns="0" rIns="0" bIns="0" rtlCol="0" anchor="ctr"/>
          <a:lstStyle/>
          <a:p>
            <a:pPr indent="0" marL="0">
              <a:buNone/>
            </a:pPr>
            <a:r>
              <a:rPr lang="en-US" sz="3600" b="1" dirty="0">
                <a:solidFill>
                  <a:srgbClr val="5F6B73"/>
                </a:solidFill>
                <a:latin typeface="Cambria" pitchFamily="34" charset="0"/>
                <a:ea typeface="Cambria" pitchFamily="34" charset="-122"/>
                <a:cs typeface="Cambria" pitchFamily="34" charset="-120"/>
              </a:rPr>
              <a:t>−0.01</a:t>
            </a:r>
            <a:endParaRPr lang="en-US" sz="3600" dirty="0"/>
          </a:p>
        </p:txBody>
      </p:sp>
      <p:sp>
        <p:nvSpPr>
          <p:cNvPr id="21" name="Text 18"/>
          <p:cNvSpPr txBox="1"/>
          <p:nvPr/>
        </p:nvSpPr>
        <p:spPr>
          <a:xfrm>
            <a:off x="9144000" y="3200400"/>
            <a:ext cx="2377440" cy="548640"/>
          </a:xfrm>
          <a:prstGeom prst="rect">
            <a:avLst/>
          </a:prstGeom>
          <a:noFill/>
          <a:ln/>
        </p:spPr>
        <p:txBody>
          <a:bodyPr wrap="square" lIns="0" tIns="0" rIns="0" bIns="0" rtlCol="0" anchor="t"/>
          <a:lstStyle/>
          <a:p>
            <a:pPr indent="0" marL="0">
              <a:buNone/>
            </a:pPr>
            <a:r>
              <a:rPr lang="en-US" sz="1300" dirty="0">
                <a:solidFill>
                  <a:schemeClr val="tx1"/>
                </a:solidFill>
              </a:rPr>
              <a:t>Oil effect (std. β), p = 0.86</a:t>
            </a:r>
            <a:endParaRPr lang="en-US" sz="1300" dirty="0"/>
          </a:p>
        </p:txBody>
      </p:sp>
      <p:sp>
        <p:nvSpPr>
          <p:cNvPr id="22" name="Caveat card"/>
          <p:cNvSpPr/>
          <p:nvPr/>
        </p:nvSpPr>
        <p:spPr>
          <a:xfrm>
            <a:off x="457200" y="4069080"/>
            <a:ext cx="5486400" cy="1965960"/>
          </a:xfrm>
          <a:prstGeom prst="roundRect">
            <a:avLst>
              <a:gd name="adj" fmla="val 3721"/>
            </a:avLst>
          </a:prstGeom>
          <a:solidFill>
            <a:schemeClr val="bg2"/>
          </a:solidFill>
          <a:ln w="12700">
            <a:solidFill>
              <a:schemeClr val="bg2"/>
            </a:solidFill>
            <a:prstDash val="solid"/>
          </a:ln>
        </p:spPr>
      </p:sp>
      <p:sp>
        <p:nvSpPr>
          <p:cNvPr id="23" name="Text 20"/>
          <p:cNvSpPr txBox="1"/>
          <p:nvPr/>
        </p:nvSpPr>
        <p:spPr>
          <a:xfrm>
            <a:off x="685800" y="4224528"/>
            <a:ext cx="5029200" cy="1691640"/>
          </a:xfrm>
          <a:prstGeom prst="rect">
            <a:avLst/>
          </a:prstGeom>
          <a:noFill/>
          <a:ln/>
        </p:spPr>
        <p:txBody>
          <a:bodyPr wrap="square" lIns="0" tIns="0" rIns="0" bIns="0" rtlCol="0" anchor="t"/>
          <a:lstStyle/>
          <a:p>
            <a:pPr indent="0" marL="0">
              <a:buNone/>
            </a:pPr>
            <a:r>
              <a:rPr lang="en-US" sz="1700" b="1" dirty="0">
                <a:solidFill>
                  <a:srgbClr val="0F2A3A"/>
                </a:solidFill>
              </a:rPr>
              <a:t>Explain ≠ predict</a:t>
            </a:r>
            <a:endParaRPr lang="en-US" sz="1500" dirty="0"/>
          </a:p>
          <a:p>
            <a:pPr indent="0" marL="0">
              <a:buNone/>
            </a:pPr>
            <a:r>
              <a:rPr lang="en-US" sz="1400" dirty="0">
                <a:solidFill>
                  <a:schemeClr val="tx1"/>
                </a:solidFill>
              </a:rPr>
              <a:t>On 2023–26 test data no model beats a naive average (RMSE 0.74). The drivers explain a month after it happens but cannot forecast the next one.</a:t>
            </a:r>
            <a:endParaRPr lang="en-US" sz="1500" dirty="0"/>
          </a:p>
        </p:txBody>
      </p:sp>
      <p:sp>
        <p:nvSpPr>
          <p:cNvPr id="24" name="Action card"/>
          <p:cNvSpPr/>
          <p:nvPr/>
        </p:nvSpPr>
        <p:spPr>
          <a:xfrm>
            <a:off x="6217920" y="4069080"/>
            <a:ext cx="5486400" cy="1965960"/>
          </a:xfrm>
          <a:prstGeom prst="roundRect">
            <a:avLst>
              <a:gd name="adj" fmla="val 3721"/>
            </a:avLst>
          </a:prstGeom>
          <a:solidFill>
            <a:schemeClr val="tx2"/>
          </a:solidFill>
          <a:ln w="12700">
            <a:solidFill>
              <a:schemeClr val="tx2"/>
            </a:solidFill>
            <a:prstDash val="solid"/>
          </a:ln>
        </p:spPr>
      </p:sp>
      <p:sp>
        <p:nvSpPr>
          <p:cNvPr id="25" name="Text 22"/>
          <p:cNvSpPr txBox="1"/>
          <p:nvPr/>
        </p:nvSpPr>
        <p:spPr>
          <a:xfrm>
            <a:off x="6446520" y="4224528"/>
            <a:ext cx="5029200" cy="1691640"/>
          </a:xfrm>
          <a:prstGeom prst="rect">
            <a:avLst/>
          </a:prstGeom>
          <a:noFill/>
          <a:ln/>
        </p:spPr>
        <p:txBody>
          <a:bodyPr wrap="square" lIns="0" tIns="0" rIns="0" bIns="0" rtlCol="0" anchor="t"/>
          <a:lstStyle/>
          <a:p>
            <a:pPr indent="0" marL="0">
              <a:buNone/>
            </a:pPr>
            <a:r>
              <a:rPr lang="en-US" sz="1700" b="1" dirty="0">
                <a:solidFill>
                  <a:srgbClr val="E8871E"/>
                </a:solidFill>
              </a:rPr>
              <a:t>What managers should do</a:t>
            </a:r>
            <a:endParaRPr lang="en-US" sz="1500" dirty="0"/>
          </a:p>
          <a:p>
            <a:pPr indent="0" marL="0">
              <a:buNone/>
            </a:pPr>
            <a:r>
              <a:rPr lang="en-US" sz="1400" dirty="0">
                <a:solidFill>
                  <a:srgbClr val="FFFFFF"/>
                </a:solidFill>
              </a:rPr>
              <a:t>Watch FPI and the dollar index, not oil headlines. Hedge on scenarios: a 3% dollar rally or a US$5 bn outflow justifies hedging a US$10 mn payable.</a:t>
            </a:r>
            <a:endParaRPr lang="en-US" sz="1500" dirty="0"/>
          </a:p>
        </p:txBody>
      </p:sp>
      <p:sp>
        <p:nvSpPr>
          <p:cNvPr id="25" name="Slide Number Placeholder 0"/>
          <p:cNvSpPr>
            <a:spLocks noGrp="1"/>
          </p:cNvSpPr>
          <p:nvPr>
            <p:ph type="sldNum" sz="quarter" idx="4294967295"/>
          </p:nvPr>
        </p:nvSpPr>
        <p:spPr>
          <a:xfrm>
            <a:off x="10927080" y="6382512"/>
            <a:ext cx="420624" cy="329184"/>
          </a:xfrm>
          <a:prstGeom prst="rect">
            <a:avLst/>
          </a:prstGeom>
          <a:extLst>
            <a:ext uri="{C572A759-6A51-4108-AA02-DFA0A04FC94B}">
              <ma14:wrappingTextBoxFlag xmlns:ma14="http://schemas.microsoft.com/office/mac/drawingml/2011/main" val="0"/>
            </a:ext>
          </a:extLst>
        </p:spPr>
        <p:txBody>
          <a:bodyPr/>
          <a:lstStyle>
            <a:lvl1pPr>
              <a:defRPr sz="1200">
                <a:solidFill>
                  <a:srgbClr val="0F2A3A"/>
                </a:solidFill>
                <a:latin typeface="Calibri"/>
                <a:ea typeface="Calibri"/>
                <a:cs typeface="Calibri"/>
              </a:defRPr>
            </a:lvl1pPr>
          </a:lstStyle>
          <a:p>
            <a:pPr algn="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5"/>
          <p:cNvSpPr/>
          <p:nvPr>
            <p:ph idx="105" type="title" hasCustomPrompt="1"/>
          </p:nvPr>
        </p:nvSpPr>
        <p:spPr>
          <a:xfrm>
            <a:off x="365760" y="502920"/>
            <a:ext cx="10058400" cy="868680"/>
          </a:xfrm>
          <a:prstGeom prst="rect">
            <a:avLst/>
          </a:prstGeom>
          <a:noFill/>
          <a:ln/>
        </p:spPr>
        <p:txBody>
          <a:bodyPr wrap="square" lIns="0" tIns="0" rIns="0" bIns="0" rtlCol="0" anchor="ctr"/>
          <a:lstStyle/>
          <a:p>
            <a:pPr algn="l" indent="0" marL="0">
              <a:buNone/>
            </a:pPr>
            <a:r>
              <a:rPr lang="en-US" sz="2800" b="1" dirty="0">
                <a:solidFill>
                  <a:srgbClr val="FFFFFF"/>
                </a:solidFill>
              </a:rPr>
              <a:t>Business problem: a falling rupee, a single-cause story</a:t>
            </a:r>
            <a:endParaRPr lang="en-US" sz="2800" dirty="0"/>
          </a:p>
        </p:txBody>
      </p:sp>
      <p:sp>
        <p:nvSpPr>
          <p:cNvPr id="3" name="Current presenter"/>
          <p:cNvSpPr txBox="1"/>
          <p:nvPr/>
        </p:nvSpPr>
        <p:spPr>
          <a:xfrm>
            <a:off x="8869680" y="91440"/>
            <a:ext cx="3063240" cy="310896"/>
          </a:xfrm>
          <a:prstGeom prst="rect">
            <a:avLst/>
          </a:prstGeom>
          <a:noFill/>
          <a:ln/>
        </p:spPr>
        <p:txBody>
          <a:bodyPr wrap="square" lIns="0" tIns="0" rIns="0" bIns="0" rtlCol="0" anchor="ctr"/>
          <a:lstStyle/>
          <a:p>
            <a:pPr algn="r" indent="0" marL="0">
              <a:buNone/>
            </a:pPr>
            <a:r>
              <a:rPr lang="en-US" sz="1100" dirty="0">
                <a:solidFill>
                  <a:srgbClr val="5F6B73"/>
                </a:solidFill>
              </a:rPr>
              <a:t>Presenter: </a:t>
            </a:r>
            <a:pPr algn="r" indent="0" marL="0">
              <a:buNone/>
            </a:pPr>
            <a:r>
              <a:rPr lang="en-US" sz="1100" b="1" dirty="0">
                <a:solidFill>
                  <a:srgbClr val="0F2A3A"/>
                </a:solidFill>
              </a:rPr>
              <a:t>Ankit Singh - EMBAA25004</a:t>
            </a:r>
            <a:endParaRPr lang="en-US" sz="1100" dirty="0"/>
          </a:p>
        </p:txBody>
      </p:sp>
      <p:sp>
        <p:nvSpPr>
          <p:cNvPr id="4" name="Presenter photo placeholder"/>
          <p:cNvSpPr/>
          <p:nvPr/>
        </p:nvSpPr>
        <p:spPr>
          <a:xfrm>
            <a:off x="10744200" y="502920"/>
            <a:ext cx="1188720" cy="868680"/>
          </a:xfrm>
          <a:prstGeom prst="rect">
            <a:avLst/>
          </a:prstGeom>
          <a:solidFill>
            <a:schemeClr val="accent2"/>
          </a:solidFill>
          <a:ln w="12700">
            <a:solidFill>
              <a:schemeClr val="accent2"/>
            </a:solidFill>
            <a:prstDash val="solid"/>
          </a:ln>
        </p:spPr>
      </p:sp>
      <p:sp>
        <p:nvSpPr>
          <p:cNvPr id="5" name="Presenter initials"/>
          <p:cNvSpPr txBox="1"/>
          <p:nvPr/>
        </p:nvSpPr>
        <p:spPr>
          <a:xfrm>
            <a:off x="10744200" y="502920"/>
            <a:ext cx="1188720" cy="868680"/>
          </a:xfrm>
          <a:prstGeom prst="rect">
            <a:avLst/>
          </a:prstGeom>
          <a:noFill/>
          <a:ln/>
        </p:spPr>
        <p:txBody>
          <a:bodyPr wrap="square" lIns="0" tIns="0" rIns="0" bIns="0" rtlCol="0" anchor="ctr"/>
          <a:lstStyle/>
          <a:p>
            <a:pPr algn="ctr" indent="0" marL="0">
              <a:buNone/>
            </a:pPr>
            <a:r>
              <a:rPr lang="en-US" sz="2600" b="1" dirty="0">
                <a:solidFill>
                  <a:schemeClr val="bg1"/>
                </a:solidFill>
              </a:rPr>
              <a:t>AS</a:t>
            </a:r>
            <a:endParaRPr lang="en-US" sz="2600" dirty="0"/>
          </a:p>
        </p:txBody>
      </p:sp>
      <p:sp>
        <p:nvSpPr>
          <p:cNvPr id="6" name="Footer rule"/>
          <p:cNvSpPr/>
          <p:nvPr/>
        </p:nvSpPr>
        <p:spPr>
          <a:xfrm>
            <a:off x="274320" y="6272784"/>
            <a:ext cx="10515600" cy="0"/>
          </a:xfrm>
          <a:prstGeom prst="line">
            <a:avLst/>
          </a:prstGeom>
          <a:noFill/>
          <a:ln w="12700">
            <a:solidFill>
              <a:srgbClr val="EEF2F4"/>
            </a:solidFill>
            <a:prstDash val="solid"/>
          </a:ln>
        </p:spPr>
      </p:sp>
      <p:sp>
        <p:nvSpPr>
          <p:cNvPr id="7" name="Team footer"/>
          <p:cNvSpPr txBox="1"/>
          <p:nvPr/>
        </p:nvSpPr>
        <p:spPr>
          <a:xfrm>
            <a:off x="274320" y="6309360"/>
            <a:ext cx="10515600" cy="457200"/>
          </a:xfrm>
          <a:prstGeom prst="rect">
            <a:avLst/>
          </a:prstGeom>
          <a:noFill/>
          <a:ln/>
        </p:spPr>
        <p:txBody>
          <a:bodyPr wrap="square" lIns="0" tIns="0" rIns="0" bIns="0" rtlCol="0" anchor="ctr"/>
          <a:lstStyle/>
          <a:p>
            <a:pPr algn="ctr" indent="0" marL="0">
              <a:buNone/>
            </a:pPr>
            <a:r>
              <a:rPr lang="en-US" sz="850" b="1" u="sng" dirty="0">
                <a:solidFill>
                  <a:srgbClr val="1F5FA8"/>
                </a:solidFill>
                <a:hlinkClick r:id="rId1" invalidUrl="" action="" tgtFrame="" tooltip="Ankit Singh on LinkedIn" history="1" highlightClick="0" endSnd="0">
                  <a:extLst>
                    <a:ext uri="{A12FA001-AC4F-418D-AE19-62706E023703}">
                      <ahyp:hlinkClr xmlns:ahyp="http://schemas.microsoft.com/office/drawing/2018/hyperlinkcolor" val="tx"/>
                    </a:ext>
                  </a:extLst>
                </a:hlinkClick>
              </a:rPr>
              <a:t>Ankit Singh</a:t>
            </a:r>
            <a:pPr algn="ctr" indent="0" marL="0">
              <a:buNone/>
            </a:pPr>
            <a:r>
              <a:rPr lang="en-US" sz="850" dirty="0">
                <a:solidFill>
                  <a:srgbClr val="5F6B73"/>
                </a:solidFill>
              </a:rPr>
              <a:t> - EMBAA25004 - </a:t>
            </a:r>
            <a:pPr algn="ctr" indent="0" marL="0">
              <a:buNone/>
            </a:pPr>
            <a:r>
              <a:rPr lang="en-US" sz="850" u="sng" dirty="0">
                <a:solidFill>
                  <a:srgbClr val="1F5FA8"/>
                </a:solidFill>
                <a:hlinkClick r:id="rId2" invalidUrl="" action="" tgtFrame="" tooltip="" history="1" highlightClick="0" endSnd="0">
                  <a:extLst>
                    <a:ext uri="{A12FA001-AC4F-418D-AE19-62706E023703}">
                      <ahyp:hlinkClr xmlns:ahyp="http://schemas.microsoft.com/office/drawing/2018/hyperlinkcolor" val="tx"/>
                    </a:ext>
                  </a:extLst>
                </a:hlinkClick>
              </a:rPr>
              <a:t>ankit.embaa25004@iimkashipur.ac.in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3" invalidUrl="" action="" tgtFrame="" tooltip="Gopalakrishnan S on LinkedIn" history="1" highlightClick="0" endSnd="0">
                  <a:extLst>
                    <a:ext uri="{A12FA001-AC4F-418D-AE19-62706E023703}">
                      <ahyp:hlinkClr xmlns:ahyp="http://schemas.microsoft.com/office/drawing/2018/hyperlinkcolor" val="tx"/>
                    </a:ext>
                  </a:extLst>
                </a:hlinkClick>
              </a:rPr>
              <a:t>Gopalakrishnan S</a:t>
            </a:r>
            <a:pPr algn="ctr" indent="0" marL="0">
              <a:buNone/>
            </a:pPr>
            <a:r>
              <a:rPr lang="en-US" sz="850" dirty="0">
                <a:solidFill>
                  <a:srgbClr val="5F6B73"/>
                </a:solidFill>
              </a:rPr>
              <a:t> - EMBAA25017 - </a:t>
            </a:r>
            <a:pPr algn="ctr" indent="0" marL="0">
              <a:buNone/>
            </a:pPr>
            <a:r>
              <a:rPr lang="en-US" sz="850" u="sng" dirty="0">
                <a:solidFill>
                  <a:srgbClr val="1F5FA8"/>
                </a:solidFill>
                <a:hlinkClick r:id="rId4" invalidUrl="" action="" tgtFrame="" tooltip="" history="1" highlightClick="0" endSnd="0">
                  <a:extLst>
                    <a:ext uri="{A12FA001-AC4F-418D-AE19-62706E023703}">
                      <ahyp:hlinkClr xmlns:ahyp="http://schemas.microsoft.com/office/drawing/2018/hyperlinkcolor" val="tx"/>
                    </a:ext>
                  </a:extLst>
                </a:hlinkClick>
              </a:rPr>
              <a:t>gopalakrishnan.embaa25017@iimkashipur.ac.in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5" invalidUrl="" action="" tgtFrame="" tooltip="Murugan Perumal on LinkedIn" history="1" highlightClick="0" endSnd="0">
                  <a:extLst>
                    <a:ext uri="{A12FA001-AC4F-418D-AE19-62706E023703}">
                      <ahyp:hlinkClr xmlns:ahyp="http://schemas.microsoft.com/office/drawing/2018/hyperlinkcolor" val="tx"/>
                    </a:ext>
                  </a:extLst>
                </a:hlinkClick>
              </a:rPr>
              <a:t>Murugan Perumal</a:t>
            </a:r>
            <a:pPr algn="ctr" indent="0" marL="0">
              <a:buNone/>
            </a:pPr>
            <a:r>
              <a:rPr lang="en-US" sz="850" dirty="0">
                <a:solidFill>
                  <a:srgbClr val="5F6B73"/>
                </a:solidFill>
              </a:rPr>
              <a:t> - EMBAA25020 - </a:t>
            </a:r>
            <a:pPr algn="ctr" indent="0" marL="0">
              <a:buNone/>
            </a:pPr>
            <a:r>
              <a:rPr lang="en-US" sz="850" u="sng" dirty="0">
                <a:solidFill>
                  <a:srgbClr val="1F5FA8"/>
                </a:solidFill>
                <a:hlinkClick r:id="rId6" invalidUrl="" action="" tgtFrame="" tooltip="" history="1" highlightClick="0" endSnd="0">
                  <a:extLst>
                    <a:ext uri="{A12FA001-AC4F-418D-AE19-62706E023703}">
                      <ahyp:hlinkClr xmlns:ahyp="http://schemas.microsoft.com/office/drawing/2018/hyperlinkcolor" val="tx"/>
                    </a:ext>
                  </a:extLst>
                </a:hlinkClick>
              </a:rPr>
              <a:t>murugan.embaa25020@iimkashipur.ac.in</a:t>
            </a:r>
            <a:pPr algn="ctr" indent="0" marL="0">
              <a:buNone/>
            </a:pPr>
            <a:endParaRPr lang="en-US" sz="850" dirty="0"/>
          </a:p>
          <a:p>
            <a:pPr algn="ctr" indent="0" marL="0">
              <a:buNone/>
            </a:pPr>
            <a:r>
              <a:rPr lang="en-US" sz="850" b="1" u="sng" dirty="0">
                <a:solidFill>
                  <a:srgbClr val="1F5FA8"/>
                </a:solidFill>
                <a:hlinkClick r:id="rId7" invalidUrl="" action="" tgtFrame="" tooltip="Aswin G. on LinkedIn" history="1" highlightClick="0" endSnd="0">
                  <a:extLst>
                    <a:ext uri="{A12FA001-AC4F-418D-AE19-62706E023703}">
                      <ahyp:hlinkClr xmlns:ahyp="http://schemas.microsoft.com/office/drawing/2018/hyperlinkcolor" val="tx"/>
                    </a:ext>
                  </a:extLst>
                </a:hlinkClick>
              </a:rPr>
              <a:t>Aswin G.</a:t>
            </a:r>
            <a:pPr algn="ctr" indent="0" marL="0">
              <a:buNone/>
            </a:pPr>
            <a:r>
              <a:rPr lang="en-US" sz="850" dirty="0">
                <a:solidFill>
                  <a:srgbClr val="5F6B73"/>
                </a:solidFill>
              </a:rPr>
              <a:t> - EMBAA25008 - </a:t>
            </a:r>
            <a:pPr algn="ctr" indent="0" marL="0">
              <a:buNone/>
            </a:pPr>
            <a:r>
              <a:rPr lang="en-US" sz="850" u="sng" dirty="0">
                <a:solidFill>
                  <a:srgbClr val="1F5FA8"/>
                </a:solidFill>
                <a:hlinkClick r:id="rId8" invalidUrl="" action="" tgtFrame="" tooltip="" history="1" highlightClick="0" endSnd="0">
                  <a:extLst>
                    <a:ext uri="{A12FA001-AC4F-418D-AE19-62706E023703}">
                      <ahyp:hlinkClr xmlns:ahyp="http://schemas.microsoft.com/office/drawing/2018/hyperlinkcolor" val="tx"/>
                    </a:ext>
                  </a:extLst>
                </a:hlinkClick>
              </a:rPr>
              <a:t>aswin.embaa25008@iimkashipur.ac.in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9" invalidUrl="" action="" tgtFrame="" tooltip="Atul Kumar Singh on LinkedIn" history="1" highlightClick="0" endSnd="0">
                  <a:extLst>
                    <a:ext uri="{A12FA001-AC4F-418D-AE19-62706E023703}">
                      <ahyp:hlinkClr xmlns:ahyp="http://schemas.microsoft.com/office/drawing/2018/hyperlinkcolor" val="tx"/>
                    </a:ext>
                  </a:extLst>
                </a:hlinkClick>
              </a:rPr>
              <a:t>Atul Kumar Singh</a:t>
            </a:r>
            <a:pPr algn="ctr" indent="0" marL="0">
              <a:buNone/>
            </a:pPr>
            <a:r>
              <a:rPr lang="en-US" sz="850" dirty="0">
                <a:solidFill>
                  <a:srgbClr val="5F6B73"/>
                </a:solidFill>
              </a:rPr>
              <a:t> - EMBAA25009 - </a:t>
            </a:r>
            <a:pPr algn="ctr" indent="0" marL="0">
              <a:buNone/>
            </a:pPr>
            <a:r>
              <a:rPr lang="en-US" sz="850" u="sng" dirty="0">
                <a:solidFill>
                  <a:srgbClr val="1F5FA8"/>
                </a:solidFill>
                <a:hlinkClick r:id="rId10" invalidUrl="" action="" tgtFrame="" tooltip="" history="1" highlightClick="0" endSnd="0">
                  <a:extLst>
                    <a:ext uri="{A12FA001-AC4F-418D-AE19-62706E023703}">
                      <ahyp:hlinkClr xmlns:ahyp="http://schemas.microsoft.com/office/drawing/2018/hyperlinkcolor" val="tx"/>
                    </a:ext>
                  </a:extLst>
                </a:hlinkClick>
              </a:rPr>
              <a:t>atul.embaa25009@iimkashipur.ac.in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11" invalidUrl="" action="" tgtFrame="" tooltip="Devanshu Priyam on LinkedIn" history="1" highlightClick="0" endSnd="0">
                  <a:extLst>
                    <a:ext uri="{A12FA001-AC4F-418D-AE19-62706E023703}">
                      <ahyp:hlinkClr xmlns:ahyp="http://schemas.microsoft.com/office/drawing/2018/hyperlinkcolor" val="tx"/>
                    </a:ext>
                  </a:extLst>
                </a:hlinkClick>
              </a:rPr>
              <a:t>Devanshu Priyam</a:t>
            </a:r>
            <a:pPr algn="ctr" indent="0" marL="0">
              <a:buNone/>
            </a:pPr>
            <a:r>
              <a:rPr lang="en-US" sz="850" dirty="0">
                <a:solidFill>
                  <a:srgbClr val="5F6B73"/>
                </a:solidFill>
              </a:rPr>
              <a:t> - EMBAA25014 - </a:t>
            </a:r>
            <a:pPr algn="ctr" indent="0" marL="0">
              <a:buNone/>
            </a:pPr>
            <a:r>
              <a:rPr lang="en-US" sz="850" u="sng" dirty="0">
                <a:solidFill>
                  <a:srgbClr val="1F5FA8"/>
                </a:solidFill>
                <a:hlinkClick r:id="rId12" invalidUrl="" action="" tgtFrame="" tooltip="" history="1" highlightClick="0" endSnd="0">
                  <a:extLst>
                    <a:ext uri="{A12FA001-AC4F-418D-AE19-62706E023703}">
                      <ahyp:hlinkClr xmlns:ahyp="http://schemas.microsoft.com/office/drawing/2018/hyperlinkcolor" val="tx"/>
                    </a:ext>
                  </a:extLst>
                </a:hlinkClick>
              </a:rPr>
              <a:t>devanshu.embaa25014@iimkashipur.ac.in</a:t>
            </a:r>
            <a:endParaRPr lang="en-US" sz="850" dirty="0"/>
          </a:p>
        </p:txBody>
      </p:sp>
      <p:pic>
        <p:nvPicPr>
          <p:cNvPr id="9" name="Image 0" descr="USD/INR monthly average since 2010 with shock periods shaded">    </p:cNvPr>
          <p:cNvPicPr>
            <a:picLocks noChangeAspect="1"/>
          </p:cNvPicPr>
          <p:nvPr/>
        </p:nvPicPr>
        <p:blipFill>
          <a:blip r:embed="rId13"/>
          <a:stretch>
            <a:fillRect/>
          </a:stretch>
        </p:blipFill>
        <p:spPr>
          <a:xfrm>
            <a:off x="411480" y="1600200"/>
            <a:ext cx="6949440" cy="3474720"/>
          </a:xfrm>
          <a:prstGeom prst="rect">
            <a:avLst/>
          </a:prstGeom>
        </p:spPr>
      </p:pic>
      <p:sp>
        <p:nvSpPr>
          <p:cNvPr id="10" name="Text 6"/>
          <p:cNvSpPr txBox="1"/>
          <p:nvPr/>
        </p:nvSpPr>
        <p:spPr>
          <a:xfrm>
            <a:off x="411480" y="5120640"/>
            <a:ext cx="6949440" cy="274320"/>
          </a:xfrm>
          <a:prstGeom prst="rect">
            <a:avLst/>
          </a:prstGeom>
          <a:noFill/>
          <a:ln/>
        </p:spPr>
        <p:txBody>
          <a:bodyPr wrap="square" lIns="0" tIns="0" rIns="0" bIns="0" rtlCol="0" anchor="t"/>
          <a:lstStyle/>
          <a:p>
            <a:pPr indent="0" marL="0">
              <a:buNone/>
            </a:pPr>
            <a:r>
              <a:rPr lang="en-US" sz="1000" i="1" dirty="0">
                <a:solidFill>
                  <a:schemeClr val="accent6"/>
                </a:solidFill>
              </a:rPr>
              <a:t>Source: Federal Reserve G.5 via FRED (EXINUS); shaded = shock windows</a:t>
            </a:r>
            <a:endParaRPr lang="en-US" sz="1000" dirty="0"/>
          </a:p>
        </p:txBody>
      </p:sp>
      <p:sp>
        <p:nvSpPr>
          <p:cNvPr id="11" name="Text 7"/>
          <p:cNvSpPr txBox="1"/>
          <p:nvPr/>
        </p:nvSpPr>
        <p:spPr>
          <a:xfrm>
            <a:off x="7680960" y="1691640"/>
            <a:ext cx="4114800" cy="42062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USD/INR rose from ₹45 (2010) to ₹95.51 (Sep 2026)</a:t>
            </a:r>
            <a:endParaRPr lang="en-US" sz="1500" dirty="0"/>
          </a:p>
          <a:p>
            <a:pPr marL="342900" indent="-342900">
              <a:spcAft>
                <a:spcPts val="800"/>
              </a:spcAft>
              <a:buSzPct val="100000"/>
              <a:buChar char="•"/>
            </a:pPr>
            <a:r>
              <a:rPr lang="en-US" sz="1500" dirty="0">
                <a:solidFill>
                  <a:schemeClr val="tx1"/>
                </a:solidFill>
              </a:rPr>
              <a:t>The rupee weakened in 14 of 15 calendar years, 2011–2025</a:t>
            </a:r>
            <a:endParaRPr lang="en-US" sz="1500" dirty="0"/>
          </a:p>
          <a:p>
            <a:pPr marL="342900" indent="-342900">
              <a:spcAft>
                <a:spcPts val="800"/>
              </a:spcAft>
              <a:buSzPct val="100000"/>
              <a:buChar char="•"/>
            </a:pPr>
            <a:r>
              <a:rPr lang="en-US" sz="1500" dirty="0">
                <a:solidFill>
                  <a:schemeClr val="tx1"/>
                </a:solidFill>
              </a:rPr>
              <a:t>Every move hits import bills, export margins, foreign-debt servicing and imported inflation</a:t>
            </a:r>
            <a:endParaRPr lang="en-US" sz="1500" dirty="0"/>
          </a:p>
          <a:p>
            <a:pPr marL="342900" indent="-342900">
              <a:spcAft>
                <a:spcPts val="800"/>
              </a:spcAft>
              <a:buSzPct val="100000"/>
              <a:buChar char="•"/>
            </a:pPr>
            <a:r>
              <a:rPr lang="en-US" sz="1500" dirty="0">
                <a:solidFill>
                  <a:schemeClr val="tx1"/>
                </a:solidFill>
              </a:rPr>
              <a:t>Popular story: “oil went up, so the rupee fell”</a:t>
            </a:r>
            <a:endParaRPr lang="en-US" sz="1500" dirty="0"/>
          </a:p>
          <a:p>
            <a:pPr marL="342900" indent="-342900">
              <a:spcAft>
                <a:spcPts val="800"/>
              </a:spcAft>
              <a:buSzPct val="100000"/>
              <a:buChar char="•"/>
            </a:pPr>
            <a:r>
              <a:rPr lang="en-US" sz="1500" dirty="0">
                <a:solidFill>
                  <a:schemeClr val="tx1"/>
                </a:solidFill>
              </a:rPr>
              <a:t>Need: a ranked, evidence-based view of the drivers and a tool to stress-test exposure</a:t>
            </a:r>
            <a:endParaRPr lang="en-US" sz="1500" dirty="0"/>
          </a:p>
        </p:txBody>
      </p:sp>
      <p:sp>
        <p:nvSpPr>
          <p:cNvPr id="25" name="Slide Number Placeholder 0"/>
          <p:cNvSpPr>
            <a:spLocks noGrp="1"/>
          </p:cNvSpPr>
          <p:nvPr>
            <p:ph type="sldNum" sz="quarter" idx="4294967295"/>
          </p:nvPr>
        </p:nvSpPr>
        <p:spPr>
          <a:xfrm>
            <a:off x="10927080" y="6382512"/>
            <a:ext cx="420624" cy="329184"/>
          </a:xfrm>
          <a:prstGeom prst="rect">
            <a:avLst/>
          </a:prstGeom>
          <a:extLst>
            <a:ext uri="{C572A759-6A51-4108-AA02-DFA0A04FC94B}">
              <ma14:wrappingTextBoxFlag xmlns:ma14="http://schemas.microsoft.com/office/mac/drawingml/2011/main" val="0"/>
            </a:ext>
          </a:extLst>
        </p:spPr>
        <p:txBody>
          <a:bodyPr/>
          <a:lstStyle>
            <a:lvl1pPr>
              <a:defRPr sz="1200">
                <a:solidFill>
                  <a:srgbClr val="0F2A3A"/>
                </a:solidFill>
                <a:latin typeface="Calibri"/>
                <a:ea typeface="Calibri"/>
                <a:cs typeface="Calibri"/>
              </a:defRPr>
            </a:lvl1pPr>
          </a:lstStyle>
          <a:p>
            <a:pPr algn="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5"/>
          <p:cNvSpPr/>
          <p:nvPr>
            <p:ph idx="105" type="title" hasCustomPrompt="1"/>
          </p:nvPr>
        </p:nvSpPr>
        <p:spPr>
          <a:xfrm>
            <a:off x="365760" y="502920"/>
            <a:ext cx="10058400" cy="868680"/>
          </a:xfrm>
          <a:prstGeom prst="rect">
            <a:avLst/>
          </a:prstGeom>
          <a:noFill/>
          <a:ln/>
        </p:spPr>
        <p:txBody>
          <a:bodyPr wrap="square" lIns="0" tIns="0" rIns="0" bIns="0" rtlCol="0" anchor="ctr"/>
          <a:lstStyle/>
          <a:p>
            <a:pPr algn="l" indent="0" marL="0">
              <a:buNone/>
            </a:pPr>
            <a:r>
              <a:rPr lang="en-US" sz="2800" b="1" dirty="0">
                <a:solidFill>
                  <a:srgbClr val="FFFFFF"/>
                </a:solidFill>
              </a:rPr>
              <a:t>Six research questions span every analytics block</a:t>
            </a:r>
            <a:endParaRPr lang="en-US" sz="2800" dirty="0"/>
          </a:p>
        </p:txBody>
      </p:sp>
      <p:sp>
        <p:nvSpPr>
          <p:cNvPr id="3" name="Current presenter"/>
          <p:cNvSpPr txBox="1"/>
          <p:nvPr/>
        </p:nvSpPr>
        <p:spPr>
          <a:xfrm>
            <a:off x="8869680" y="91440"/>
            <a:ext cx="3063240" cy="310896"/>
          </a:xfrm>
          <a:prstGeom prst="rect">
            <a:avLst/>
          </a:prstGeom>
          <a:noFill/>
          <a:ln/>
        </p:spPr>
        <p:txBody>
          <a:bodyPr wrap="square" lIns="0" tIns="0" rIns="0" bIns="0" rtlCol="0" anchor="ctr"/>
          <a:lstStyle/>
          <a:p>
            <a:pPr algn="r" indent="0" marL="0">
              <a:buNone/>
            </a:pPr>
            <a:r>
              <a:rPr lang="en-US" sz="1100" dirty="0">
                <a:solidFill>
                  <a:srgbClr val="5F6B73"/>
                </a:solidFill>
              </a:rPr>
              <a:t>Presenter: </a:t>
            </a:r>
            <a:pPr algn="r" indent="0" marL="0">
              <a:buNone/>
            </a:pPr>
            <a:r>
              <a:rPr lang="en-US" sz="1100" b="1" dirty="0">
                <a:solidFill>
                  <a:srgbClr val="0F2A3A"/>
                </a:solidFill>
              </a:rPr>
              <a:t>Ankit Singh - EMBAA25004</a:t>
            </a:r>
            <a:endParaRPr lang="en-US" sz="1100" dirty="0"/>
          </a:p>
        </p:txBody>
      </p:sp>
      <p:sp>
        <p:nvSpPr>
          <p:cNvPr id="4" name="Presenter photo placeholder"/>
          <p:cNvSpPr/>
          <p:nvPr/>
        </p:nvSpPr>
        <p:spPr>
          <a:xfrm>
            <a:off x="10744200" y="502920"/>
            <a:ext cx="1188720" cy="868680"/>
          </a:xfrm>
          <a:prstGeom prst="rect">
            <a:avLst/>
          </a:prstGeom>
          <a:solidFill>
            <a:schemeClr val="accent2"/>
          </a:solidFill>
          <a:ln w="12700">
            <a:solidFill>
              <a:schemeClr val="accent2"/>
            </a:solidFill>
            <a:prstDash val="solid"/>
          </a:ln>
        </p:spPr>
      </p:sp>
      <p:sp>
        <p:nvSpPr>
          <p:cNvPr id="5" name="Presenter initials"/>
          <p:cNvSpPr txBox="1"/>
          <p:nvPr/>
        </p:nvSpPr>
        <p:spPr>
          <a:xfrm>
            <a:off x="10744200" y="502920"/>
            <a:ext cx="1188720" cy="868680"/>
          </a:xfrm>
          <a:prstGeom prst="rect">
            <a:avLst/>
          </a:prstGeom>
          <a:noFill/>
          <a:ln/>
        </p:spPr>
        <p:txBody>
          <a:bodyPr wrap="square" lIns="0" tIns="0" rIns="0" bIns="0" rtlCol="0" anchor="ctr"/>
          <a:lstStyle/>
          <a:p>
            <a:pPr algn="ctr" indent="0" marL="0">
              <a:buNone/>
            </a:pPr>
            <a:r>
              <a:rPr lang="en-US" sz="2600" b="1" dirty="0">
                <a:solidFill>
                  <a:schemeClr val="bg1"/>
                </a:solidFill>
              </a:rPr>
              <a:t>AS</a:t>
            </a:r>
            <a:endParaRPr lang="en-US" sz="2600" dirty="0"/>
          </a:p>
        </p:txBody>
      </p:sp>
      <p:sp>
        <p:nvSpPr>
          <p:cNvPr id="6" name="Footer rule"/>
          <p:cNvSpPr/>
          <p:nvPr/>
        </p:nvSpPr>
        <p:spPr>
          <a:xfrm>
            <a:off x="274320" y="6272784"/>
            <a:ext cx="10515600" cy="0"/>
          </a:xfrm>
          <a:prstGeom prst="line">
            <a:avLst/>
          </a:prstGeom>
          <a:noFill/>
          <a:ln w="12700">
            <a:solidFill>
              <a:srgbClr val="EEF2F4"/>
            </a:solidFill>
            <a:prstDash val="solid"/>
          </a:ln>
        </p:spPr>
      </p:sp>
      <p:sp>
        <p:nvSpPr>
          <p:cNvPr id="7" name="Team footer"/>
          <p:cNvSpPr txBox="1"/>
          <p:nvPr/>
        </p:nvSpPr>
        <p:spPr>
          <a:xfrm>
            <a:off x="274320" y="6309360"/>
            <a:ext cx="10515600" cy="457200"/>
          </a:xfrm>
          <a:prstGeom prst="rect">
            <a:avLst/>
          </a:prstGeom>
          <a:noFill/>
          <a:ln/>
        </p:spPr>
        <p:txBody>
          <a:bodyPr wrap="square" lIns="0" tIns="0" rIns="0" bIns="0" rtlCol="0" anchor="ctr"/>
          <a:lstStyle/>
          <a:p>
            <a:pPr algn="ctr" indent="0" marL="0">
              <a:buNone/>
            </a:pPr>
            <a:r>
              <a:rPr lang="en-US" sz="850" b="1" u="sng" dirty="0">
                <a:solidFill>
                  <a:srgbClr val="1F5FA8"/>
                </a:solidFill>
                <a:hlinkClick r:id="rId1" invalidUrl="" action="" tgtFrame="" tooltip="Ankit Singh on LinkedIn" history="1" highlightClick="0" endSnd="0">
                  <a:extLst>
                    <a:ext uri="{A12FA001-AC4F-418D-AE19-62706E023703}">
                      <ahyp:hlinkClr xmlns:ahyp="http://schemas.microsoft.com/office/drawing/2018/hyperlinkcolor" val="tx"/>
                    </a:ext>
                  </a:extLst>
                </a:hlinkClick>
              </a:rPr>
              <a:t>Ankit Singh</a:t>
            </a:r>
            <a:pPr algn="ctr" indent="0" marL="0">
              <a:buNone/>
            </a:pPr>
            <a:r>
              <a:rPr lang="en-US" sz="850" dirty="0">
                <a:solidFill>
                  <a:srgbClr val="5F6B73"/>
                </a:solidFill>
              </a:rPr>
              <a:t> - EMBAA25004 - </a:t>
            </a:r>
            <a:pPr algn="ctr" indent="0" marL="0">
              <a:buNone/>
            </a:pPr>
            <a:r>
              <a:rPr lang="en-US" sz="850" u="sng" dirty="0">
                <a:solidFill>
                  <a:srgbClr val="1F5FA8"/>
                </a:solidFill>
                <a:hlinkClick r:id="rId2" invalidUrl="" action="" tgtFrame="" tooltip="" history="1" highlightClick="0" endSnd="0">
                  <a:extLst>
                    <a:ext uri="{A12FA001-AC4F-418D-AE19-62706E023703}">
                      <ahyp:hlinkClr xmlns:ahyp="http://schemas.microsoft.com/office/drawing/2018/hyperlinkcolor" val="tx"/>
                    </a:ext>
                  </a:extLst>
                </a:hlinkClick>
              </a:rPr>
              <a:t>ankit.embaa25004@iimkashipur.ac.in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3" invalidUrl="" action="" tgtFrame="" tooltip="Gopalakrishnan S on LinkedIn" history="1" highlightClick="0" endSnd="0">
                  <a:extLst>
                    <a:ext uri="{A12FA001-AC4F-418D-AE19-62706E023703}">
                      <ahyp:hlinkClr xmlns:ahyp="http://schemas.microsoft.com/office/drawing/2018/hyperlinkcolor" val="tx"/>
                    </a:ext>
                  </a:extLst>
                </a:hlinkClick>
              </a:rPr>
              <a:t>Gopalakrishnan S</a:t>
            </a:r>
            <a:pPr algn="ctr" indent="0" marL="0">
              <a:buNone/>
            </a:pPr>
            <a:r>
              <a:rPr lang="en-US" sz="850" dirty="0">
                <a:solidFill>
                  <a:srgbClr val="5F6B73"/>
                </a:solidFill>
              </a:rPr>
              <a:t> - EMBAA25017 - </a:t>
            </a:r>
            <a:pPr algn="ctr" indent="0" marL="0">
              <a:buNone/>
            </a:pPr>
            <a:r>
              <a:rPr lang="en-US" sz="850" u="sng" dirty="0">
                <a:solidFill>
                  <a:srgbClr val="1F5FA8"/>
                </a:solidFill>
                <a:hlinkClick r:id="rId4" invalidUrl="" action="" tgtFrame="" tooltip="" history="1" highlightClick="0" endSnd="0">
                  <a:extLst>
                    <a:ext uri="{A12FA001-AC4F-418D-AE19-62706E023703}">
                      <ahyp:hlinkClr xmlns:ahyp="http://schemas.microsoft.com/office/drawing/2018/hyperlinkcolor" val="tx"/>
                    </a:ext>
                  </a:extLst>
                </a:hlinkClick>
              </a:rPr>
              <a:t>gopalakrishnan.embaa25017@iimkashipur.ac.in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5" invalidUrl="" action="" tgtFrame="" tooltip="Murugan Perumal on LinkedIn" history="1" highlightClick="0" endSnd="0">
                  <a:extLst>
                    <a:ext uri="{A12FA001-AC4F-418D-AE19-62706E023703}">
                      <ahyp:hlinkClr xmlns:ahyp="http://schemas.microsoft.com/office/drawing/2018/hyperlinkcolor" val="tx"/>
                    </a:ext>
                  </a:extLst>
                </a:hlinkClick>
              </a:rPr>
              <a:t>Murugan Perumal</a:t>
            </a:r>
            <a:pPr algn="ctr" indent="0" marL="0">
              <a:buNone/>
            </a:pPr>
            <a:r>
              <a:rPr lang="en-US" sz="850" dirty="0">
                <a:solidFill>
                  <a:srgbClr val="5F6B73"/>
                </a:solidFill>
              </a:rPr>
              <a:t> - EMBAA25020 - </a:t>
            </a:r>
            <a:pPr algn="ctr" indent="0" marL="0">
              <a:buNone/>
            </a:pPr>
            <a:r>
              <a:rPr lang="en-US" sz="850" u="sng" dirty="0">
                <a:solidFill>
                  <a:srgbClr val="1F5FA8"/>
                </a:solidFill>
                <a:hlinkClick r:id="rId6" invalidUrl="" action="" tgtFrame="" tooltip="" history="1" highlightClick="0" endSnd="0">
                  <a:extLst>
                    <a:ext uri="{A12FA001-AC4F-418D-AE19-62706E023703}">
                      <ahyp:hlinkClr xmlns:ahyp="http://schemas.microsoft.com/office/drawing/2018/hyperlinkcolor" val="tx"/>
                    </a:ext>
                  </a:extLst>
                </a:hlinkClick>
              </a:rPr>
              <a:t>murugan.embaa25020@iimkashipur.ac.in</a:t>
            </a:r>
            <a:pPr algn="ctr" indent="0" marL="0">
              <a:buNone/>
            </a:pPr>
            <a:endParaRPr lang="en-US" sz="850" dirty="0"/>
          </a:p>
          <a:p>
            <a:pPr algn="ctr" indent="0" marL="0">
              <a:buNone/>
            </a:pPr>
            <a:r>
              <a:rPr lang="en-US" sz="850" b="1" u="sng" dirty="0">
                <a:solidFill>
                  <a:srgbClr val="1F5FA8"/>
                </a:solidFill>
                <a:hlinkClick r:id="rId7" invalidUrl="" action="" tgtFrame="" tooltip="Aswin G. on LinkedIn" history="1" highlightClick="0" endSnd="0">
                  <a:extLst>
                    <a:ext uri="{A12FA001-AC4F-418D-AE19-62706E023703}">
                      <ahyp:hlinkClr xmlns:ahyp="http://schemas.microsoft.com/office/drawing/2018/hyperlinkcolor" val="tx"/>
                    </a:ext>
                  </a:extLst>
                </a:hlinkClick>
              </a:rPr>
              <a:t>Aswin G.</a:t>
            </a:r>
            <a:pPr algn="ctr" indent="0" marL="0">
              <a:buNone/>
            </a:pPr>
            <a:r>
              <a:rPr lang="en-US" sz="850" dirty="0">
                <a:solidFill>
                  <a:srgbClr val="5F6B73"/>
                </a:solidFill>
              </a:rPr>
              <a:t> - EMBAA25008 - </a:t>
            </a:r>
            <a:pPr algn="ctr" indent="0" marL="0">
              <a:buNone/>
            </a:pPr>
            <a:r>
              <a:rPr lang="en-US" sz="850" u="sng" dirty="0">
                <a:solidFill>
                  <a:srgbClr val="1F5FA8"/>
                </a:solidFill>
                <a:hlinkClick r:id="rId8" invalidUrl="" action="" tgtFrame="" tooltip="" history="1" highlightClick="0" endSnd="0">
                  <a:extLst>
                    <a:ext uri="{A12FA001-AC4F-418D-AE19-62706E023703}">
                      <ahyp:hlinkClr xmlns:ahyp="http://schemas.microsoft.com/office/drawing/2018/hyperlinkcolor" val="tx"/>
                    </a:ext>
                  </a:extLst>
                </a:hlinkClick>
              </a:rPr>
              <a:t>aswin.embaa25008@iimkashipur.ac.in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9" invalidUrl="" action="" tgtFrame="" tooltip="Atul Kumar Singh on LinkedIn" history="1" highlightClick="0" endSnd="0">
                  <a:extLst>
                    <a:ext uri="{A12FA001-AC4F-418D-AE19-62706E023703}">
                      <ahyp:hlinkClr xmlns:ahyp="http://schemas.microsoft.com/office/drawing/2018/hyperlinkcolor" val="tx"/>
                    </a:ext>
                  </a:extLst>
                </a:hlinkClick>
              </a:rPr>
              <a:t>Atul Kumar Singh</a:t>
            </a:r>
            <a:pPr algn="ctr" indent="0" marL="0">
              <a:buNone/>
            </a:pPr>
            <a:r>
              <a:rPr lang="en-US" sz="850" dirty="0">
                <a:solidFill>
                  <a:srgbClr val="5F6B73"/>
                </a:solidFill>
              </a:rPr>
              <a:t> - EMBAA25009 - </a:t>
            </a:r>
            <a:pPr algn="ctr" indent="0" marL="0">
              <a:buNone/>
            </a:pPr>
            <a:r>
              <a:rPr lang="en-US" sz="850" u="sng" dirty="0">
                <a:solidFill>
                  <a:srgbClr val="1F5FA8"/>
                </a:solidFill>
                <a:hlinkClick r:id="rId10" invalidUrl="" action="" tgtFrame="" tooltip="" history="1" highlightClick="0" endSnd="0">
                  <a:extLst>
                    <a:ext uri="{A12FA001-AC4F-418D-AE19-62706E023703}">
                      <ahyp:hlinkClr xmlns:ahyp="http://schemas.microsoft.com/office/drawing/2018/hyperlinkcolor" val="tx"/>
                    </a:ext>
                  </a:extLst>
                </a:hlinkClick>
              </a:rPr>
              <a:t>atul.embaa25009@iimkashipur.ac.in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11" invalidUrl="" action="" tgtFrame="" tooltip="Devanshu Priyam on LinkedIn" history="1" highlightClick="0" endSnd="0">
                  <a:extLst>
                    <a:ext uri="{A12FA001-AC4F-418D-AE19-62706E023703}">
                      <ahyp:hlinkClr xmlns:ahyp="http://schemas.microsoft.com/office/drawing/2018/hyperlinkcolor" val="tx"/>
                    </a:ext>
                  </a:extLst>
                </a:hlinkClick>
              </a:rPr>
              <a:t>Devanshu Priyam</a:t>
            </a:r>
            <a:pPr algn="ctr" indent="0" marL="0">
              <a:buNone/>
            </a:pPr>
            <a:r>
              <a:rPr lang="en-US" sz="850" dirty="0">
                <a:solidFill>
                  <a:srgbClr val="5F6B73"/>
                </a:solidFill>
              </a:rPr>
              <a:t> - EMBAA25014 - </a:t>
            </a:r>
            <a:pPr algn="ctr" indent="0" marL="0">
              <a:buNone/>
            </a:pPr>
            <a:r>
              <a:rPr lang="en-US" sz="850" u="sng" dirty="0">
                <a:solidFill>
                  <a:srgbClr val="1F5FA8"/>
                </a:solidFill>
                <a:hlinkClick r:id="rId12" invalidUrl="" action="" tgtFrame="" tooltip="" history="1" highlightClick="0" endSnd="0">
                  <a:extLst>
                    <a:ext uri="{A12FA001-AC4F-418D-AE19-62706E023703}">
                      <ahyp:hlinkClr xmlns:ahyp="http://schemas.microsoft.com/office/drawing/2018/hyperlinkcolor" val="tx"/>
                    </a:ext>
                  </a:extLst>
                </a:hlinkClick>
              </a:rPr>
              <a:t>devanshu.embaa25014@iimkashipur.ac.in</a:t>
            </a:r>
            <a:endParaRPr lang="en-US" sz="8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47120" cy="914400"/>
        </p:xfrm>
        <a:graphic>
          <a:graphicData uri="http://schemas.openxmlformats.org/drawingml/2006/table">
            <a:tbl>
              <a:tblPr/>
              <a:tblGrid>
                <a:gridCol w="731520"/>
                <a:gridCol w="4480560"/>
                <a:gridCol w="4663440"/>
                <a:gridCol w="1371600"/>
              </a:tblGrid>
              <a:tr h="502920">
                <a:tc>
                  <a:txBody>
                    <a:bodyPr/>
                    <a:lstStyle/>
                    <a:p>
                      <a:pPr indent="0" marL="0">
                        <a:buNone/>
                      </a:pPr>
                      <a:r>
                        <a:rPr lang="en-US" sz="1250" b="1" dirty="0">
                          <a:solidFill>
                            <a:srgbClr val="FFFFFF"/>
                          </a:solidFill>
                        </a:rPr>
                        <a:t>RQ</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0F2A3A"/>
                    </a:solidFill>
                  </a:tcPr>
                </a:tc>
                <a:tc>
                  <a:txBody>
                    <a:bodyPr/>
                    <a:lstStyle/>
                    <a:p>
                      <a:pPr indent="0" marL="0">
                        <a:buNone/>
                      </a:pPr>
                      <a:r>
                        <a:rPr lang="en-US" sz="1250" b="1" dirty="0">
                          <a:solidFill>
                            <a:srgbClr val="FFFFFF"/>
                          </a:solidFill>
                        </a:rPr>
                        <a:t>Research question</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0F2A3A"/>
                    </a:solidFill>
                  </a:tcPr>
                </a:tc>
                <a:tc>
                  <a:txBody>
                    <a:bodyPr/>
                    <a:lstStyle/>
                    <a:p>
                      <a:pPr indent="0" marL="0">
                        <a:buNone/>
                      </a:pPr>
                      <a:r>
                        <a:rPr lang="en-US" sz="1250" b="1" dirty="0">
                          <a:solidFill>
                            <a:srgbClr val="FFFFFF"/>
                          </a:solidFill>
                        </a:rPr>
                        <a:t>Technique</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0F2A3A"/>
                    </a:solidFill>
                  </a:tcPr>
                </a:tc>
                <a:tc>
                  <a:txBody>
                    <a:bodyPr/>
                    <a:lstStyle/>
                    <a:p>
                      <a:pPr indent="0" marL="0">
                        <a:buNone/>
                      </a:pPr>
                      <a:r>
                        <a:rPr lang="en-US" sz="1250" b="1" dirty="0">
                          <a:solidFill>
                            <a:srgbClr val="FFFFFF"/>
                          </a:solidFill>
                        </a:rPr>
                        <a:t>Sessions</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0F2A3A"/>
                    </a:solidFill>
                  </a:tcPr>
                </a:tc>
              </a:tr>
              <a:tr h="502920">
                <a:tc>
                  <a:txBody>
                    <a:bodyPr/>
                    <a:lstStyle/>
                    <a:p>
                      <a:pPr indent="0" marL="0">
                        <a:buNone/>
                      </a:pPr>
                      <a:r>
                        <a:rPr lang="en-US" sz="1400" dirty="0">
                          <a:solidFill>
                            <a:srgbClr val="1B1F23"/>
                          </a:solidFill>
                        </a:rPr>
                        <a:t>RQ1</a:t>
                      </a:r>
                      <a:endParaRPr lang="en-US" sz="140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rPr>
                        <a:t>Which factors move together with USD/INR?</a:t>
                      </a:r>
                      <a:endParaRPr lang="en-US" sz="140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rPr>
                        <a:t>Descriptive stats, correlation, t-tests, ANOVA</a:t>
                      </a:r>
                      <a:endParaRPr lang="en-US" sz="140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rPr>
                        <a:t>6–9</a:t>
                      </a:r>
                      <a:endParaRPr lang="en-US" sz="140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1B1F23"/>
                          </a:solidFill>
                        </a:rPr>
                        <a:t>RQ2</a:t>
                      </a:r>
                      <a:endParaRPr lang="en-US" sz="140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400" dirty="0">
                          <a:solidFill>
                            <a:srgbClr val="1B1F23"/>
                          </a:solidFill>
                        </a:rPr>
                        <a:t>Which factors matter most, holding others constant?</a:t>
                      </a:r>
                      <a:endParaRPr lang="en-US" sz="140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400" dirty="0">
                          <a:solidFill>
                            <a:srgbClr val="1B1F23"/>
                          </a:solidFill>
                        </a:rPr>
                        <a:t>Multiple regression, standardised scorecard</a:t>
                      </a:r>
                      <a:endParaRPr lang="en-US" sz="140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400" dirty="0">
                          <a:solidFill>
                            <a:srgbClr val="1B1F23"/>
                          </a:solidFill>
                        </a:rPr>
                        <a:t>10–11</a:t>
                      </a:r>
                      <a:endParaRPr lang="en-US" sz="140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r>
              <a:tr h="502920">
                <a:tc>
                  <a:txBody>
                    <a:bodyPr/>
                    <a:lstStyle/>
                    <a:p>
                      <a:pPr indent="0" marL="0">
                        <a:buNone/>
                      </a:pPr>
                      <a:r>
                        <a:rPr lang="en-US" sz="1400" dirty="0">
                          <a:solidFill>
                            <a:srgbClr val="1B1F23"/>
                          </a:solidFill>
                        </a:rPr>
                        <a:t>RQ3</a:t>
                      </a:r>
                      <a:endParaRPr lang="en-US" sz="140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rPr>
                        <a:t>Is oil really the villain?</a:t>
                      </a:r>
                      <a:endParaRPr lang="en-US" sz="140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rPr>
                        <a:t>Nested Models A–D, lagged Model F, out-of-sample test</a:t>
                      </a:r>
                      <a:endParaRPr lang="en-US" sz="140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rPr>
                        <a:t>10–11</a:t>
                      </a:r>
                      <a:endParaRPr lang="en-US" sz="140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1B1F23"/>
                          </a:solidFill>
                        </a:rPr>
                        <a:t>RQ4</a:t>
                      </a:r>
                      <a:endParaRPr lang="en-US" sz="140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400" dirty="0">
                          <a:solidFill>
                            <a:srgbClr val="1B1F23"/>
                          </a:solidFill>
                        </a:rPr>
                        <a:t>Can we flag high-depreciation months?</a:t>
                      </a:r>
                      <a:endParaRPr lang="en-US" sz="140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400" dirty="0">
                          <a:solidFill>
                            <a:srgbClr val="1B1F23"/>
                          </a:solidFill>
                        </a:rPr>
                        <a:t>Logistic, LDA, decision tree, SVM, confusion matrix</a:t>
                      </a:r>
                      <a:endParaRPr lang="en-US" sz="140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400" dirty="0">
                          <a:solidFill>
                            <a:srgbClr val="1B1F23"/>
                          </a:solidFill>
                        </a:rPr>
                        <a:t>12–14</a:t>
                      </a:r>
                      <a:endParaRPr lang="en-US" sz="140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r>
              <a:tr h="502920">
                <a:tc>
                  <a:txBody>
                    <a:bodyPr/>
                    <a:lstStyle/>
                    <a:p>
                      <a:pPr indent="0" marL="0">
                        <a:buNone/>
                      </a:pPr>
                      <a:r>
                        <a:rPr lang="en-US" sz="1400" dirty="0">
                          <a:solidFill>
                            <a:srgbClr val="1B1F23"/>
                          </a:solidFill>
                        </a:rPr>
                        <a:t>RQ5</a:t>
                      </a:r>
                      <a:endParaRPr lang="en-US" sz="140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rPr>
                        <a:t>What patterns appear in shocks and regimes?</a:t>
                      </a:r>
                      <a:endParaRPr lang="en-US" sz="140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rPr>
                        <a:t>Event windows, k-means, hierarchical, Apriori</a:t>
                      </a:r>
                      <a:endParaRPr lang="en-US" sz="140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rPr>
                        <a:t>15–16</a:t>
                      </a:r>
                      <a:endParaRPr lang="en-US" sz="140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1B1F23"/>
                          </a:solidFill>
                        </a:rPr>
                        <a:t>RQ6</a:t>
                      </a:r>
                      <a:endParaRPr lang="en-US" sz="140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400" dirty="0">
                          <a:solidFill>
                            <a:srgbClr val="1B1F23"/>
                          </a:solidFill>
                        </a:rPr>
                        <a:t>What should an importer do under stress?</a:t>
                      </a:r>
                      <a:endParaRPr lang="en-US" sz="140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400" dirty="0">
                          <a:solidFill>
                            <a:srgbClr val="1B1F23"/>
                          </a:solidFill>
                        </a:rPr>
                        <a:t>What-if scenarios, hedge decision rule</a:t>
                      </a:r>
                      <a:endParaRPr lang="en-US" sz="140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400" dirty="0">
                          <a:solidFill>
                            <a:srgbClr val="1B1F23"/>
                          </a:solidFill>
                        </a:rPr>
                        <a:t>17–18</a:t>
                      </a:r>
                      <a:endParaRPr lang="en-US" sz="140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r>
            </a:tbl>
          </a:graphicData>
        </a:graphic>
      </p:graphicFrame>
      <p:sp>
        <p:nvSpPr>
          <p:cNvPr id="10" name="Text 6"/>
          <p:cNvSpPr txBox="1"/>
          <p:nvPr/>
        </p:nvSpPr>
        <p:spPr>
          <a:xfrm>
            <a:off x="457200" y="5532120"/>
            <a:ext cx="11247120" cy="548640"/>
          </a:xfrm>
          <a:prstGeom prst="rect">
            <a:avLst/>
          </a:prstGeom>
          <a:noFill/>
          <a:ln/>
        </p:spPr>
        <p:txBody>
          <a:bodyPr wrap="square" lIns="0" tIns="0" rIns="0" bIns="0" rtlCol="0" anchor="t"/>
          <a:lstStyle/>
          <a:p>
            <a:pPr indent="0" marL="0">
              <a:buNone/>
            </a:pPr>
            <a:r>
              <a:rPr lang="en-US" sz="1300" i="1" dirty="0">
                <a:solidFill>
                  <a:schemeClr val="accent6"/>
                </a:solidFill>
              </a:rPr>
              <a:t>Target: INR_ret = monthly % change in USD/INR (positive = rupee weaker). Sessions 1–5 (BI, data integration, governance) are covered by the data pipeline.</a:t>
            </a:r>
            <a:endParaRPr lang="en-US" sz="1300" dirty="0"/>
          </a:p>
        </p:txBody>
      </p:sp>
      <p:sp>
        <p:nvSpPr>
          <p:cNvPr id="25" name="Slide Number Placeholder 0"/>
          <p:cNvSpPr>
            <a:spLocks noGrp="1"/>
          </p:cNvSpPr>
          <p:nvPr>
            <p:ph type="sldNum" sz="quarter" idx="4294967295"/>
          </p:nvPr>
        </p:nvSpPr>
        <p:spPr>
          <a:xfrm>
            <a:off x="10927080" y="6382512"/>
            <a:ext cx="420624" cy="329184"/>
          </a:xfrm>
          <a:prstGeom prst="rect">
            <a:avLst/>
          </a:prstGeom>
          <a:extLst>
            <a:ext uri="{C572A759-6A51-4108-AA02-DFA0A04FC94B}">
              <ma14:wrappingTextBoxFlag xmlns:ma14="http://schemas.microsoft.com/office/mac/drawingml/2011/main" val="0"/>
            </a:ext>
          </a:extLst>
        </p:spPr>
        <p:txBody>
          <a:bodyPr/>
          <a:lstStyle>
            <a:lvl1pPr>
              <a:defRPr sz="1200">
                <a:solidFill>
                  <a:srgbClr val="0F2A3A"/>
                </a:solidFill>
                <a:latin typeface="Calibri"/>
                <a:ea typeface="Calibri"/>
                <a:cs typeface="Calibri"/>
              </a:defRPr>
            </a:lvl1pPr>
          </a:lstStyle>
          <a:p>
            <a:pPr algn="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5"/>
          <p:cNvSpPr/>
          <p:nvPr>
            <p:ph idx="105" type="title" hasCustomPrompt="1"/>
          </p:nvPr>
        </p:nvSpPr>
        <p:spPr>
          <a:xfrm>
            <a:off x="365760" y="502920"/>
            <a:ext cx="10058400" cy="868680"/>
          </a:xfrm>
          <a:prstGeom prst="rect">
            <a:avLst/>
          </a:prstGeom>
          <a:noFill/>
          <a:ln/>
        </p:spPr>
        <p:txBody>
          <a:bodyPr wrap="square" lIns="0" tIns="0" rIns="0" bIns="0" rtlCol="0" anchor="ctr"/>
          <a:lstStyle/>
          <a:p>
            <a:pPr algn="l" indent="0" marL="0">
              <a:buNone/>
            </a:pPr>
            <a:r>
              <a:rPr lang="en-US" sz="2800" b="1" dirty="0">
                <a:solidFill>
                  <a:srgbClr val="FFFFFF"/>
                </a:solidFill>
              </a:rPr>
              <a:t>16 official series, downloaded by code, with full provenance</a:t>
            </a:r>
            <a:endParaRPr lang="en-US" sz="2800" dirty="0"/>
          </a:p>
        </p:txBody>
      </p:sp>
      <p:sp>
        <p:nvSpPr>
          <p:cNvPr id="3" name="Current presenter"/>
          <p:cNvSpPr txBox="1"/>
          <p:nvPr/>
        </p:nvSpPr>
        <p:spPr>
          <a:xfrm>
            <a:off x="8869680" y="91440"/>
            <a:ext cx="3063240" cy="310896"/>
          </a:xfrm>
          <a:prstGeom prst="rect">
            <a:avLst/>
          </a:prstGeom>
          <a:noFill/>
          <a:ln/>
        </p:spPr>
        <p:txBody>
          <a:bodyPr wrap="square" lIns="0" tIns="0" rIns="0" bIns="0" rtlCol="0" anchor="ctr"/>
          <a:lstStyle/>
          <a:p>
            <a:pPr algn="r" indent="0" marL="0">
              <a:buNone/>
            </a:pPr>
            <a:r>
              <a:rPr lang="en-US" sz="1100" dirty="0">
                <a:solidFill>
                  <a:srgbClr val="5F6B73"/>
                </a:solidFill>
              </a:rPr>
              <a:t>Presenter: </a:t>
            </a:r>
            <a:pPr algn="r" indent="0" marL="0">
              <a:buNone/>
            </a:pPr>
            <a:r>
              <a:rPr lang="en-US" sz="1100" b="1" dirty="0">
                <a:solidFill>
                  <a:srgbClr val="0F2A3A"/>
                </a:solidFill>
              </a:rPr>
              <a:t>Ankit Singh - EMBAA25004</a:t>
            </a:r>
            <a:endParaRPr lang="en-US" sz="1100" dirty="0"/>
          </a:p>
        </p:txBody>
      </p:sp>
      <p:sp>
        <p:nvSpPr>
          <p:cNvPr id="4" name="Presenter photo placeholder"/>
          <p:cNvSpPr/>
          <p:nvPr/>
        </p:nvSpPr>
        <p:spPr>
          <a:xfrm>
            <a:off x="10744200" y="502920"/>
            <a:ext cx="1188720" cy="868680"/>
          </a:xfrm>
          <a:prstGeom prst="rect">
            <a:avLst/>
          </a:prstGeom>
          <a:solidFill>
            <a:schemeClr val="accent2"/>
          </a:solidFill>
          <a:ln w="12700">
            <a:solidFill>
              <a:schemeClr val="accent2"/>
            </a:solidFill>
            <a:prstDash val="solid"/>
          </a:ln>
        </p:spPr>
      </p:sp>
      <p:sp>
        <p:nvSpPr>
          <p:cNvPr id="5" name="Presenter initials"/>
          <p:cNvSpPr txBox="1"/>
          <p:nvPr/>
        </p:nvSpPr>
        <p:spPr>
          <a:xfrm>
            <a:off x="10744200" y="502920"/>
            <a:ext cx="1188720" cy="868680"/>
          </a:xfrm>
          <a:prstGeom prst="rect">
            <a:avLst/>
          </a:prstGeom>
          <a:noFill/>
          <a:ln/>
        </p:spPr>
        <p:txBody>
          <a:bodyPr wrap="square" lIns="0" tIns="0" rIns="0" bIns="0" rtlCol="0" anchor="ctr"/>
          <a:lstStyle/>
          <a:p>
            <a:pPr algn="ctr" indent="0" marL="0">
              <a:buNone/>
            </a:pPr>
            <a:r>
              <a:rPr lang="en-US" sz="2600" b="1" dirty="0">
                <a:solidFill>
                  <a:schemeClr val="bg1"/>
                </a:solidFill>
              </a:rPr>
              <a:t>AS</a:t>
            </a:r>
            <a:endParaRPr lang="en-US" sz="2600" dirty="0"/>
          </a:p>
        </p:txBody>
      </p:sp>
      <p:sp>
        <p:nvSpPr>
          <p:cNvPr id="6" name="Footer rule"/>
          <p:cNvSpPr/>
          <p:nvPr/>
        </p:nvSpPr>
        <p:spPr>
          <a:xfrm>
            <a:off x="274320" y="6272784"/>
            <a:ext cx="10515600" cy="0"/>
          </a:xfrm>
          <a:prstGeom prst="line">
            <a:avLst/>
          </a:prstGeom>
          <a:noFill/>
          <a:ln w="12700">
            <a:solidFill>
              <a:srgbClr val="EEF2F4"/>
            </a:solidFill>
            <a:prstDash val="solid"/>
          </a:ln>
        </p:spPr>
      </p:sp>
      <p:sp>
        <p:nvSpPr>
          <p:cNvPr id="7" name="Team footer"/>
          <p:cNvSpPr txBox="1"/>
          <p:nvPr/>
        </p:nvSpPr>
        <p:spPr>
          <a:xfrm>
            <a:off x="274320" y="6309360"/>
            <a:ext cx="10515600" cy="457200"/>
          </a:xfrm>
          <a:prstGeom prst="rect">
            <a:avLst/>
          </a:prstGeom>
          <a:noFill/>
          <a:ln/>
        </p:spPr>
        <p:txBody>
          <a:bodyPr wrap="square" lIns="0" tIns="0" rIns="0" bIns="0" rtlCol="0" anchor="ctr"/>
          <a:lstStyle/>
          <a:p>
            <a:pPr algn="ctr" indent="0" marL="0">
              <a:buNone/>
            </a:pPr>
            <a:r>
              <a:rPr lang="en-US" sz="850" b="1" u="sng" dirty="0">
                <a:solidFill>
                  <a:srgbClr val="1F5FA8"/>
                </a:solidFill>
                <a:hlinkClick r:id="rId1" invalidUrl="" action="" tgtFrame="" tooltip="Ankit Singh on LinkedIn" history="1" highlightClick="0" endSnd="0">
                  <a:extLst>
                    <a:ext uri="{A12FA001-AC4F-418D-AE19-62706E023703}">
                      <ahyp:hlinkClr xmlns:ahyp="http://schemas.microsoft.com/office/drawing/2018/hyperlinkcolor" val="tx"/>
                    </a:ext>
                  </a:extLst>
                </a:hlinkClick>
              </a:rPr>
              <a:t>Ankit Singh</a:t>
            </a:r>
            <a:pPr algn="ctr" indent="0" marL="0">
              <a:buNone/>
            </a:pPr>
            <a:r>
              <a:rPr lang="en-US" sz="850" dirty="0">
                <a:solidFill>
                  <a:srgbClr val="5F6B73"/>
                </a:solidFill>
              </a:rPr>
              <a:t> - EMBAA25004 - </a:t>
            </a:r>
            <a:pPr algn="ctr" indent="0" marL="0">
              <a:buNone/>
            </a:pPr>
            <a:r>
              <a:rPr lang="en-US" sz="850" u="sng" dirty="0">
                <a:solidFill>
                  <a:srgbClr val="1F5FA8"/>
                </a:solidFill>
                <a:hlinkClick r:id="rId2" invalidUrl="" action="" tgtFrame="" tooltip="" history="1" highlightClick="0" endSnd="0">
                  <a:extLst>
                    <a:ext uri="{A12FA001-AC4F-418D-AE19-62706E023703}">
                      <ahyp:hlinkClr xmlns:ahyp="http://schemas.microsoft.com/office/drawing/2018/hyperlinkcolor" val="tx"/>
                    </a:ext>
                  </a:extLst>
                </a:hlinkClick>
              </a:rPr>
              <a:t>ankit.embaa25004@iimkashipur.ac.in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3" invalidUrl="" action="" tgtFrame="" tooltip="Gopalakrishnan S on LinkedIn" history="1" highlightClick="0" endSnd="0">
                  <a:extLst>
                    <a:ext uri="{A12FA001-AC4F-418D-AE19-62706E023703}">
                      <ahyp:hlinkClr xmlns:ahyp="http://schemas.microsoft.com/office/drawing/2018/hyperlinkcolor" val="tx"/>
                    </a:ext>
                  </a:extLst>
                </a:hlinkClick>
              </a:rPr>
              <a:t>Gopalakrishnan S</a:t>
            </a:r>
            <a:pPr algn="ctr" indent="0" marL="0">
              <a:buNone/>
            </a:pPr>
            <a:r>
              <a:rPr lang="en-US" sz="850" dirty="0">
                <a:solidFill>
                  <a:srgbClr val="5F6B73"/>
                </a:solidFill>
              </a:rPr>
              <a:t> - EMBAA25017 - </a:t>
            </a:r>
            <a:pPr algn="ctr" indent="0" marL="0">
              <a:buNone/>
            </a:pPr>
            <a:r>
              <a:rPr lang="en-US" sz="850" u="sng" dirty="0">
                <a:solidFill>
                  <a:srgbClr val="1F5FA8"/>
                </a:solidFill>
                <a:hlinkClick r:id="rId4" invalidUrl="" action="" tgtFrame="" tooltip="" history="1" highlightClick="0" endSnd="0">
                  <a:extLst>
                    <a:ext uri="{A12FA001-AC4F-418D-AE19-62706E023703}">
                      <ahyp:hlinkClr xmlns:ahyp="http://schemas.microsoft.com/office/drawing/2018/hyperlinkcolor" val="tx"/>
                    </a:ext>
                  </a:extLst>
                </a:hlinkClick>
              </a:rPr>
              <a:t>gopalakrishnan.embaa25017@iimkashipur.ac.in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5" invalidUrl="" action="" tgtFrame="" tooltip="Murugan Perumal on LinkedIn" history="1" highlightClick="0" endSnd="0">
                  <a:extLst>
                    <a:ext uri="{A12FA001-AC4F-418D-AE19-62706E023703}">
                      <ahyp:hlinkClr xmlns:ahyp="http://schemas.microsoft.com/office/drawing/2018/hyperlinkcolor" val="tx"/>
                    </a:ext>
                  </a:extLst>
                </a:hlinkClick>
              </a:rPr>
              <a:t>Murugan Perumal</a:t>
            </a:r>
            <a:pPr algn="ctr" indent="0" marL="0">
              <a:buNone/>
            </a:pPr>
            <a:r>
              <a:rPr lang="en-US" sz="850" dirty="0">
                <a:solidFill>
                  <a:srgbClr val="5F6B73"/>
                </a:solidFill>
              </a:rPr>
              <a:t> - EMBAA25020 - </a:t>
            </a:r>
            <a:pPr algn="ctr" indent="0" marL="0">
              <a:buNone/>
            </a:pPr>
            <a:r>
              <a:rPr lang="en-US" sz="850" u="sng" dirty="0">
                <a:solidFill>
                  <a:srgbClr val="1F5FA8"/>
                </a:solidFill>
                <a:hlinkClick r:id="rId6" invalidUrl="" action="" tgtFrame="" tooltip="" history="1" highlightClick="0" endSnd="0">
                  <a:extLst>
                    <a:ext uri="{A12FA001-AC4F-418D-AE19-62706E023703}">
                      <ahyp:hlinkClr xmlns:ahyp="http://schemas.microsoft.com/office/drawing/2018/hyperlinkcolor" val="tx"/>
                    </a:ext>
                  </a:extLst>
                </a:hlinkClick>
              </a:rPr>
              <a:t>murugan.embaa25020@iimkashipur.ac.in</a:t>
            </a:r>
            <a:pPr algn="ctr" indent="0" marL="0">
              <a:buNone/>
            </a:pPr>
            <a:endParaRPr lang="en-US" sz="850" dirty="0"/>
          </a:p>
          <a:p>
            <a:pPr algn="ctr" indent="0" marL="0">
              <a:buNone/>
            </a:pPr>
            <a:r>
              <a:rPr lang="en-US" sz="850" b="1" u="sng" dirty="0">
                <a:solidFill>
                  <a:srgbClr val="1F5FA8"/>
                </a:solidFill>
                <a:hlinkClick r:id="rId7" invalidUrl="" action="" tgtFrame="" tooltip="Aswin G. on LinkedIn" history="1" highlightClick="0" endSnd="0">
                  <a:extLst>
                    <a:ext uri="{A12FA001-AC4F-418D-AE19-62706E023703}">
                      <ahyp:hlinkClr xmlns:ahyp="http://schemas.microsoft.com/office/drawing/2018/hyperlinkcolor" val="tx"/>
                    </a:ext>
                  </a:extLst>
                </a:hlinkClick>
              </a:rPr>
              <a:t>Aswin G.</a:t>
            </a:r>
            <a:pPr algn="ctr" indent="0" marL="0">
              <a:buNone/>
            </a:pPr>
            <a:r>
              <a:rPr lang="en-US" sz="850" dirty="0">
                <a:solidFill>
                  <a:srgbClr val="5F6B73"/>
                </a:solidFill>
              </a:rPr>
              <a:t> - EMBAA25008 - </a:t>
            </a:r>
            <a:pPr algn="ctr" indent="0" marL="0">
              <a:buNone/>
            </a:pPr>
            <a:r>
              <a:rPr lang="en-US" sz="850" u="sng" dirty="0">
                <a:solidFill>
                  <a:srgbClr val="1F5FA8"/>
                </a:solidFill>
                <a:hlinkClick r:id="rId8" invalidUrl="" action="" tgtFrame="" tooltip="" history="1" highlightClick="0" endSnd="0">
                  <a:extLst>
                    <a:ext uri="{A12FA001-AC4F-418D-AE19-62706E023703}">
                      <ahyp:hlinkClr xmlns:ahyp="http://schemas.microsoft.com/office/drawing/2018/hyperlinkcolor" val="tx"/>
                    </a:ext>
                  </a:extLst>
                </a:hlinkClick>
              </a:rPr>
              <a:t>aswin.embaa25008@iimkashipur.ac.in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9" invalidUrl="" action="" tgtFrame="" tooltip="Atul Kumar Singh on LinkedIn" history="1" highlightClick="0" endSnd="0">
                  <a:extLst>
                    <a:ext uri="{A12FA001-AC4F-418D-AE19-62706E023703}">
                      <ahyp:hlinkClr xmlns:ahyp="http://schemas.microsoft.com/office/drawing/2018/hyperlinkcolor" val="tx"/>
                    </a:ext>
                  </a:extLst>
                </a:hlinkClick>
              </a:rPr>
              <a:t>Atul Kumar Singh</a:t>
            </a:r>
            <a:pPr algn="ctr" indent="0" marL="0">
              <a:buNone/>
            </a:pPr>
            <a:r>
              <a:rPr lang="en-US" sz="850" dirty="0">
                <a:solidFill>
                  <a:srgbClr val="5F6B73"/>
                </a:solidFill>
              </a:rPr>
              <a:t> - EMBAA25009 - </a:t>
            </a:r>
            <a:pPr algn="ctr" indent="0" marL="0">
              <a:buNone/>
            </a:pPr>
            <a:r>
              <a:rPr lang="en-US" sz="850" u="sng" dirty="0">
                <a:solidFill>
                  <a:srgbClr val="1F5FA8"/>
                </a:solidFill>
                <a:hlinkClick r:id="rId10" invalidUrl="" action="" tgtFrame="" tooltip="" history="1" highlightClick="0" endSnd="0">
                  <a:extLst>
                    <a:ext uri="{A12FA001-AC4F-418D-AE19-62706E023703}">
                      <ahyp:hlinkClr xmlns:ahyp="http://schemas.microsoft.com/office/drawing/2018/hyperlinkcolor" val="tx"/>
                    </a:ext>
                  </a:extLst>
                </a:hlinkClick>
              </a:rPr>
              <a:t>atul.embaa25009@iimkashipur.ac.in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11" invalidUrl="" action="" tgtFrame="" tooltip="Devanshu Priyam on LinkedIn" history="1" highlightClick="0" endSnd="0">
                  <a:extLst>
                    <a:ext uri="{A12FA001-AC4F-418D-AE19-62706E023703}">
                      <ahyp:hlinkClr xmlns:ahyp="http://schemas.microsoft.com/office/drawing/2018/hyperlinkcolor" val="tx"/>
                    </a:ext>
                  </a:extLst>
                </a:hlinkClick>
              </a:rPr>
              <a:t>Devanshu Priyam</a:t>
            </a:r>
            <a:pPr algn="ctr" indent="0" marL="0">
              <a:buNone/>
            </a:pPr>
            <a:r>
              <a:rPr lang="en-US" sz="850" dirty="0">
                <a:solidFill>
                  <a:srgbClr val="5F6B73"/>
                </a:solidFill>
              </a:rPr>
              <a:t> - EMBAA25014 - </a:t>
            </a:r>
            <a:pPr algn="ctr" indent="0" marL="0">
              <a:buNone/>
            </a:pPr>
            <a:r>
              <a:rPr lang="en-US" sz="850" u="sng" dirty="0">
                <a:solidFill>
                  <a:srgbClr val="1F5FA8"/>
                </a:solidFill>
                <a:hlinkClick r:id="rId12" invalidUrl="" action="" tgtFrame="" tooltip="" history="1" highlightClick="0" endSnd="0">
                  <a:extLst>
                    <a:ext uri="{A12FA001-AC4F-418D-AE19-62706E023703}">
                      <ahyp:hlinkClr xmlns:ahyp="http://schemas.microsoft.com/office/drawing/2018/hyperlinkcolor" val="tx"/>
                    </a:ext>
                  </a:extLst>
                </a:hlinkClick>
              </a:rPr>
              <a:t>devanshu.embaa25014@iimkashipur.ac.in</a:t>
            </a:r>
            <a:endParaRPr lang="en-US" sz="8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7223760" cy="914400"/>
        </p:xfrm>
        <a:graphic>
          <a:graphicData uri="http://schemas.openxmlformats.org/drawingml/2006/table">
            <a:tbl>
              <a:tblPr/>
              <a:tblGrid>
                <a:gridCol w="1828800"/>
                <a:gridCol w="3200400"/>
                <a:gridCol w="2194560"/>
              </a:tblGrid>
              <a:tr h="0">
                <a:tc>
                  <a:txBody>
                    <a:bodyPr/>
                    <a:lstStyle/>
                    <a:p>
                      <a:pPr indent="0" marL="0">
                        <a:buNone/>
                      </a:pPr>
                      <a:r>
                        <a:rPr lang="en-US" sz="1250" b="1" dirty="0">
                          <a:solidFill>
                            <a:srgbClr val="FFFFFF"/>
                          </a:solidFill>
                        </a:rPr>
                        <a:t>Publisher</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0F2A3A"/>
                    </a:solidFill>
                  </a:tcPr>
                </a:tc>
                <a:tc>
                  <a:txBody>
                    <a:bodyPr/>
                    <a:lstStyle/>
                    <a:p>
                      <a:pPr indent="0" marL="0">
                        <a:buNone/>
                      </a:pPr>
                      <a:r>
                        <a:rPr lang="en-US" sz="1250" b="1" dirty="0">
                          <a:solidFill>
                            <a:srgbClr val="FFFFFF"/>
                          </a:solidFill>
                        </a:rPr>
                        <a:t>Series used</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0F2A3A"/>
                    </a:solidFill>
                  </a:tcPr>
                </a:tc>
                <a:tc>
                  <a:txBody>
                    <a:bodyPr/>
                    <a:lstStyle/>
                    <a:p>
                      <a:pPr indent="0" marL="0">
                        <a:buNone/>
                      </a:pPr>
                      <a:r>
                        <a:rPr lang="en-US" sz="1250" b="1" dirty="0">
                          <a:solidFill>
                            <a:srgbClr val="FFFFFF"/>
                          </a:solidFill>
                        </a:rPr>
                        <a:t>Variables</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0F2A3A"/>
                    </a:solidFill>
                  </a:tcPr>
                </a:tc>
              </a:tr>
              <a:tr h="0">
                <a:tc>
                  <a:txBody>
                    <a:bodyPr/>
                    <a:lstStyle/>
                    <a:p>
                      <a:pPr indent="0" marL="0">
                        <a:buNone/>
                      </a:pPr>
                      <a:r>
                        <a:rPr lang="en-US" sz="1150" dirty="0">
                          <a:solidFill>
                            <a:srgbClr val="1B1F23"/>
                          </a:solidFill>
                        </a:rPr>
                        <a:t>FRED (Fed, EIA, BLS, OECD, IMF)</a:t>
                      </a:r>
                      <a:endParaRPr lang="en-US" sz="11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150" dirty="0">
                          <a:solidFill>
                            <a:srgbClr val="1B1F23"/>
                          </a:solidFill>
                        </a:rPr>
                        <a:t>EXINUS, DEXINUS, DCOILBRENTEU, DTWEXBGS, VIXCLS, CPIAUCSL, FEDFUNDS, GS10, INDIR3TIB01STM, INDCPIALLMINMEI, XTEXVA/XTIMVA01INM667S, TRESEGINM052N</a:t>
                      </a:r>
                      <a:endParaRPr lang="en-US" sz="11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150" dirty="0">
                          <a:solidFill>
                            <a:srgbClr val="1B1F23"/>
                          </a:solidFill>
                        </a:rPr>
                        <a:t>USD/INR, Brent, broad dollar, VIX, US CPI, US rates, India rate, India CPI, trade, reserves</a:t>
                      </a:r>
                      <a:endParaRPr lang="en-US" sz="11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B1F23"/>
                          </a:solidFill>
                        </a:rPr>
                        <a:t>World Bank Pink Sheet</a:t>
                      </a:r>
                      <a:endParaRPr lang="en-US" sz="11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150" dirty="0">
                          <a:solidFill>
                            <a:srgbClr val="1B1F23"/>
                          </a:solidFill>
                        </a:rPr>
                        <a:t>Crude oil, Brent (monthly)</a:t>
                      </a:r>
                      <a:endParaRPr lang="en-US" sz="11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150" dirty="0">
                          <a:solidFill>
                            <a:srgbClr val="1B1F23"/>
                          </a:solidFill>
                        </a:rPr>
                        <a:t>Cross-check for FRED Brent</a:t>
                      </a:r>
                      <a:endParaRPr lang="en-US" sz="11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r>
              <a:tr h="0">
                <a:tc>
                  <a:txBody>
                    <a:bodyPr/>
                    <a:lstStyle/>
                    <a:p>
                      <a:pPr indent="0" marL="0">
                        <a:buNone/>
                      </a:pPr>
                      <a:r>
                        <a:rPr lang="en-US" sz="1150" dirty="0">
                          <a:solidFill>
                            <a:srgbClr val="1B1F23"/>
                          </a:solidFill>
                        </a:rPr>
                        <a:t>NSDL</a:t>
                      </a:r>
                      <a:endParaRPr lang="en-US" sz="11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150" dirty="0">
                          <a:solidFill>
                            <a:srgbClr val="1B1F23"/>
                          </a:solidFill>
                        </a:rPr>
                        <a:t>Monthly FPI net investments</a:t>
                      </a:r>
                      <a:endParaRPr lang="en-US" sz="11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150" dirty="0">
                          <a:solidFill>
                            <a:srgbClr val="1B1F23"/>
                          </a:solidFill>
                        </a:rPr>
                        <a:t>FPI equity + debt (₹ crore → US$ bn)</a:t>
                      </a:r>
                      <a:endParaRPr lang="en-US" sz="11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B1F23"/>
                          </a:solidFill>
                        </a:rPr>
                        <a:t>MoSPI</a:t>
                      </a:r>
                      <a:endParaRPr lang="en-US" sz="11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150" dirty="0">
                          <a:solidFill>
                            <a:srgbClr val="1B1F23"/>
                          </a:solidFill>
                        </a:rPr>
                        <a:t>CPI press releases, Apr 2025 onward</a:t>
                      </a:r>
                      <a:endParaRPr lang="en-US" sz="11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150" dirty="0">
                          <a:solidFill>
                            <a:srgbClr val="1B1F23"/>
                          </a:solidFill>
                        </a:rPr>
                        <a:t>India CPI y/y (after OECD series ends)</a:t>
                      </a:r>
                      <a:endParaRPr lang="en-US" sz="11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r>
              <a:tr h="0">
                <a:tc>
                  <a:txBody>
                    <a:bodyPr/>
                    <a:lstStyle/>
                    <a:p>
                      <a:pPr indent="0" marL="0">
                        <a:buNone/>
                      </a:pPr>
                      <a:r>
                        <a:rPr lang="en-US" sz="1150" dirty="0">
                          <a:solidFill>
                            <a:srgbClr val="1B1F23"/>
                          </a:solidFill>
                        </a:rPr>
                        <a:t>Yahoo Finance</a:t>
                      </a:r>
                      <a:endParaRPr lang="en-US" sz="11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150" dirty="0">
                          <a:solidFill>
                            <a:srgbClr val="1B1F23"/>
                          </a:solidFill>
                        </a:rPr>
                        <a:t>INR=X, BZ=F, DX-Y.NYB, ^VIX</a:t>
                      </a:r>
                      <a:endParaRPr lang="en-US" sz="11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150" dirty="0">
                          <a:solidFill>
                            <a:srgbClr val="1B1F23"/>
                          </a:solidFill>
                        </a:rPr>
                        <a:t>Live quotes for the dashboard</a:t>
                      </a:r>
                      <a:endParaRPr lang="en-US" sz="11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r>
            </a:tbl>
          </a:graphicData>
        </a:graphic>
      </p:graphicFrame>
      <p:sp>
        <p:nvSpPr>
          <p:cNvPr id="10" name="Text 6"/>
          <p:cNvSpPr txBox="1"/>
          <p:nvPr/>
        </p:nvSpPr>
        <p:spPr>
          <a:xfrm>
            <a:off x="8046720" y="1645920"/>
            <a:ext cx="3657600" cy="36576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Real-data rules</a:t>
            </a:r>
            <a:endParaRPr lang="en-US" sz="1800" dirty="0"/>
          </a:p>
        </p:txBody>
      </p:sp>
      <p:sp>
        <p:nvSpPr>
          <p:cNvPr id="11" name="Number badge 1"/>
          <p:cNvSpPr/>
          <p:nvPr/>
        </p:nvSpPr>
        <p:spPr>
          <a:xfrm>
            <a:off x="8046720" y="2194560"/>
            <a:ext cx="420624" cy="420624"/>
          </a:xfrm>
          <a:prstGeom prst="ellipse">
            <a:avLst/>
          </a:prstGeom>
          <a:solidFill>
            <a:srgbClr val="E8871E"/>
          </a:solidFill>
          <a:ln w="12700">
            <a:solidFill>
              <a:srgbClr val="E8871E"/>
            </a:solidFill>
            <a:prstDash val="solid"/>
          </a:ln>
        </p:spPr>
      </p:sp>
      <p:sp>
        <p:nvSpPr>
          <p:cNvPr id="12" name="Text 8"/>
          <p:cNvSpPr txBox="1"/>
          <p:nvPr/>
        </p:nvSpPr>
        <p:spPr>
          <a:xfrm>
            <a:off x="8046720" y="2194560"/>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13" name="Text 9"/>
          <p:cNvSpPr txBox="1"/>
          <p:nvPr/>
        </p:nvSpPr>
        <p:spPr>
          <a:xfrm>
            <a:off x="8595360" y="2176272"/>
            <a:ext cx="3200400" cy="731520"/>
          </a:xfrm>
          <a:prstGeom prst="rect">
            <a:avLst/>
          </a:prstGeom>
          <a:noFill/>
          <a:ln/>
        </p:spPr>
        <p:txBody>
          <a:bodyPr wrap="square" lIns="0" tIns="0" rIns="0" bIns="0" rtlCol="0" anchor="t"/>
          <a:lstStyle/>
          <a:p>
            <a:pPr indent="0" marL="0">
              <a:buNone/>
            </a:pPr>
            <a:r>
              <a:rPr lang="en-US" sz="1400" dirty="0">
                <a:solidFill>
                  <a:schemeClr val="tx1"/>
                </a:solidFill>
              </a:rPr>
              <a:t>Nothing simulated or randomly generated</a:t>
            </a:r>
            <a:endParaRPr lang="en-US" sz="1400" dirty="0"/>
          </a:p>
        </p:txBody>
      </p:sp>
      <p:sp>
        <p:nvSpPr>
          <p:cNvPr id="14" name="Number badge 2"/>
          <p:cNvSpPr/>
          <p:nvPr/>
        </p:nvSpPr>
        <p:spPr>
          <a:xfrm>
            <a:off x="8046720" y="3063240"/>
            <a:ext cx="420624" cy="420624"/>
          </a:xfrm>
          <a:prstGeom prst="ellipse">
            <a:avLst/>
          </a:prstGeom>
          <a:solidFill>
            <a:srgbClr val="2A7F8F"/>
          </a:solidFill>
          <a:ln w="12700">
            <a:solidFill>
              <a:srgbClr val="2A7F8F"/>
            </a:solidFill>
            <a:prstDash val="solid"/>
          </a:ln>
        </p:spPr>
      </p:sp>
      <p:sp>
        <p:nvSpPr>
          <p:cNvPr id="15" name="Text 11"/>
          <p:cNvSpPr txBox="1"/>
          <p:nvPr/>
        </p:nvSpPr>
        <p:spPr>
          <a:xfrm>
            <a:off x="8046720" y="3063240"/>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6" name="Text 12"/>
          <p:cNvSpPr txBox="1"/>
          <p:nvPr/>
        </p:nvSpPr>
        <p:spPr>
          <a:xfrm>
            <a:off x="8595360" y="3044952"/>
            <a:ext cx="3200400" cy="731520"/>
          </a:xfrm>
          <a:prstGeom prst="rect">
            <a:avLst/>
          </a:prstGeom>
          <a:noFill/>
          <a:ln/>
        </p:spPr>
        <p:txBody>
          <a:bodyPr wrap="square" lIns="0" tIns="0" rIns="0" bIns="0" rtlCol="0" anchor="t"/>
          <a:lstStyle/>
          <a:p>
            <a:pPr indent="0" marL="0">
              <a:buNone/>
            </a:pPr>
            <a:r>
              <a:rPr lang="en-US" sz="1400" dirty="0">
                <a:solidFill>
                  <a:schemeClr val="tx1"/>
                </a:solidFill>
              </a:rPr>
              <a:t>No interpolation: missing months are dropped and logged</a:t>
            </a:r>
            <a:endParaRPr lang="en-US" sz="1400" dirty="0"/>
          </a:p>
        </p:txBody>
      </p:sp>
      <p:sp>
        <p:nvSpPr>
          <p:cNvPr id="17" name="Number badge 3"/>
          <p:cNvSpPr/>
          <p:nvPr/>
        </p:nvSpPr>
        <p:spPr>
          <a:xfrm>
            <a:off x="8046720" y="3931920"/>
            <a:ext cx="420624" cy="420624"/>
          </a:xfrm>
          <a:prstGeom prst="ellipse">
            <a:avLst/>
          </a:prstGeom>
          <a:solidFill>
            <a:srgbClr val="E8871E"/>
          </a:solidFill>
          <a:ln w="12700">
            <a:solidFill>
              <a:srgbClr val="E8871E"/>
            </a:solidFill>
            <a:prstDash val="solid"/>
          </a:ln>
        </p:spPr>
      </p:sp>
      <p:sp>
        <p:nvSpPr>
          <p:cNvPr id="18" name="Text 14"/>
          <p:cNvSpPr txBox="1"/>
          <p:nvPr/>
        </p:nvSpPr>
        <p:spPr>
          <a:xfrm>
            <a:off x="8046720" y="3931920"/>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9" name="Text 15"/>
          <p:cNvSpPr txBox="1"/>
          <p:nvPr/>
        </p:nvSpPr>
        <p:spPr>
          <a:xfrm>
            <a:off x="8595360" y="3913632"/>
            <a:ext cx="3200400" cy="731520"/>
          </a:xfrm>
          <a:prstGeom prst="rect">
            <a:avLst/>
          </a:prstGeom>
          <a:noFill/>
          <a:ln/>
        </p:spPr>
        <p:txBody>
          <a:bodyPr wrap="square" lIns="0" tIns="0" rIns="0" bIns="0" rtlCol="0" anchor="t"/>
          <a:lstStyle/>
          <a:p>
            <a:pPr indent="0" marL="0">
              <a:buNone/>
            </a:pPr>
            <a:r>
              <a:rPr lang="en-US" sz="1400" dirty="0">
                <a:solidFill>
                  <a:schemeClr val="tx1"/>
                </a:solidFill>
              </a:rPr>
              <a:t>provenance.csv: source, ID, URL, download time per column</a:t>
            </a:r>
            <a:endParaRPr lang="en-US" sz="1400" dirty="0"/>
          </a:p>
        </p:txBody>
      </p:sp>
      <p:sp>
        <p:nvSpPr>
          <p:cNvPr id="20" name="Number badge 4"/>
          <p:cNvSpPr/>
          <p:nvPr/>
        </p:nvSpPr>
        <p:spPr>
          <a:xfrm>
            <a:off x="8046720" y="4800600"/>
            <a:ext cx="420624" cy="420624"/>
          </a:xfrm>
          <a:prstGeom prst="ellipse">
            <a:avLst/>
          </a:prstGeom>
          <a:solidFill>
            <a:srgbClr val="2A7F8F"/>
          </a:solidFill>
          <a:ln w="12700">
            <a:solidFill>
              <a:srgbClr val="2A7F8F"/>
            </a:solidFill>
            <a:prstDash val="solid"/>
          </a:ln>
        </p:spPr>
      </p:sp>
      <p:sp>
        <p:nvSpPr>
          <p:cNvPr id="21" name="Text 17"/>
          <p:cNvSpPr txBox="1"/>
          <p:nvPr/>
        </p:nvSpPr>
        <p:spPr>
          <a:xfrm>
            <a:off x="8046720" y="4800600"/>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22" name="Text 18"/>
          <p:cNvSpPr txBox="1"/>
          <p:nvPr/>
        </p:nvSpPr>
        <p:spPr>
          <a:xfrm>
            <a:off x="8595360" y="4782312"/>
            <a:ext cx="3200400" cy="731520"/>
          </a:xfrm>
          <a:prstGeom prst="rect">
            <a:avLst/>
          </a:prstGeom>
          <a:noFill/>
          <a:ln/>
        </p:spPr>
        <p:txBody>
          <a:bodyPr wrap="square" lIns="0" tIns="0" rIns="0" bIns="0" rtlCol="0" anchor="t"/>
          <a:lstStyle/>
          <a:p>
            <a:pPr indent="0" marL="0">
              <a:buNone/>
            </a:pPr>
            <a:r>
              <a:rPr lang="en-US" sz="1400" dirty="0">
                <a:solidFill>
                  <a:schemeClr val="tx1"/>
                </a:solidFill>
              </a:rPr>
              <a:t>Raw downloads kept apart from processed data</a:t>
            </a:r>
            <a:endParaRPr lang="en-US" sz="1400" dirty="0"/>
          </a:p>
        </p:txBody>
      </p:sp>
      <p:sp>
        <p:nvSpPr>
          <p:cNvPr id="23" name="Text 19"/>
          <p:cNvSpPr txBox="1"/>
          <p:nvPr/>
        </p:nvSpPr>
        <p:spPr>
          <a:xfrm>
            <a:off x="457200" y="5715000"/>
            <a:ext cx="7223760" cy="365760"/>
          </a:xfrm>
          <a:prstGeom prst="rect">
            <a:avLst/>
          </a:prstGeom>
          <a:noFill/>
          <a:ln/>
        </p:spPr>
        <p:txBody>
          <a:bodyPr wrap="square" lIns="0" tIns="0" rIns="0" bIns="0" rtlCol="0" anchor="t"/>
          <a:lstStyle/>
          <a:p>
            <a:pPr indent="0" marL="0">
              <a:buNone/>
            </a:pPr>
            <a:r>
              <a:rPr lang="en-US" sz="1400" b="1" dirty="0">
                <a:solidFill>
                  <a:schemeClr val="accent2"/>
                </a:solidFill>
              </a:rPr>
              <a:t>Model sample: Feb 2012 – Aug 2026, 175 complete months</a:t>
            </a:r>
            <a:endParaRPr lang="en-US" sz="1400" dirty="0"/>
          </a:p>
        </p:txBody>
      </p:sp>
      <p:sp>
        <p:nvSpPr>
          <p:cNvPr id="25" name="Slide Number Placeholder 0"/>
          <p:cNvSpPr>
            <a:spLocks noGrp="1"/>
          </p:cNvSpPr>
          <p:nvPr>
            <p:ph type="sldNum" sz="quarter" idx="4294967295"/>
          </p:nvPr>
        </p:nvSpPr>
        <p:spPr>
          <a:xfrm>
            <a:off x="10927080" y="6382512"/>
            <a:ext cx="420624" cy="329184"/>
          </a:xfrm>
          <a:prstGeom prst="rect">
            <a:avLst/>
          </a:prstGeom>
          <a:extLst>
            <a:ext uri="{C572A759-6A51-4108-AA02-DFA0A04FC94B}">
              <ma14:wrappingTextBoxFlag xmlns:ma14="http://schemas.microsoft.com/office/mac/drawingml/2011/main" val="0"/>
            </a:ext>
          </a:extLst>
        </p:spPr>
        <p:txBody>
          <a:bodyPr/>
          <a:lstStyle>
            <a:lvl1pPr>
              <a:defRPr sz="1200">
                <a:solidFill>
                  <a:srgbClr val="0F2A3A"/>
                </a:solidFill>
                <a:latin typeface="Calibri"/>
                <a:ea typeface="Calibri"/>
                <a:cs typeface="Calibri"/>
              </a:defRPr>
            </a:lvl1pPr>
          </a:lstStyle>
          <a:p>
            <a:pPr algn="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5"/>
          <p:cNvSpPr/>
          <p:nvPr>
            <p:ph idx="105" type="title" hasCustomPrompt="1"/>
          </p:nvPr>
        </p:nvSpPr>
        <p:spPr>
          <a:xfrm>
            <a:off x="365760" y="502920"/>
            <a:ext cx="10058400" cy="868680"/>
          </a:xfrm>
          <a:prstGeom prst="rect">
            <a:avLst/>
          </a:prstGeom>
          <a:noFill/>
          <a:ln/>
        </p:spPr>
        <p:txBody>
          <a:bodyPr wrap="square" lIns="0" tIns="0" rIns="0" bIns="0" rtlCol="0" anchor="ctr"/>
          <a:lstStyle/>
          <a:p>
            <a:pPr algn="l" indent="0" marL="0">
              <a:buNone/>
            </a:pPr>
            <a:r>
              <a:rPr lang="en-US" sz="2800" b="1" dirty="0">
                <a:solidFill>
                  <a:srgbClr val="FFFFFF"/>
                </a:solidFill>
              </a:rPr>
              <a:t>A nine-script R pipeline from download to dashboard</a:t>
            </a:r>
            <a:endParaRPr lang="en-US" sz="2800" dirty="0"/>
          </a:p>
        </p:txBody>
      </p:sp>
      <p:sp>
        <p:nvSpPr>
          <p:cNvPr id="3" name="Current presenter"/>
          <p:cNvSpPr txBox="1"/>
          <p:nvPr/>
        </p:nvSpPr>
        <p:spPr>
          <a:xfrm>
            <a:off x="8869680" y="91440"/>
            <a:ext cx="3063240" cy="310896"/>
          </a:xfrm>
          <a:prstGeom prst="rect">
            <a:avLst/>
          </a:prstGeom>
          <a:noFill/>
          <a:ln/>
        </p:spPr>
        <p:txBody>
          <a:bodyPr wrap="square" lIns="0" tIns="0" rIns="0" bIns="0" rtlCol="0" anchor="ctr"/>
          <a:lstStyle/>
          <a:p>
            <a:pPr algn="r" indent="0" marL="0">
              <a:buNone/>
            </a:pPr>
            <a:r>
              <a:rPr lang="en-US" sz="1100" dirty="0">
                <a:solidFill>
                  <a:srgbClr val="5F6B73"/>
                </a:solidFill>
              </a:rPr>
              <a:t>Presenter: </a:t>
            </a:r>
            <a:pPr algn="r" indent="0" marL="0">
              <a:buNone/>
            </a:pPr>
            <a:r>
              <a:rPr lang="en-US" sz="1100" b="1" dirty="0">
                <a:solidFill>
                  <a:srgbClr val="0F2A3A"/>
                </a:solidFill>
              </a:rPr>
              <a:t>Ankit Singh - EMBAA25004</a:t>
            </a:r>
            <a:endParaRPr lang="en-US" sz="1100" dirty="0"/>
          </a:p>
        </p:txBody>
      </p:sp>
      <p:sp>
        <p:nvSpPr>
          <p:cNvPr id="4" name="Presenter photo placeholder"/>
          <p:cNvSpPr/>
          <p:nvPr/>
        </p:nvSpPr>
        <p:spPr>
          <a:xfrm>
            <a:off x="10744200" y="502920"/>
            <a:ext cx="1188720" cy="868680"/>
          </a:xfrm>
          <a:prstGeom prst="rect">
            <a:avLst/>
          </a:prstGeom>
          <a:solidFill>
            <a:schemeClr val="accent2"/>
          </a:solidFill>
          <a:ln w="12700">
            <a:solidFill>
              <a:schemeClr val="accent2"/>
            </a:solidFill>
            <a:prstDash val="solid"/>
          </a:ln>
        </p:spPr>
      </p:sp>
      <p:sp>
        <p:nvSpPr>
          <p:cNvPr id="5" name="Presenter initials"/>
          <p:cNvSpPr txBox="1"/>
          <p:nvPr/>
        </p:nvSpPr>
        <p:spPr>
          <a:xfrm>
            <a:off x="10744200" y="502920"/>
            <a:ext cx="1188720" cy="868680"/>
          </a:xfrm>
          <a:prstGeom prst="rect">
            <a:avLst/>
          </a:prstGeom>
          <a:noFill/>
          <a:ln/>
        </p:spPr>
        <p:txBody>
          <a:bodyPr wrap="square" lIns="0" tIns="0" rIns="0" bIns="0" rtlCol="0" anchor="ctr"/>
          <a:lstStyle/>
          <a:p>
            <a:pPr algn="ctr" indent="0" marL="0">
              <a:buNone/>
            </a:pPr>
            <a:r>
              <a:rPr lang="en-US" sz="2600" b="1" dirty="0">
                <a:solidFill>
                  <a:schemeClr val="bg1"/>
                </a:solidFill>
              </a:rPr>
              <a:t>AS</a:t>
            </a:r>
            <a:endParaRPr lang="en-US" sz="2600" dirty="0"/>
          </a:p>
        </p:txBody>
      </p:sp>
      <p:sp>
        <p:nvSpPr>
          <p:cNvPr id="6" name="Footer rule"/>
          <p:cNvSpPr/>
          <p:nvPr/>
        </p:nvSpPr>
        <p:spPr>
          <a:xfrm>
            <a:off x="274320" y="6272784"/>
            <a:ext cx="10515600" cy="0"/>
          </a:xfrm>
          <a:prstGeom prst="line">
            <a:avLst/>
          </a:prstGeom>
          <a:noFill/>
          <a:ln w="12700">
            <a:solidFill>
              <a:srgbClr val="EEF2F4"/>
            </a:solidFill>
            <a:prstDash val="solid"/>
          </a:ln>
        </p:spPr>
      </p:sp>
      <p:sp>
        <p:nvSpPr>
          <p:cNvPr id="7" name="Team footer"/>
          <p:cNvSpPr txBox="1"/>
          <p:nvPr/>
        </p:nvSpPr>
        <p:spPr>
          <a:xfrm>
            <a:off x="274320" y="6309360"/>
            <a:ext cx="10515600" cy="457200"/>
          </a:xfrm>
          <a:prstGeom prst="rect">
            <a:avLst/>
          </a:prstGeom>
          <a:noFill/>
          <a:ln/>
        </p:spPr>
        <p:txBody>
          <a:bodyPr wrap="square" lIns="0" tIns="0" rIns="0" bIns="0" rtlCol="0" anchor="ctr"/>
          <a:lstStyle/>
          <a:p>
            <a:pPr algn="ctr" indent="0" marL="0">
              <a:buNone/>
            </a:pPr>
            <a:r>
              <a:rPr lang="en-US" sz="850" b="1" u="sng" dirty="0">
                <a:solidFill>
                  <a:srgbClr val="1F5FA8"/>
                </a:solidFill>
                <a:hlinkClick r:id="rId1" invalidUrl="" action="" tgtFrame="" tooltip="Ankit Singh on LinkedIn" history="1" highlightClick="0" endSnd="0">
                  <a:extLst>
                    <a:ext uri="{A12FA001-AC4F-418D-AE19-62706E023703}">
                      <ahyp:hlinkClr xmlns:ahyp="http://schemas.microsoft.com/office/drawing/2018/hyperlinkcolor" val="tx"/>
                    </a:ext>
                  </a:extLst>
                </a:hlinkClick>
              </a:rPr>
              <a:t>Ankit Singh</a:t>
            </a:r>
            <a:pPr algn="ctr" indent="0" marL="0">
              <a:buNone/>
            </a:pPr>
            <a:r>
              <a:rPr lang="en-US" sz="850" dirty="0">
                <a:solidFill>
                  <a:srgbClr val="5F6B73"/>
                </a:solidFill>
              </a:rPr>
              <a:t> - EMBAA25004 - </a:t>
            </a:r>
            <a:pPr algn="ctr" indent="0" marL="0">
              <a:buNone/>
            </a:pPr>
            <a:r>
              <a:rPr lang="en-US" sz="850" u="sng" dirty="0">
                <a:solidFill>
                  <a:srgbClr val="1F5FA8"/>
                </a:solidFill>
                <a:hlinkClick r:id="rId2" invalidUrl="" action="" tgtFrame="" tooltip="" history="1" highlightClick="0" endSnd="0">
                  <a:extLst>
                    <a:ext uri="{A12FA001-AC4F-418D-AE19-62706E023703}">
                      <ahyp:hlinkClr xmlns:ahyp="http://schemas.microsoft.com/office/drawing/2018/hyperlinkcolor" val="tx"/>
                    </a:ext>
                  </a:extLst>
                </a:hlinkClick>
              </a:rPr>
              <a:t>ankit.embaa25004@iimkashipur.ac.in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3" invalidUrl="" action="" tgtFrame="" tooltip="Gopalakrishnan S on LinkedIn" history="1" highlightClick="0" endSnd="0">
                  <a:extLst>
                    <a:ext uri="{A12FA001-AC4F-418D-AE19-62706E023703}">
                      <ahyp:hlinkClr xmlns:ahyp="http://schemas.microsoft.com/office/drawing/2018/hyperlinkcolor" val="tx"/>
                    </a:ext>
                  </a:extLst>
                </a:hlinkClick>
              </a:rPr>
              <a:t>Gopalakrishnan S</a:t>
            </a:r>
            <a:pPr algn="ctr" indent="0" marL="0">
              <a:buNone/>
            </a:pPr>
            <a:r>
              <a:rPr lang="en-US" sz="850" dirty="0">
                <a:solidFill>
                  <a:srgbClr val="5F6B73"/>
                </a:solidFill>
              </a:rPr>
              <a:t> - EMBAA25017 - </a:t>
            </a:r>
            <a:pPr algn="ctr" indent="0" marL="0">
              <a:buNone/>
            </a:pPr>
            <a:r>
              <a:rPr lang="en-US" sz="850" u="sng" dirty="0">
                <a:solidFill>
                  <a:srgbClr val="1F5FA8"/>
                </a:solidFill>
                <a:hlinkClick r:id="rId4" invalidUrl="" action="" tgtFrame="" tooltip="" history="1" highlightClick="0" endSnd="0">
                  <a:extLst>
                    <a:ext uri="{A12FA001-AC4F-418D-AE19-62706E023703}">
                      <ahyp:hlinkClr xmlns:ahyp="http://schemas.microsoft.com/office/drawing/2018/hyperlinkcolor" val="tx"/>
                    </a:ext>
                  </a:extLst>
                </a:hlinkClick>
              </a:rPr>
              <a:t>gopalakrishnan.embaa25017@iimkashipur.ac.in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5" invalidUrl="" action="" tgtFrame="" tooltip="Murugan Perumal on LinkedIn" history="1" highlightClick="0" endSnd="0">
                  <a:extLst>
                    <a:ext uri="{A12FA001-AC4F-418D-AE19-62706E023703}">
                      <ahyp:hlinkClr xmlns:ahyp="http://schemas.microsoft.com/office/drawing/2018/hyperlinkcolor" val="tx"/>
                    </a:ext>
                  </a:extLst>
                </a:hlinkClick>
              </a:rPr>
              <a:t>Murugan Perumal</a:t>
            </a:r>
            <a:pPr algn="ctr" indent="0" marL="0">
              <a:buNone/>
            </a:pPr>
            <a:r>
              <a:rPr lang="en-US" sz="850" dirty="0">
                <a:solidFill>
                  <a:srgbClr val="5F6B73"/>
                </a:solidFill>
              </a:rPr>
              <a:t> - EMBAA25020 - </a:t>
            </a:r>
            <a:pPr algn="ctr" indent="0" marL="0">
              <a:buNone/>
            </a:pPr>
            <a:r>
              <a:rPr lang="en-US" sz="850" u="sng" dirty="0">
                <a:solidFill>
                  <a:srgbClr val="1F5FA8"/>
                </a:solidFill>
                <a:hlinkClick r:id="rId6" invalidUrl="" action="" tgtFrame="" tooltip="" history="1" highlightClick="0" endSnd="0">
                  <a:extLst>
                    <a:ext uri="{A12FA001-AC4F-418D-AE19-62706E023703}">
                      <ahyp:hlinkClr xmlns:ahyp="http://schemas.microsoft.com/office/drawing/2018/hyperlinkcolor" val="tx"/>
                    </a:ext>
                  </a:extLst>
                </a:hlinkClick>
              </a:rPr>
              <a:t>murugan.embaa25020@iimkashipur.ac.in</a:t>
            </a:r>
            <a:pPr algn="ctr" indent="0" marL="0">
              <a:buNone/>
            </a:pPr>
            <a:endParaRPr lang="en-US" sz="850" dirty="0"/>
          </a:p>
          <a:p>
            <a:pPr algn="ctr" indent="0" marL="0">
              <a:buNone/>
            </a:pPr>
            <a:r>
              <a:rPr lang="en-US" sz="850" b="1" u="sng" dirty="0">
                <a:solidFill>
                  <a:srgbClr val="1F5FA8"/>
                </a:solidFill>
                <a:hlinkClick r:id="rId7" invalidUrl="" action="" tgtFrame="" tooltip="Aswin G. on LinkedIn" history="1" highlightClick="0" endSnd="0">
                  <a:extLst>
                    <a:ext uri="{A12FA001-AC4F-418D-AE19-62706E023703}">
                      <ahyp:hlinkClr xmlns:ahyp="http://schemas.microsoft.com/office/drawing/2018/hyperlinkcolor" val="tx"/>
                    </a:ext>
                  </a:extLst>
                </a:hlinkClick>
              </a:rPr>
              <a:t>Aswin G.</a:t>
            </a:r>
            <a:pPr algn="ctr" indent="0" marL="0">
              <a:buNone/>
            </a:pPr>
            <a:r>
              <a:rPr lang="en-US" sz="850" dirty="0">
                <a:solidFill>
                  <a:srgbClr val="5F6B73"/>
                </a:solidFill>
              </a:rPr>
              <a:t> - EMBAA25008 - </a:t>
            </a:r>
            <a:pPr algn="ctr" indent="0" marL="0">
              <a:buNone/>
            </a:pPr>
            <a:r>
              <a:rPr lang="en-US" sz="850" u="sng" dirty="0">
                <a:solidFill>
                  <a:srgbClr val="1F5FA8"/>
                </a:solidFill>
                <a:hlinkClick r:id="rId8" invalidUrl="" action="" tgtFrame="" tooltip="" history="1" highlightClick="0" endSnd="0">
                  <a:extLst>
                    <a:ext uri="{A12FA001-AC4F-418D-AE19-62706E023703}">
                      <ahyp:hlinkClr xmlns:ahyp="http://schemas.microsoft.com/office/drawing/2018/hyperlinkcolor" val="tx"/>
                    </a:ext>
                  </a:extLst>
                </a:hlinkClick>
              </a:rPr>
              <a:t>aswin.embaa25008@iimkashipur.ac.in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9" invalidUrl="" action="" tgtFrame="" tooltip="Atul Kumar Singh on LinkedIn" history="1" highlightClick="0" endSnd="0">
                  <a:extLst>
                    <a:ext uri="{A12FA001-AC4F-418D-AE19-62706E023703}">
                      <ahyp:hlinkClr xmlns:ahyp="http://schemas.microsoft.com/office/drawing/2018/hyperlinkcolor" val="tx"/>
                    </a:ext>
                  </a:extLst>
                </a:hlinkClick>
              </a:rPr>
              <a:t>Atul Kumar Singh</a:t>
            </a:r>
            <a:pPr algn="ctr" indent="0" marL="0">
              <a:buNone/>
            </a:pPr>
            <a:r>
              <a:rPr lang="en-US" sz="850" dirty="0">
                <a:solidFill>
                  <a:srgbClr val="5F6B73"/>
                </a:solidFill>
              </a:rPr>
              <a:t> - EMBAA25009 - </a:t>
            </a:r>
            <a:pPr algn="ctr" indent="0" marL="0">
              <a:buNone/>
            </a:pPr>
            <a:r>
              <a:rPr lang="en-US" sz="850" u="sng" dirty="0">
                <a:solidFill>
                  <a:srgbClr val="1F5FA8"/>
                </a:solidFill>
                <a:hlinkClick r:id="rId10" invalidUrl="" action="" tgtFrame="" tooltip="" history="1" highlightClick="0" endSnd="0">
                  <a:extLst>
                    <a:ext uri="{A12FA001-AC4F-418D-AE19-62706E023703}">
                      <ahyp:hlinkClr xmlns:ahyp="http://schemas.microsoft.com/office/drawing/2018/hyperlinkcolor" val="tx"/>
                    </a:ext>
                  </a:extLst>
                </a:hlinkClick>
              </a:rPr>
              <a:t>atul.embaa25009@iimkashipur.ac.in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11" invalidUrl="" action="" tgtFrame="" tooltip="Devanshu Priyam on LinkedIn" history="1" highlightClick="0" endSnd="0">
                  <a:extLst>
                    <a:ext uri="{A12FA001-AC4F-418D-AE19-62706E023703}">
                      <ahyp:hlinkClr xmlns:ahyp="http://schemas.microsoft.com/office/drawing/2018/hyperlinkcolor" val="tx"/>
                    </a:ext>
                  </a:extLst>
                </a:hlinkClick>
              </a:rPr>
              <a:t>Devanshu Priyam</a:t>
            </a:r>
            <a:pPr algn="ctr" indent="0" marL="0">
              <a:buNone/>
            </a:pPr>
            <a:r>
              <a:rPr lang="en-US" sz="850" dirty="0">
                <a:solidFill>
                  <a:srgbClr val="5F6B73"/>
                </a:solidFill>
              </a:rPr>
              <a:t> - EMBAA25014 - </a:t>
            </a:r>
            <a:pPr algn="ctr" indent="0" marL="0">
              <a:buNone/>
            </a:pPr>
            <a:r>
              <a:rPr lang="en-US" sz="850" u="sng" dirty="0">
                <a:solidFill>
                  <a:srgbClr val="1F5FA8"/>
                </a:solidFill>
                <a:hlinkClick r:id="rId12" invalidUrl="" action="" tgtFrame="" tooltip="" history="1" highlightClick="0" endSnd="0">
                  <a:extLst>
                    <a:ext uri="{A12FA001-AC4F-418D-AE19-62706E023703}">
                      <ahyp:hlinkClr xmlns:ahyp="http://schemas.microsoft.com/office/drawing/2018/hyperlinkcolor" val="tx"/>
                    </a:ext>
                  </a:extLst>
                </a:hlinkClick>
              </a:rPr>
              <a:t>devanshu.embaa25014@iimkashipur.ac.in</a:t>
            </a:r>
            <a:endParaRPr lang="en-US" sz="850" dirty="0"/>
          </a:p>
        </p:txBody>
      </p:sp>
      <p:sp>
        <p:nvSpPr>
          <p:cNvPr id="9" name="Pipeline step Fetch"/>
          <p:cNvSpPr/>
          <p:nvPr/>
        </p:nvSpPr>
        <p:spPr>
          <a:xfrm>
            <a:off x="457200" y="1645920"/>
            <a:ext cx="2011680" cy="1325880"/>
          </a:xfrm>
          <a:prstGeom prst="roundRect">
            <a:avLst>
              <a:gd name="adj" fmla="val 5517"/>
            </a:avLst>
          </a:prstGeom>
          <a:solidFill>
            <a:schemeClr val="bg2"/>
          </a:solidFill>
          <a:ln w="12700">
            <a:solidFill>
              <a:schemeClr val="bg2"/>
            </a:solidFill>
            <a:prstDash val="solid"/>
          </a:ln>
        </p:spPr>
      </p:sp>
      <p:sp>
        <p:nvSpPr>
          <p:cNvPr id="10" name="Text 7"/>
          <p:cNvSpPr txBox="1"/>
          <p:nvPr/>
        </p:nvSpPr>
        <p:spPr>
          <a:xfrm>
            <a:off x="594360" y="1737360"/>
            <a:ext cx="1737360" cy="320040"/>
          </a:xfrm>
          <a:prstGeom prst="rect">
            <a:avLst/>
          </a:prstGeom>
          <a:noFill/>
          <a:ln/>
        </p:spPr>
        <p:txBody>
          <a:bodyPr wrap="square" lIns="0" tIns="0" rIns="0" bIns="0" rtlCol="0" anchor="t"/>
          <a:lstStyle/>
          <a:p>
            <a:pPr indent="0" marL="0">
              <a:buNone/>
            </a:pPr>
            <a:r>
              <a:rPr lang="en-US" sz="1300" b="1" dirty="0">
                <a:solidFill>
                  <a:schemeClr val="accent1"/>
                </a:solidFill>
              </a:rPr>
              <a:t>01</a:t>
            </a:r>
            <a:endParaRPr lang="en-US" sz="1300" dirty="0"/>
          </a:p>
        </p:txBody>
      </p:sp>
      <p:sp>
        <p:nvSpPr>
          <p:cNvPr id="11" name="Text 8"/>
          <p:cNvSpPr txBox="1"/>
          <p:nvPr/>
        </p:nvSpPr>
        <p:spPr>
          <a:xfrm>
            <a:off x="594360" y="2029968"/>
            <a:ext cx="1737360" cy="41148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Fetch</a:t>
            </a:r>
            <a:endParaRPr lang="en-US" sz="1800" dirty="0"/>
          </a:p>
        </p:txBody>
      </p:sp>
      <p:sp>
        <p:nvSpPr>
          <p:cNvPr id="12" name="Text 9"/>
          <p:cNvSpPr txBox="1"/>
          <p:nvPr/>
        </p:nvSpPr>
        <p:spPr>
          <a:xfrm>
            <a:off x="594360" y="2450592"/>
            <a:ext cx="1737360" cy="457200"/>
          </a:xfrm>
          <a:prstGeom prst="rect">
            <a:avLst/>
          </a:prstGeom>
          <a:noFill/>
          <a:ln/>
        </p:spPr>
        <p:txBody>
          <a:bodyPr wrap="square" lIns="0" tIns="0" rIns="0" bIns="0" rtlCol="0" anchor="t"/>
          <a:lstStyle/>
          <a:p>
            <a:pPr indent="0" marL="0">
              <a:buNone/>
            </a:pPr>
            <a:r>
              <a:rPr lang="en-US" sz="1250" dirty="0">
                <a:solidFill>
                  <a:schemeClr val="accent6"/>
                </a:solidFill>
              </a:rPr>
              <a:t>16 series + provenance</a:t>
            </a:r>
            <a:endParaRPr lang="en-US" sz="1250" dirty="0"/>
          </a:p>
        </p:txBody>
      </p:sp>
      <p:sp>
        <p:nvSpPr>
          <p:cNvPr id="13" name="Arrow 0"/>
          <p:cNvSpPr/>
          <p:nvPr/>
        </p:nvSpPr>
        <p:spPr>
          <a:xfrm>
            <a:off x="2496312" y="2176272"/>
            <a:ext cx="219456" cy="274320"/>
          </a:xfrm>
          <a:prstGeom prst="rightArrow">
            <a:avLst/>
          </a:prstGeom>
          <a:solidFill>
            <a:schemeClr val="accent3"/>
          </a:solidFill>
          <a:ln w="12700">
            <a:solidFill>
              <a:schemeClr val="accent3"/>
            </a:solidFill>
            <a:prstDash val="solid"/>
          </a:ln>
        </p:spPr>
      </p:sp>
      <p:sp>
        <p:nvSpPr>
          <p:cNvPr id="14" name="Pipeline step Build"/>
          <p:cNvSpPr/>
          <p:nvPr/>
        </p:nvSpPr>
        <p:spPr>
          <a:xfrm>
            <a:off x="2743200" y="1645920"/>
            <a:ext cx="2011680" cy="1325880"/>
          </a:xfrm>
          <a:prstGeom prst="roundRect">
            <a:avLst>
              <a:gd name="adj" fmla="val 5517"/>
            </a:avLst>
          </a:prstGeom>
          <a:solidFill>
            <a:schemeClr val="bg2"/>
          </a:solidFill>
          <a:ln w="12700">
            <a:solidFill>
              <a:schemeClr val="bg2"/>
            </a:solidFill>
            <a:prstDash val="solid"/>
          </a:ln>
        </p:spPr>
      </p:sp>
      <p:sp>
        <p:nvSpPr>
          <p:cNvPr id="15" name="Text 12"/>
          <p:cNvSpPr txBox="1"/>
          <p:nvPr/>
        </p:nvSpPr>
        <p:spPr>
          <a:xfrm>
            <a:off x="2880360" y="1737360"/>
            <a:ext cx="1737360" cy="320040"/>
          </a:xfrm>
          <a:prstGeom prst="rect">
            <a:avLst/>
          </a:prstGeom>
          <a:noFill/>
          <a:ln/>
        </p:spPr>
        <p:txBody>
          <a:bodyPr wrap="square" lIns="0" tIns="0" rIns="0" bIns="0" rtlCol="0" anchor="t"/>
          <a:lstStyle/>
          <a:p>
            <a:pPr indent="0" marL="0">
              <a:buNone/>
            </a:pPr>
            <a:r>
              <a:rPr lang="en-US" sz="1300" b="1" dirty="0">
                <a:solidFill>
                  <a:schemeClr val="accent1"/>
                </a:solidFill>
              </a:rPr>
              <a:t>02</a:t>
            </a:r>
            <a:endParaRPr lang="en-US" sz="1300" dirty="0"/>
          </a:p>
        </p:txBody>
      </p:sp>
      <p:sp>
        <p:nvSpPr>
          <p:cNvPr id="16" name="Text 13"/>
          <p:cNvSpPr txBox="1"/>
          <p:nvPr/>
        </p:nvSpPr>
        <p:spPr>
          <a:xfrm>
            <a:off x="2880360" y="2029968"/>
            <a:ext cx="1737360" cy="41148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Build</a:t>
            </a:r>
            <a:endParaRPr lang="en-US" sz="1800" dirty="0"/>
          </a:p>
        </p:txBody>
      </p:sp>
      <p:sp>
        <p:nvSpPr>
          <p:cNvPr id="17" name="Text 14"/>
          <p:cNvSpPr txBox="1"/>
          <p:nvPr/>
        </p:nvSpPr>
        <p:spPr>
          <a:xfrm>
            <a:off x="2880360" y="2450592"/>
            <a:ext cx="1737360" cy="457200"/>
          </a:xfrm>
          <a:prstGeom prst="rect">
            <a:avLst/>
          </a:prstGeom>
          <a:noFill/>
          <a:ln/>
        </p:spPr>
        <p:txBody>
          <a:bodyPr wrap="square" lIns="0" tIns="0" rIns="0" bIns="0" rtlCol="0" anchor="t"/>
          <a:lstStyle/>
          <a:p>
            <a:pPr indent="0" marL="0">
              <a:buNone/>
            </a:pPr>
            <a:r>
              <a:rPr lang="en-US" sz="1250" dirty="0">
                <a:solidFill>
                  <a:schemeClr val="accent6"/>
                </a:solidFill>
              </a:rPr>
              <a:t>monthly merge, features, QA</a:t>
            </a:r>
            <a:endParaRPr lang="en-US" sz="1250" dirty="0"/>
          </a:p>
        </p:txBody>
      </p:sp>
      <p:sp>
        <p:nvSpPr>
          <p:cNvPr id="18" name="Arrow 1"/>
          <p:cNvSpPr/>
          <p:nvPr/>
        </p:nvSpPr>
        <p:spPr>
          <a:xfrm>
            <a:off x="4782312" y="2176272"/>
            <a:ext cx="219456" cy="274320"/>
          </a:xfrm>
          <a:prstGeom prst="rightArrow">
            <a:avLst/>
          </a:prstGeom>
          <a:solidFill>
            <a:schemeClr val="accent3"/>
          </a:solidFill>
          <a:ln w="12700">
            <a:solidFill>
              <a:schemeClr val="accent3"/>
            </a:solidFill>
            <a:prstDash val="solid"/>
          </a:ln>
        </p:spPr>
      </p:sp>
      <p:sp>
        <p:nvSpPr>
          <p:cNvPr id="19" name="Pipeline step Analyse"/>
          <p:cNvSpPr/>
          <p:nvPr/>
        </p:nvSpPr>
        <p:spPr>
          <a:xfrm>
            <a:off x="5029200" y="1645920"/>
            <a:ext cx="2011680" cy="1325880"/>
          </a:xfrm>
          <a:prstGeom prst="roundRect">
            <a:avLst>
              <a:gd name="adj" fmla="val 5517"/>
            </a:avLst>
          </a:prstGeom>
          <a:solidFill>
            <a:schemeClr val="bg2"/>
          </a:solidFill>
          <a:ln w="12700">
            <a:solidFill>
              <a:schemeClr val="bg2"/>
            </a:solidFill>
            <a:prstDash val="solid"/>
          </a:ln>
        </p:spPr>
      </p:sp>
      <p:sp>
        <p:nvSpPr>
          <p:cNvPr id="20" name="Text 17"/>
          <p:cNvSpPr txBox="1"/>
          <p:nvPr/>
        </p:nvSpPr>
        <p:spPr>
          <a:xfrm>
            <a:off x="5166360" y="1737360"/>
            <a:ext cx="1737360" cy="320040"/>
          </a:xfrm>
          <a:prstGeom prst="rect">
            <a:avLst/>
          </a:prstGeom>
          <a:noFill/>
          <a:ln/>
        </p:spPr>
        <p:txBody>
          <a:bodyPr wrap="square" lIns="0" tIns="0" rIns="0" bIns="0" rtlCol="0" anchor="t"/>
          <a:lstStyle/>
          <a:p>
            <a:pPr indent="0" marL="0">
              <a:buNone/>
            </a:pPr>
            <a:r>
              <a:rPr lang="en-US" sz="1300" b="1" dirty="0">
                <a:solidFill>
                  <a:schemeClr val="accent1"/>
                </a:solidFill>
              </a:rPr>
              <a:t>03–07</a:t>
            </a:r>
            <a:endParaRPr lang="en-US" sz="1300" dirty="0"/>
          </a:p>
        </p:txBody>
      </p:sp>
      <p:sp>
        <p:nvSpPr>
          <p:cNvPr id="21" name="Text 18"/>
          <p:cNvSpPr txBox="1"/>
          <p:nvPr/>
        </p:nvSpPr>
        <p:spPr>
          <a:xfrm>
            <a:off x="5166360" y="2029968"/>
            <a:ext cx="1737360" cy="41148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Analyse</a:t>
            </a:r>
            <a:endParaRPr lang="en-US" sz="1800" dirty="0"/>
          </a:p>
        </p:txBody>
      </p:sp>
      <p:sp>
        <p:nvSpPr>
          <p:cNvPr id="22" name="Text 19"/>
          <p:cNvSpPr txBox="1"/>
          <p:nvPr/>
        </p:nvSpPr>
        <p:spPr>
          <a:xfrm>
            <a:off x="5166360" y="2450592"/>
            <a:ext cx="1737360" cy="457200"/>
          </a:xfrm>
          <a:prstGeom prst="rect">
            <a:avLst/>
          </a:prstGeom>
          <a:noFill/>
          <a:ln/>
        </p:spPr>
        <p:txBody>
          <a:bodyPr wrap="square" lIns="0" tIns="0" rIns="0" bIns="0" rtlCol="0" anchor="t"/>
          <a:lstStyle/>
          <a:p>
            <a:pPr indent="0" marL="0">
              <a:buNone/>
            </a:pPr>
            <a:r>
              <a:rPr lang="en-US" sz="1250" dirty="0">
                <a:solidFill>
                  <a:schemeClr val="accent6"/>
                </a:solidFill>
              </a:rPr>
              <a:t>stats, models, scenarios</a:t>
            </a:r>
            <a:endParaRPr lang="en-US" sz="1250" dirty="0"/>
          </a:p>
        </p:txBody>
      </p:sp>
      <p:sp>
        <p:nvSpPr>
          <p:cNvPr id="23" name="Arrow 2"/>
          <p:cNvSpPr/>
          <p:nvPr/>
        </p:nvSpPr>
        <p:spPr>
          <a:xfrm>
            <a:off x="7068312" y="2176272"/>
            <a:ext cx="219456" cy="274320"/>
          </a:xfrm>
          <a:prstGeom prst="rightArrow">
            <a:avLst/>
          </a:prstGeom>
          <a:solidFill>
            <a:schemeClr val="accent3"/>
          </a:solidFill>
          <a:ln w="12700">
            <a:solidFill>
              <a:schemeClr val="accent3"/>
            </a:solidFill>
            <a:prstDash val="solid"/>
          </a:ln>
        </p:spPr>
      </p:sp>
      <p:sp>
        <p:nvSpPr>
          <p:cNvPr id="24" name="Pipeline step Dashboard"/>
          <p:cNvSpPr/>
          <p:nvPr/>
        </p:nvSpPr>
        <p:spPr>
          <a:xfrm>
            <a:off x="7315200" y="1645920"/>
            <a:ext cx="2011680" cy="1325880"/>
          </a:xfrm>
          <a:prstGeom prst="roundRect">
            <a:avLst>
              <a:gd name="adj" fmla="val 5517"/>
            </a:avLst>
          </a:prstGeom>
          <a:solidFill>
            <a:schemeClr val="tx2"/>
          </a:solidFill>
          <a:ln w="12700">
            <a:solidFill>
              <a:schemeClr val="tx2"/>
            </a:solidFill>
            <a:prstDash val="solid"/>
          </a:ln>
        </p:spPr>
      </p:sp>
      <p:sp>
        <p:nvSpPr>
          <p:cNvPr id="25" name="Text 22"/>
          <p:cNvSpPr txBox="1"/>
          <p:nvPr/>
        </p:nvSpPr>
        <p:spPr>
          <a:xfrm>
            <a:off x="7452360" y="1737360"/>
            <a:ext cx="1737360" cy="320040"/>
          </a:xfrm>
          <a:prstGeom prst="rect">
            <a:avLst/>
          </a:prstGeom>
          <a:noFill/>
          <a:ln/>
        </p:spPr>
        <p:txBody>
          <a:bodyPr wrap="square" lIns="0" tIns="0" rIns="0" bIns="0" rtlCol="0" anchor="t"/>
          <a:lstStyle/>
          <a:p>
            <a:pPr indent="0" marL="0">
              <a:buNone/>
            </a:pPr>
            <a:r>
              <a:rPr lang="en-US" sz="1300" b="1" dirty="0">
                <a:solidFill>
                  <a:schemeClr val="accent1"/>
                </a:solidFill>
              </a:rPr>
              <a:t>app.R</a:t>
            </a:r>
            <a:endParaRPr lang="en-US" sz="1300" dirty="0"/>
          </a:p>
        </p:txBody>
      </p:sp>
      <p:sp>
        <p:nvSpPr>
          <p:cNvPr id="26" name="Text 23"/>
          <p:cNvSpPr txBox="1"/>
          <p:nvPr/>
        </p:nvSpPr>
        <p:spPr>
          <a:xfrm>
            <a:off x="7452360" y="2029968"/>
            <a:ext cx="1737360" cy="411480"/>
          </a:xfrm>
          <a:prstGeom prst="rect">
            <a:avLst/>
          </a:prstGeom>
          <a:noFill/>
          <a:ln/>
        </p:spPr>
        <p:txBody>
          <a:bodyPr wrap="square" lIns="0" tIns="0" rIns="0" bIns="0" rtlCol="0" anchor="t"/>
          <a:lstStyle/>
          <a:p>
            <a:pPr indent="0" marL="0">
              <a:buNone/>
            </a:pPr>
            <a:r>
              <a:rPr lang="en-US" sz="1800" b="1" dirty="0">
                <a:solidFill>
                  <a:schemeClr val="bg1"/>
                </a:solidFill>
                <a:latin typeface="Cambria" pitchFamily="34" charset="0"/>
                <a:ea typeface="Cambria" pitchFamily="34" charset="-122"/>
                <a:cs typeface="Cambria" pitchFamily="34" charset="-120"/>
              </a:rPr>
              <a:t>Dashboard</a:t>
            </a:r>
            <a:endParaRPr lang="en-US" sz="1800" dirty="0"/>
          </a:p>
        </p:txBody>
      </p:sp>
      <p:sp>
        <p:nvSpPr>
          <p:cNvPr id="27" name="Text 24"/>
          <p:cNvSpPr txBox="1"/>
          <p:nvPr/>
        </p:nvSpPr>
        <p:spPr>
          <a:xfrm>
            <a:off x="7452360" y="2450592"/>
            <a:ext cx="1737360" cy="457200"/>
          </a:xfrm>
          <a:prstGeom prst="rect">
            <a:avLst/>
          </a:prstGeom>
          <a:noFill/>
          <a:ln/>
        </p:spPr>
        <p:txBody>
          <a:bodyPr wrap="square" lIns="0" tIns="0" rIns="0" bIns="0" rtlCol="0" anchor="t"/>
          <a:lstStyle/>
          <a:p>
            <a:pPr indent="0" marL="0">
              <a:buNone/>
            </a:pPr>
            <a:r>
              <a:rPr lang="en-US" sz="1250" dirty="0">
                <a:solidFill>
                  <a:schemeClr val="bg1"/>
                </a:solidFill>
              </a:rPr>
              <a:t>7 Shiny tabs</a:t>
            </a:r>
            <a:endParaRPr lang="en-US" sz="1250" dirty="0"/>
          </a:p>
        </p:txBody>
      </p:sp>
      <p:sp>
        <p:nvSpPr>
          <p:cNvPr id="28" name="Arrow 3"/>
          <p:cNvSpPr/>
          <p:nvPr/>
        </p:nvSpPr>
        <p:spPr>
          <a:xfrm>
            <a:off x="9354312" y="2176272"/>
            <a:ext cx="219456" cy="274320"/>
          </a:xfrm>
          <a:prstGeom prst="rightArrow">
            <a:avLst/>
          </a:prstGeom>
          <a:solidFill>
            <a:schemeClr val="accent3"/>
          </a:solidFill>
          <a:ln w="12700">
            <a:solidFill>
              <a:schemeClr val="accent3"/>
            </a:solidFill>
            <a:prstDash val="solid"/>
          </a:ln>
        </p:spPr>
      </p:sp>
      <p:sp>
        <p:nvSpPr>
          <p:cNvPr id="29" name="Pipeline step Refresh"/>
          <p:cNvSpPr/>
          <p:nvPr/>
        </p:nvSpPr>
        <p:spPr>
          <a:xfrm>
            <a:off x="9601200" y="1645920"/>
            <a:ext cx="2011680" cy="1325880"/>
          </a:xfrm>
          <a:prstGeom prst="roundRect">
            <a:avLst>
              <a:gd name="adj" fmla="val 5517"/>
            </a:avLst>
          </a:prstGeom>
          <a:solidFill>
            <a:schemeClr val="bg2"/>
          </a:solidFill>
          <a:ln w="12700">
            <a:solidFill>
              <a:schemeClr val="bg2"/>
            </a:solidFill>
            <a:prstDash val="solid"/>
          </a:ln>
        </p:spPr>
      </p:sp>
      <p:sp>
        <p:nvSpPr>
          <p:cNvPr id="30" name="Text 27"/>
          <p:cNvSpPr txBox="1"/>
          <p:nvPr/>
        </p:nvSpPr>
        <p:spPr>
          <a:xfrm>
            <a:off x="9738360" y="1737360"/>
            <a:ext cx="1737360" cy="320040"/>
          </a:xfrm>
          <a:prstGeom prst="rect">
            <a:avLst/>
          </a:prstGeom>
          <a:noFill/>
          <a:ln/>
        </p:spPr>
        <p:txBody>
          <a:bodyPr wrap="square" lIns="0" tIns="0" rIns="0" bIns="0" rtlCol="0" anchor="t"/>
          <a:lstStyle/>
          <a:p>
            <a:pPr indent="0" marL="0">
              <a:buNone/>
            </a:pPr>
            <a:r>
              <a:rPr lang="en-US" sz="1300" b="1" dirty="0">
                <a:solidFill>
                  <a:schemeClr val="accent1"/>
                </a:solidFill>
              </a:rPr>
              <a:t>08</a:t>
            </a:r>
            <a:endParaRPr lang="en-US" sz="1300" dirty="0"/>
          </a:p>
        </p:txBody>
      </p:sp>
      <p:sp>
        <p:nvSpPr>
          <p:cNvPr id="31" name="Text 28"/>
          <p:cNvSpPr txBox="1"/>
          <p:nvPr/>
        </p:nvSpPr>
        <p:spPr>
          <a:xfrm>
            <a:off x="9738360" y="2029968"/>
            <a:ext cx="1737360" cy="41148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Refresh</a:t>
            </a:r>
            <a:endParaRPr lang="en-US" sz="1800" dirty="0"/>
          </a:p>
        </p:txBody>
      </p:sp>
      <p:sp>
        <p:nvSpPr>
          <p:cNvPr id="32" name="Text 29"/>
          <p:cNvSpPr txBox="1"/>
          <p:nvPr/>
        </p:nvSpPr>
        <p:spPr>
          <a:xfrm>
            <a:off x="9738360" y="2450592"/>
            <a:ext cx="1737360" cy="457200"/>
          </a:xfrm>
          <a:prstGeom prst="rect">
            <a:avLst/>
          </a:prstGeom>
          <a:noFill/>
          <a:ln/>
        </p:spPr>
        <p:txBody>
          <a:bodyPr wrap="square" lIns="0" tIns="0" rIns="0" bIns="0" rtlCol="0" anchor="t"/>
          <a:lstStyle/>
          <a:p>
            <a:pPr indent="0" marL="0">
              <a:buNone/>
            </a:pPr>
            <a:r>
              <a:rPr lang="en-US" sz="1250" dirty="0">
                <a:solidFill>
                  <a:schemeClr val="accent6"/>
                </a:solidFill>
              </a:rPr>
              <a:t>live quotes, nowcast</a:t>
            </a:r>
            <a:endParaRPr lang="en-US" sz="1250" dirty="0"/>
          </a:p>
        </p:txBody>
      </p:sp>
      <p:sp>
        <p:nvSpPr>
          <p:cNvPr id="33" name="Text 30"/>
          <p:cNvSpPr txBox="1"/>
          <p:nvPr/>
        </p:nvSpPr>
        <p:spPr>
          <a:xfrm>
            <a:off x="457200" y="3246120"/>
            <a:ext cx="5486400" cy="36576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Feature engineering</a:t>
            </a:r>
            <a:endParaRPr lang="en-US" sz="1800" dirty="0"/>
          </a:p>
        </p:txBody>
      </p:sp>
      <p:sp>
        <p:nvSpPr>
          <p:cNvPr id="34" name="Text 31"/>
          <p:cNvSpPr txBox="1"/>
          <p:nvPr/>
        </p:nvSpPr>
        <p:spPr>
          <a:xfrm>
            <a:off x="457200" y="3703320"/>
            <a:ext cx="5760720" cy="23774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Daily → monthly: mean (oil, dollar, VIX), month-end and volatility (USD/INR)</a:t>
            </a:r>
            <a:endParaRPr lang="en-US" sz="1400" dirty="0"/>
          </a:p>
          <a:p>
            <a:pPr marL="342900" indent="-342900">
              <a:spcAft>
                <a:spcPts val="800"/>
              </a:spcAft>
              <a:buSzPct val="100000"/>
              <a:buChar char="•"/>
            </a:pPr>
            <a:r>
              <a:rPr lang="en-US" sz="1400" dirty="0">
                <a:solidFill>
                  <a:schemeClr val="tx1"/>
                </a:solidFill>
              </a:rPr>
              <a:t>Returns, India–US inflation gap and rate gap, trade balance, reserves change</a:t>
            </a:r>
            <a:endParaRPr lang="en-US" sz="1400" dirty="0"/>
          </a:p>
          <a:p>
            <a:pPr marL="342900" indent="-342900">
              <a:spcAft>
                <a:spcPts val="800"/>
              </a:spcAft>
              <a:buSzPct val="100000"/>
              <a:buChar char="•"/>
            </a:pPr>
            <a:r>
              <a:rPr lang="en-US" sz="1400" dirty="0">
                <a:solidFill>
                  <a:schemeClr val="tx1"/>
                </a:solidFill>
              </a:rPr>
              <a:t>One-month lags (L1_*) so forecasts use only data known in advance</a:t>
            </a:r>
            <a:endParaRPr lang="en-US" sz="1400" dirty="0"/>
          </a:p>
          <a:p>
            <a:pPr marL="342900" indent="-342900">
              <a:spcAft>
                <a:spcPts val="800"/>
              </a:spcAft>
              <a:buSzPct val="100000"/>
              <a:buChar char="•"/>
            </a:pPr>
            <a:r>
              <a:rPr lang="en-US" sz="1400" dirty="0">
                <a:solidFill>
                  <a:schemeClr val="tx1"/>
                </a:solidFill>
              </a:rPr>
              <a:t>High-pressure month = depreciation above 1.26% (train 75th percentile)</a:t>
            </a:r>
            <a:endParaRPr lang="en-US" sz="1400" dirty="0"/>
          </a:p>
        </p:txBody>
      </p:sp>
      <p:sp>
        <p:nvSpPr>
          <p:cNvPr id="35" name="ADF card"/>
          <p:cNvSpPr/>
          <p:nvPr/>
        </p:nvSpPr>
        <p:spPr>
          <a:xfrm>
            <a:off x="6583680" y="3246120"/>
            <a:ext cx="5166360" cy="1280160"/>
          </a:xfrm>
          <a:prstGeom prst="roundRect">
            <a:avLst>
              <a:gd name="adj" fmla="val 5714"/>
            </a:avLst>
          </a:prstGeom>
          <a:solidFill>
            <a:schemeClr val="bg2"/>
          </a:solidFill>
          <a:ln w="12700">
            <a:solidFill>
              <a:schemeClr val="bg2"/>
            </a:solidFill>
            <a:prstDash val="solid"/>
          </a:ln>
        </p:spPr>
      </p:sp>
      <p:sp>
        <p:nvSpPr>
          <p:cNvPr id="36" name="Text 33"/>
          <p:cNvSpPr txBox="1"/>
          <p:nvPr/>
        </p:nvSpPr>
        <p:spPr>
          <a:xfrm>
            <a:off x="6766560" y="3364992"/>
            <a:ext cx="4800600" cy="1097280"/>
          </a:xfrm>
          <a:prstGeom prst="rect">
            <a:avLst/>
          </a:prstGeom>
          <a:noFill/>
          <a:ln/>
        </p:spPr>
        <p:txBody>
          <a:bodyPr wrap="square" lIns="0" tIns="0" rIns="0" bIns="0" rtlCol="0" anchor="t"/>
          <a:lstStyle/>
          <a:p>
            <a:pPr indent="0" marL="0">
              <a:buNone/>
            </a:pPr>
            <a:r>
              <a:rPr lang="en-US" sz="1400" b="1" dirty="0">
                <a:solidFill>
                  <a:srgbClr val="0F2A3A"/>
                </a:solidFill>
              </a:rPr>
              <a:t>Why returns, not levels? </a:t>
            </a:r>
            <a:pPr indent="0" marL="0">
              <a:buNone/>
            </a:pPr>
            <a:r>
              <a:rPr lang="en-US" sz="1400" dirty="0">
                <a:solidFill>
                  <a:schemeClr val="tx1"/>
                </a:solidFill>
              </a:rPr>
              <a:t>ADF test: USD/INR level p = 0.34, Brent p = 0.60 (non-stationary). Their returns: p ≤ 0.01 (stationary).</a:t>
            </a:r>
            <a:endParaRPr lang="en-US" sz="1400" dirty="0"/>
          </a:p>
        </p:txBody>
      </p:sp>
      <p:sp>
        <p:nvSpPr>
          <p:cNvPr id="37" name="Text 34"/>
          <p:cNvSpPr txBox="1"/>
          <p:nvPr/>
        </p:nvSpPr>
        <p:spPr>
          <a:xfrm>
            <a:off x="6583680" y="4681728"/>
            <a:ext cx="5166360" cy="320040"/>
          </a:xfrm>
          <a:prstGeom prst="rect">
            <a:avLst/>
          </a:prstGeom>
          <a:noFill/>
          <a:ln/>
        </p:spPr>
        <p:txBody>
          <a:bodyPr wrap="square" lIns="0" tIns="0" rIns="0" bIns="0" rtlCol="0" anchor="t"/>
          <a:lstStyle/>
          <a:p>
            <a:pPr indent="0" marL="0">
              <a:buNone/>
            </a:pPr>
            <a:r>
              <a:rPr lang="en-US" sz="1400" b="1" dirty="0">
                <a:solidFill>
                  <a:schemeClr val="tx2"/>
                </a:solidFill>
              </a:rPr>
              <a:t>Chronological split, never random</a:t>
            </a:r>
            <a:endParaRPr lang="en-US" sz="1400" dirty="0"/>
          </a:p>
        </p:txBody>
      </p:sp>
      <p:sp>
        <p:nvSpPr>
          <p:cNvPr id="38" name="Train bar"/>
          <p:cNvSpPr/>
          <p:nvPr/>
        </p:nvSpPr>
        <p:spPr>
          <a:xfrm>
            <a:off x="6583680" y="5074920"/>
            <a:ext cx="3749040" cy="502920"/>
          </a:xfrm>
          <a:prstGeom prst="rect">
            <a:avLst/>
          </a:prstGeom>
          <a:solidFill>
            <a:schemeClr val="accent2"/>
          </a:solidFill>
          <a:ln w="12700">
            <a:solidFill>
              <a:schemeClr val="accent2"/>
            </a:solidFill>
            <a:prstDash val="solid"/>
          </a:ln>
        </p:spPr>
      </p:sp>
      <p:sp>
        <p:nvSpPr>
          <p:cNvPr id="39" name="Text 36"/>
          <p:cNvSpPr txBox="1"/>
          <p:nvPr/>
        </p:nvSpPr>
        <p:spPr>
          <a:xfrm>
            <a:off x="6675120" y="5074920"/>
            <a:ext cx="3566160" cy="502920"/>
          </a:xfrm>
          <a:prstGeom prst="rect">
            <a:avLst/>
          </a:prstGeom>
          <a:noFill/>
          <a:ln/>
        </p:spPr>
        <p:txBody>
          <a:bodyPr wrap="square" lIns="0" tIns="0" rIns="0" bIns="0" rtlCol="0" anchor="ctr"/>
          <a:lstStyle/>
          <a:p>
            <a:pPr indent="0" marL="0">
              <a:buNone/>
            </a:pPr>
            <a:r>
              <a:rPr lang="en-US" sz="1250" b="1" dirty="0">
                <a:solidFill>
                  <a:schemeClr val="bg1"/>
                </a:solidFill>
              </a:rPr>
              <a:t>Train: Feb 2012 – Dec 2022 (131 months)</a:t>
            </a:r>
            <a:endParaRPr lang="en-US" sz="1250" dirty="0"/>
          </a:p>
        </p:txBody>
      </p:sp>
      <p:sp>
        <p:nvSpPr>
          <p:cNvPr id="40" name="Test bar"/>
          <p:cNvSpPr/>
          <p:nvPr/>
        </p:nvSpPr>
        <p:spPr>
          <a:xfrm>
            <a:off x="10378440" y="5074920"/>
            <a:ext cx="1371600" cy="502920"/>
          </a:xfrm>
          <a:prstGeom prst="rect">
            <a:avLst/>
          </a:prstGeom>
          <a:solidFill>
            <a:schemeClr val="accent1"/>
          </a:solidFill>
          <a:ln w="12700">
            <a:solidFill>
              <a:schemeClr val="accent1"/>
            </a:solidFill>
            <a:prstDash val="solid"/>
          </a:ln>
        </p:spPr>
      </p:sp>
      <p:sp>
        <p:nvSpPr>
          <p:cNvPr id="41" name="Text 38"/>
          <p:cNvSpPr txBox="1"/>
          <p:nvPr/>
        </p:nvSpPr>
        <p:spPr>
          <a:xfrm>
            <a:off x="10424160" y="5074920"/>
            <a:ext cx="1280160" cy="502920"/>
          </a:xfrm>
          <a:prstGeom prst="rect">
            <a:avLst/>
          </a:prstGeom>
          <a:noFill/>
          <a:ln/>
        </p:spPr>
        <p:txBody>
          <a:bodyPr wrap="square" lIns="0" tIns="0" rIns="0" bIns="0" rtlCol="0" anchor="ctr"/>
          <a:lstStyle/>
          <a:p>
            <a:pPr algn="ctr" indent="0" marL="0">
              <a:buNone/>
            </a:pPr>
            <a:r>
              <a:rPr lang="en-US" sz="1150" b="1" dirty="0">
                <a:solidFill>
                  <a:schemeClr val="bg1"/>
                </a:solidFill>
              </a:rPr>
              <a:t>Test: 2023–26 (43)</a:t>
            </a:r>
            <a:endParaRPr lang="en-US" sz="1150" dirty="0"/>
          </a:p>
        </p:txBody>
      </p:sp>
      <p:sp>
        <p:nvSpPr>
          <p:cNvPr id="25" name="Slide Number Placeholder 0"/>
          <p:cNvSpPr>
            <a:spLocks noGrp="1"/>
          </p:cNvSpPr>
          <p:nvPr>
            <p:ph type="sldNum" sz="quarter" idx="4294967295"/>
          </p:nvPr>
        </p:nvSpPr>
        <p:spPr>
          <a:xfrm>
            <a:off x="10927080" y="6382512"/>
            <a:ext cx="420624" cy="329184"/>
          </a:xfrm>
          <a:prstGeom prst="rect">
            <a:avLst/>
          </a:prstGeom>
          <a:extLst>
            <a:ext uri="{C572A759-6A51-4108-AA02-DFA0A04FC94B}">
              <ma14:wrappingTextBoxFlag xmlns:ma14="http://schemas.microsoft.com/office/mac/drawingml/2011/main" val="0"/>
            </a:ext>
          </a:extLst>
        </p:spPr>
        <p:txBody>
          <a:bodyPr/>
          <a:lstStyle>
            <a:lvl1pPr>
              <a:defRPr sz="1200">
                <a:solidFill>
                  <a:srgbClr val="0F2A3A"/>
                </a:solidFill>
                <a:latin typeface="Calibri"/>
                <a:ea typeface="Calibri"/>
                <a:cs typeface="Calibri"/>
              </a:defRPr>
            </a:lvl1pPr>
          </a:lstStyle>
          <a:p>
            <a:pPr algn="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5"/>
          <p:cNvSpPr/>
          <p:nvPr>
            <p:ph idx="105" type="title" hasCustomPrompt="1"/>
          </p:nvPr>
        </p:nvSpPr>
        <p:spPr>
          <a:xfrm>
            <a:off x="365760" y="502920"/>
            <a:ext cx="10058400" cy="868680"/>
          </a:xfrm>
          <a:prstGeom prst="rect">
            <a:avLst/>
          </a:prstGeom>
          <a:noFill/>
          <a:ln/>
        </p:spPr>
        <p:txBody>
          <a:bodyPr wrap="square" lIns="0" tIns="0" rIns="0" bIns="0" rtlCol="0" anchor="ctr"/>
          <a:lstStyle/>
          <a:p>
            <a:pPr algn="l" indent="0" marL="0">
              <a:buNone/>
            </a:pPr>
            <a:r>
              <a:rPr lang="en-US" sz="2800" b="1" dirty="0">
                <a:solidFill>
                  <a:srgbClr val="FFFFFF"/>
                </a:solidFill>
              </a:rPr>
              <a:t>Descriptive analytics: depreciation is the most common month</a:t>
            </a:r>
            <a:endParaRPr lang="en-US" sz="2800" dirty="0"/>
          </a:p>
        </p:txBody>
      </p:sp>
      <p:sp>
        <p:nvSpPr>
          <p:cNvPr id="3" name="Current presenter"/>
          <p:cNvSpPr txBox="1"/>
          <p:nvPr/>
        </p:nvSpPr>
        <p:spPr>
          <a:xfrm>
            <a:off x="8869680" y="91440"/>
            <a:ext cx="3063240" cy="310896"/>
          </a:xfrm>
          <a:prstGeom prst="rect">
            <a:avLst/>
          </a:prstGeom>
          <a:noFill/>
          <a:ln/>
        </p:spPr>
        <p:txBody>
          <a:bodyPr wrap="square" lIns="0" tIns="0" rIns="0" bIns="0" rtlCol="0" anchor="ctr"/>
          <a:lstStyle/>
          <a:p>
            <a:pPr algn="r" indent="0" marL="0">
              <a:buNone/>
            </a:pPr>
            <a:r>
              <a:rPr lang="en-US" sz="1100" dirty="0">
                <a:solidFill>
                  <a:srgbClr val="5F6B73"/>
                </a:solidFill>
              </a:rPr>
              <a:t>Presenter: </a:t>
            </a:r>
            <a:pPr algn="r" indent="0" marL="0">
              <a:buNone/>
            </a:pPr>
            <a:r>
              <a:rPr lang="en-US" sz="1100" b="1" dirty="0">
                <a:solidFill>
                  <a:srgbClr val="0F2A3A"/>
                </a:solidFill>
              </a:rPr>
              <a:t>Gopalakrishnan S - EMBAA25017</a:t>
            </a:r>
            <a:endParaRPr lang="en-US" sz="1100" dirty="0"/>
          </a:p>
        </p:txBody>
      </p:sp>
      <p:sp>
        <p:nvSpPr>
          <p:cNvPr id="4" name="Presenter photo placeholder"/>
          <p:cNvSpPr/>
          <p:nvPr/>
        </p:nvSpPr>
        <p:spPr>
          <a:xfrm>
            <a:off x="10744200" y="502920"/>
            <a:ext cx="1188720" cy="868680"/>
          </a:xfrm>
          <a:prstGeom prst="rect">
            <a:avLst/>
          </a:prstGeom>
          <a:solidFill>
            <a:schemeClr val="accent2"/>
          </a:solidFill>
          <a:ln w="12700">
            <a:solidFill>
              <a:schemeClr val="accent2"/>
            </a:solidFill>
            <a:prstDash val="solid"/>
          </a:ln>
        </p:spPr>
      </p:sp>
      <p:sp>
        <p:nvSpPr>
          <p:cNvPr id="5" name="Presenter initials"/>
          <p:cNvSpPr txBox="1"/>
          <p:nvPr/>
        </p:nvSpPr>
        <p:spPr>
          <a:xfrm>
            <a:off x="10744200" y="502920"/>
            <a:ext cx="1188720" cy="868680"/>
          </a:xfrm>
          <a:prstGeom prst="rect">
            <a:avLst/>
          </a:prstGeom>
          <a:noFill/>
          <a:ln/>
        </p:spPr>
        <p:txBody>
          <a:bodyPr wrap="square" lIns="0" tIns="0" rIns="0" bIns="0" rtlCol="0" anchor="ctr"/>
          <a:lstStyle/>
          <a:p>
            <a:pPr algn="ctr" indent="0" marL="0">
              <a:buNone/>
            </a:pPr>
            <a:r>
              <a:rPr lang="en-US" sz="2600" b="1" dirty="0">
                <a:solidFill>
                  <a:schemeClr val="bg1"/>
                </a:solidFill>
              </a:rPr>
              <a:t>GS</a:t>
            </a:r>
            <a:endParaRPr lang="en-US" sz="2600" dirty="0"/>
          </a:p>
        </p:txBody>
      </p:sp>
      <p:sp>
        <p:nvSpPr>
          <p:cNvPr id="6" name="Footer rule"/>
          <p:cNvSpPr/>
          <p:nvPr/>
        </p:nvSpPr>
        <p:spPr>
          <a:xfrm>
            <a:off x="274320" y="6272784"/>
            <a:ext cx="10515600" cy="0"/>
          </a:xfrm>
          <a:prstGeom prst="line">
            <a:avLst/>
          </a:prstGeom>
          <a:noFill/>
          <a:ln w="12700">
            <a:solidFill>
              <a:srgbClr val="EEF2F4"/>
            </a:solidFill>
            <a:prstDash val="solid"/>
          </a:ln>
        </p:spPr>
      </p:sp>
      <p:sp>
        <p:nvSpPr>
          <p:cNvPr id="7" name="Team footer"/>
          <p:cNvSpPr txBox="1"/>
          <p:nvPr/>
        </p:nvSpPr>
        <p:spPr>
          <a:xfrm>
            <a:off x="274320" y="6309360"/>
            <a:ext cx="10515600" cy="457200"/>
          </a:xfrm>
          <a:prstGeom prst="rect">
            <a:avLst/>
          </a:prstGeom>
          <a:noFill/>
          <a:ln/>
        </p:spPr>
        <p:txBody>
          <a:bodyPr wrap="square" lIns="0" tIns="0" rIns="0" bIns="0" rtlCol="0" anchor="ctr"/>
          <a:lstStyle/>
          <a:p>
            <a:pPr algn="ctr" indent="0" marL="0">
              <a:buNone/>
            </a:pPr>
            <a:r>
              <a:rPr lang="en-US" sz="850" b="1" u="sng" dirty="0">
                <a:solidFill>
                  <a:srgbClr val="1F5FA8"/>
                </a:solidFill>
                <a:hlinkClick r:id="rId1" invalidUrl="" action="" tgtFrame="" tooltip="Ankit Singh on LinkedIn" history="1" highlightClick="0" endSnd="0">
                  <a:extLst>
                    <a:ext uri="{A12FA001-AC4F-418D-AE19-62706E023703}">
                      <ahyp:hlinkClr xmlns:ahyp="http://schemas.microsoft.com/office/drawing/2018/hyperlinkcolor" val="tx"/>
                    </a:ext>
                  </a:extLst>
                </a:hlinkClick>
              </a:rPr>
              <a:t>Ankit Singh</a:t>
            </a:r>
            <a:pPr algn="ctr" indent="0" marL="0">
              <a:buNone/>
            </a:pPr>
            <a:r>
              <a:rPr lang="en-US" sz="850" dirty="0">
                <a:solidFill>
                  <a:srgbClr val="5F6B73"/>
                </a:solidFill>
              </a:rPr>
              <a:t> - EMBAA25004 - </a:t>
            </a:r>
            <a:pPr algn="ctr" indent="0" marL="0">
              <a:buNone/>
            </a:pPr>
            <a:r>
              <a:rPr lang="en-US" sz="850" u="sng" dirty="0">
                <a:solidFill>
                  <a:srgbClr val="1F5FA8"/>
                </a:solidFill>
                <a:hlinkClick r:id="rId2" invalidUrl="" action="" tgtFrame="" tooltip="" history="1" highlightClick="0" endSnd="0">
                  <a:extLst>
                    <a:ext uri="{A12FA001-AC4F-418D-AE19-62706E023703}">
                      <ahyp:hlinkClr xmlns:ahyp="http://schemas.microsoft.com/office/drawing/2018/hyperlinkcolor" val="tx"/>
                    </a:ext>
                  </a:extLst>
                </a:hlinkClick>
              </a:rPr>
              <a:t>ankit.embaa25004@iimkashipur.ac.in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3" invalidUrl="" action="" tgtFrame="" tooltip="Gopalakrishnan S on LinkedIn" history="1" highlightClick="0" endSnd="0">
                  <a:extLst>
                    <a:ext uri="{A12FA001-AC4F-418D-AE19-62706E023703}">
                      <ahyp:hlinkClr xmlns:ahyp="http://schemas.microsoft.com/office/drawing/2018/hyperlinkcolor" val="tx"/>
                    </a:ext>
                  </a:extLst>
                </a:hlinkClick>
              </a:rPr>
              <a:t>Gopalakrishnan S</a:t>
            </a:r>
            <a:pPr algn="ctr" indent="0" marL="0">
              <a:buNone/>
            </a:pPr>
            <a:r>
              <a:rPr lang="en-US" sz="850" dirty="0">
                <a:solidFill>
                  <a:srgbClr val="5F6B73"/>
                </a:solidFill>
              </a:rPr>
              <a:t> - EMBAA25017 - </a:t>
            </a:r>
            <a:pPr algn="ctr" indent="0" marL="0">
              <a:buNone/>
            </a:pPr>
            <a:r>
              <a:rPr lang="en-US" sz="850" u="sng" dirty="0">
                <a:solidFill>
                  <a:srgbClr val="1F5FA8"/>
                </a:solidFill>
                <a:hlinkClick r:id="rId4" invalidUrl="" action="" tgtFrame="" tooltip="" history="1" highlightClick="0" endSnd="0">
                  <a:extLst>
                    <a:ext uri="{A12FA001-AC4F-418D-AE19-62706E023703}">
                      <ahyp:hlinkClr xmlns:ahyp="http://schemas.microsoft.com/office/drawing/2018/hyperlinkcolor" val="tx"/>
                    </a:ext>
                  </a:extLst>
                </a:hlinkClick>
              </a:rPr>
              <a:t>gopalakrishnan.embaa25017@iimkashipur.ac.in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5" invalidUrl="" action="" tgtFrame="" tooltip="Murugan Perumal on LinkedIn" history="1" highlightClick="0" endSnd="0">
                  <a:extLst>
                    <a:ext uri="{A12FA001-AC4F-418D-AE19-62706E023703}">
                      <ahyp:hlinkClr xmlns:ahyp="http://schemas.microsoft.com/office/drawing/2018/hyperlinkcolor" val="tx"/>
                    </a:ext>
                  </a:extLst>
                </a:hlinkClick>
              </a:rPr>
              <a:t>Murugan Perumal</a:t>
            </a:r>
            <a:pPr algn="ctr" indent="0" marL="0">
              <a:buNone/>
            </a:pPr>
            <a:r>
              <a:rPr lang="en-US" sz="850" dirty="0">
                <a:solidFill>
                  <a:srgbClr val="5F6B73"/>
                </a:solidFill>
              </a:rPr>
              <a:t> - EMBAA25020 - </a:t>
            </a:r>
            <a:pPr algn="ctr" indent="0" marL="0">
              <a:buNone/>
            </a:pPr>
            <a:r>
              <a:rPr lang="en-US" sz="850" u="sng" dirty="0">
                <a:solidFill>
                  <a:srgbClr val="1F5FA8"/>
                </a:solidFill>
                <a:hlinkClick r:id="rId6" invalidUrl="" action="" tgtFrame="" tooltip="" history="1" highlightClick="0" endSnd="0">
                  <a:extLst>
                    <a:ext uri="{A12FA001-AC4F-418D-AE19-62706E023703}">
                      <ahyp:hlinkClr xmlns:ahyp="http://schemas.microsoft.com/office/drawing/2018/hyperlinkcolor" val="tx"/>
                    </a:ext>
                  </a:extLst>
                </a:hlinkClick>
              </a:rPr>
              <a:t>murugan.embaa25020@iimkashipur.ac.in</a:t>
            </a:r>
            <a:pPr algn="ctr" indent="0" marL="0">
              <a:buNone/>
            </a:pPr>
            <a:endParaRPr lang="en-US" sz="850" dirty="0"/>
          </a:p>
          <a:p>
            <a:pPr algn="ctr" indent="0" marL="0">
              <a:buNone/>
            </a:pPr>
            <a:r>
              <a:rPr lang="en-US" sz="850" b="1" u="sng" dirty="0">
                <a:solidFill>
                  <a:srgbClr val="1F5FA8"/>
                </a:solidFill>
                <a:hlinkClick r:id="rId7" invalidUrl="" action="" tgtFrame="" tooltip="Aswin G. on LinkedIn" history="1" highlightClick="0" endSnd="0">
                  <a:extLst>
                    <a:ext uri="{A12FA001-AC4F-418D-AE19-62706E023703}">
                      <ahyp:hlinkClr xmlns:ahyp="http://schemas.microsoft.com/office/drawing/2018/hyperlinkcolor" val="tx"/>
                    </a:ext>
                  </a:extLst>
                </a:hlinkClick>
              </a:rPr>
              <a:t>Aswin G.</a:t>
            </a:r>
            <a:pPr algn="ctr" indent="0" marL="0">
              <a:buNone/>
            </a:pPr>
            <a:r>
              <a:rPr lang="en-US" sz="850" dirty="0">
                <a:solidFill>
                  <a:srgbClr val="5F6B73"/>
                </a:solidFill>
              </a:rPr>
              <a:t> - EMBAA25008 - </a:t>
            </a:r>
            <a:pPr algn="ctr" indent="0" marL="0">
              <a:buNone/>
            </a:pPr>
            <a:r>
              <a:rPr lang="en-US" sz="850" u="sng" dirty="0">
                <a:solidFill>
                  <a:srgbClr val="1F5FA8"/>
                </a:solidFill>
                <a:hlinkClick r:id="rId8" invalidUrl="" action="" tgtFrame="" tooltip="" history="1" highlightClick="0" endSnd="0">
                  <a:extLst>
                    <a:ext uri="{A12FA001-AC4F-418D-AE19-62706E023703}">
                      <ahyp:hlinkClr xmlns:ahyp="http://schemas.microsoft.com/office/drawing/2018/hyperlinkcolor" val="tx"/>
                    </a:ext>
                  </a:extLst>
                </a:hlinkClick>
              </a:rPr>
              <a:t>aswin.embaa25008@iimkashipur.ac.in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9" invalidUrl="" action="" tgtFrame="" tooltip="Atul Kumar Singh on LinkedIn" history="1" highlightClick="0" endSnd="0">
                  <a:extLst>
                    <a:ext uri="{A12FA001-AC4F-418D-AE19-62706E023703}">
                      <ahyp:hlinkClr xmlns:ahyp="http://schemas.microsoft.com/office/drawing/2018/hyperlinkcolor" val="tx"/>
                    </a:ext>
                  </a:extLst>
                </a:hlinkClick>
              </a:rPr>
              <a:t>Atul Kumar Singh</a:t>
            </a:r>
            <a:pPr algn="ctr" indent="0" marL="0">
              <a:buNone/>
            </a:pPr>
            <a:r>
              <a:rPr lang="en-US" sz="850" dirty="0">
                <a:solidFill>
                  <a:srgbClr val="5F6B73"/>
                </a:solidFill>
              </a:rPr>
              <a:t> - EMBAA25009 - </a:t>
            </a:r>
            <a:pPr algn="ctr" indent="0" marL="0">
              <a:buNone/>
            </a:pPr>
            <a:r>
              <a:rPr lang="en-US" sz="850" u="sng" dirty="0">
                <a:solidFill>
                  <a:srgbClr val="1F5FA8"/>
                </a:solidFill>
                <a:hlinkClick r:id="rId10" invalidUrl="" action="" tgtFrame="" tooltip="" history="1" highlightClick="0" endSnd="0">
                  <a:extLst>
                    <a:ext uri="{A12FA001-AC4F-418D-AE19-62706E023703}">
                      <ahyp:hlinkClr xmlns:ahyp="http://schemas.microsoft.com/office/drawing/2018/hyperlinkcolor" val="tx"/>
                    </a:ext>
                  </a:extLst>
                </a:hlinkClick>
              </a:rPr>
              <a:t>atul.embaa25009@iimkashipur.ac.in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11" invalidUrl="" action="" tgtFrame="" tooltip="Devanshu Priyam on LinkedIn" history="1" highlightClick="0" endSnd="0">
                  <a:extLst>
                    <a:ext uri="{A12FA001-AC4F-418D-AE19-62706E023703}">
                      <ahyp:hlinkClr xmlns:ahyp="http://schemas.microsoft.com/office/drawing/2018/hyperlinkcolor" val="tx"/>
                    </a:ext>
                  </a:extLst>
                </a:hlinkClick>
              </a:rPr>
              <a:t>Devanshu Priyam</a:t>
            </a:r>
            <a:pPr algn="ctr" indent="0" marL="0">
              <a:buNone/>
            </a:pPr>
            <a:r>
              <a:rPr lang="en-US" sz="850" dirty="0">
                <a:solidFill>
                  <a:srgbClr val="5F6B73"/>
                </a:solidFill>
              </a:rPr>
              <a:t> - EMBAA25014 - </a:t>
            </a:r>
            <a:pPr algn="ctr" indent="0" marL="0">
              <a:buNone/>
            </a:pPr>
            <a:r>
              <a:rPr lang="en-US" sz="850" u="sng" dirty="0">
                <a:solidFill>
                  <a:srgbClr val="1F5FA8"/>
                </a:solidFill>
                <a:hlinkClick r:id="rId12" invalidUrl="" action="" tgtFrame="" tooltip="" history="1" highlightClick="0" endSnd="0">
                  <a:extLst>
                    <a:ext uri="{A12FA001-AC4F-418D-AE19-62706E023703}">
                      <ahyp:hlinkClr xmlns:ahyp="http://schemas.microsoft.com/office/drawing/2018/hyperlinkcolor" val="tx"/>
                    </a:ext>
                  </a:extLst>
                </a:hlinkClick>
              </a:rPr>
              <a:t>devanshu.embaa25014@iimkashipur.ac.in</a:t>
            </a:r>
            <a:endParaRPr lang="en-US" sz="850" dirty="0"/>
          </a:p>
        </p:txBody>
      </p:sp>
      <p:sp>
        <p:nvSpPr>
          <p:cNvPr id="9" name="Stat of months: depreciat"/>
          <p:cNvSpPr/>
          <p:nvPr/>
        </p:nvSpPr>
        <p:spPr>
          <a:xfrm>
            <a:off x="457200" y="1645920"/>
            <a:ext cx="2514600" cy="1508760"/>
          </a:xfrm>
          <a:prstGeom prst="roundRect">
            <a:avLst>
              <a:gd name="adj" fmla="val 4848"/>
            </a:avLst>
          </a:prstGeom>
          <a:solidFill>
            <a:schemeClr val="bg2"/>
          </a:solidFill>
          <a:ln w="12700">
            <a:solidFill>
              <a:schemeClr val="bg2"/>
            </a:solidFill>
            <a:prstDash val="solid"/>
          </a:ln>
        </p:spPr>
      </p:sp>
      <p:sp>
        <p:nvSpPr>
          <p:cNvPr id="10" name="Text 7"/>
          <p:cNvSpPr txBox="1"/>
          <p:nvPr/>
        </p:nvSpPr>
        <p:spPr>
          <a:xfrm>
            <a:off x="640080" y="1783080"/>
            <a:ext cx="2148840" cy="73152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42%</a:t>
            </a:r>
            <a:endParaRPr lang="en-US" sz="3600" dirty="0"/>
          </a:p>
        </p:txBody>
      </p:sp>
      <p:sp>
        <p:nvSpPr>
          <p:cNvPr id="11" name="Text 8"/>
          <p:cNvSpPr txBox="1"/>
          <p:nvPr/>
        </p:nvSpPr>
        <p:spPr>
          <a:xfrm>
            <a:off x="640080" y="2514600"/>
            <a:ext cx="2148840" cy="548640"/>
          </a:xfrm>
          <a:prstGeom prst="rect">
            <a:avLst/>
          </a:prstGeom>
          <a:noFill/>
          <a:ln/>
        </p:spPr>
        <p:txBody>
          <a:bodyPr wrap="square" lIns="0" tIns="0" rIns="0" bIns="0" rtlCol="0" anchor="t"/>
          <a:lstStyle/>
          <a:p>
            <a:pPr indent="0" marL="0">
              <a:buNone/>
            </a:pPr>
            <a:r>
              <a:rPr lang="en-US" sz="1300" dirty="0">
                <a:solidFill>
                  <a:schemeClr val="tx1"/>
                </a:solidFill>
              </a:rPr>
              <a:t>of months: depreciation above 0.5% (the mode)</a:t>
            </a:r>
            <a:endParaRPr lang="en-US" sz="1300" dirty="0"/>
          </a:p>
        </p:txBody>
      </p:sp>
      <p:sp>
        <p:nvSpPr>
          <p:cNvPr id="12" name="Stat calendar years the r"/>
          <p:cNvSpPr/>
          <p:nvPr/>
        </p:nvSpPr>
        <p:spPr>
          <a:xfrm>
            <a:off x="3154680" y="1645920"/>
            <a:ext cx="2514600" cy="1508760"/>
          </a:xfrm>
          <a:prstGeom prst="roundRect">
            <a:avLst>
              <a:gd name="adj" fmla="val 4848"/>
            </a:avLst>
          </a:prstGeom>
          <a:solidFill>
            <a:schemeClr val="bg2"/>
          </a:solidFill>
          <a:ln w="12700">
            <a:solidFill>
              <a:schemeClr val="bg2"/>
            </a:solidFill>
            <a:prstDash val="solid"/>
          </a:ln>
        </p:spPr>
      </p:sp>
      <p:sp>
        <p:nvSpPr>
          <p:cNvPr id="13" name="Text 10"/>
          <p:cNvSpPr txBox="1"/>
          <p:nvPr/>
        </p:nvSpPr>
        <p:spPr>
          <a:xfrm>
            <a:off x="3337560" y="1783080"/>
            <a:ext cx="2148840" cy="73152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14 / 15</a:t>
            </a:r>
            <a:endParaRPr lang="en-US" sz="3600" dirty="0"/>
          </a:p>
        </p:txBody>
      </p:sp>
      <p:sp>
        <p:nvSpPr>
          <p:cNvPr id="14" name="Text 11"/>
          <p:cNvSpPr txBox="1"/>
          <p:nvPr/>
        </p:nvSpPr>
        <p:spPr>
          <a:xfrm>
            <a:off x="3337560" y="2514600"/>
            <a:ext cx="2148840" cy="548640"/>
          </a:xfrm>
          <a:prstGeom prst="rect">
            <a:avLst/>
          </a:prstGeom>
          <a:noFill/>
          <a:ln/>
        </p:spPr>
        <p:txBody>
          <a:bodyPr wrap="square" lIns="0" tIns="0" rIns="0" bIns="0" rtlCol="0" anchor="t"/>
          <a:lstStyle/>
          <a:p>
            <a:pPr indent="0" marL="0">
              <a:buNone/>
            </a:pPr>
            <a:r>
              <a:rPr lang="en-US" sz="1300" dirty="0">
                <a:solidFill>
                  <a:schemeClr val="tx1"/>
                </a:solidFill>
              </a:rPr>
              <a:t>calendar years the rupee weakened, 2011–25</a:t>
            </a:r>
            <a:endParaRPr lang="en-US" sz="1300" dirty="0"/>
          </a:p>
        </p:txBody>
      </p:sp>
      <p:sp>
        <p:nvSpPr>
          <p:cNvPr id="15" name="Stat mean monthly change "/>
          <p:cNvSpPr/>
          <p:nvPr/>
        </p:nvSpPr>
        <p:spPr>
          <a:xfrm>
            <a:off x="457200" y="3337560"/>
            <a:ext cx="2514600" cy="1508760"/>
          </a:xfrm>
          <a:prstGeom prst="roundRect">
            <a:avLst>
              <a:gd name="adj" fmla="val 4848"/>
            </a:avLst>
          </a:prstGeom>
          <a:solidFill>
            <a:schemeClr val="bg2"/>
          </a:solidFill>
          <a:ln w="12700">
            <a:solidFill>
              <a:schemeClr val="bg2"/>
            </a:solidFill>
            <a:prstDash val="solid"/>
          </a:ln>
        </p:spPr>
      </p:sp>
      <p:sp>
        <p:nvSpPr>
          <p:cNvPr id="16" name="Text 13"/>
          <p:cNvSpPr txBox="1"/>
          <p:nvPr/>
        </p:nvSpPr>
        <p:spPr>
          <a:xfrm>
            <a:off x="640080" y="3474720"/>
            <a:ext cx="2148840" cy="73152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+0.35%</a:t>
            </a:r>
            <a:endParaRPr lang="en-US" sz="3600" dirty="0"/>
          </a:p>
        </p:txBody>
      </p:sp>
      <p:sp>
        <p:nvSpPr>
          <p:cNvPr id="17" name="Text 14"/>
          <p:cNvSpPr txBox="1"/>
          <p:nvPr/>
        </p:nvSpPr>
        <p:spPr>
          <a:xfrm>
            <a:off x="640080" y="4206240"/>
            <a:ext cx="2148840" cy="548640"/>
          </a:xfrm>
          <a:prstGeom prst="rect">
            <a:avLst/>
          </a:prstGeom>
          <a:noFill/>
          <a:ln/>
        </p:spPr>
        <p:txBody>
          <a:bodyPr wrap="square" lIns="0" tIns="0" rIns="0" bIns="0" rtlCol="0" anchor="t"/>
          <a:lstStyle/>
          <a:p>
            <a:pPr indent="0" marL="0">
              <a:buNone/>
            </a:pPr>
            <a:r>
              <a:rPr lang="en-US" sz="1300" dirty="0">
                <a:solidFill>
                  <a:schemeClr val="tx1"/>
                </a:solidFill>
              </a:rPr>
              <a:t>mean monthly change (SD 1.45%)</a:t>
            </a:r>
            <a:endParaRPr lang="en-US" sz="1300" dirty="0"/>
          </a:p>
        </p:txBody>
      </p:sp>
      <p:sp>
        <p:nvSpPr>
          <p:cNvPr id="18" name="Stat skew: sharp falls ex"/>
          <p:cNvSpPr/>
          <p:nvPr/>
        </p:nvSpPr>
        <p:spPr>
          <a:xfrm>
            <a:off x="3154680" y="3337560"/>
            <a:ext cx="2514600" cy="1508760"/>
          </a:xfrm>
          <a:prstGeom prst="roundRect">
            <a:avLst>
              <a:gd name="adj" fmla="val 4848"/>
            </a:avLst>
          </a:prstGeom>
          <a:solidFill>
            <a:schemeClr val="bg2"/>
          </a:solidFill>
          <a:ln w="12700">
            <a:solidFill>
              <a:schemeClr val="bg2"/>
            </a:solidFill>
            <a:prstDash val="solid"/>
          </a:ln>
        </p:spPr>
      </p:sp>
      <p:sp>
        <p:nvSpPr>
          <p:cNvPr id="19" name="Text 16"/>
          <p:cNvSpPr txBox="1"/>
          <p:nvPr/>
        </p:nvSpPr>
        <p:spPr>
          <a:xfrm>
            <a:off x="3337560" y="3474720"/>
            <a:ext cx="2148840" cy="731520"/>
          </a:xfrm>
          <a:prstGeom prst="rect">
            <a:avLst/>
          </a:prstGeom>
          <a:noFill/>
          <a:ln/>
        </p:spPr>
        <p:txBody>
          <a:bodyPr wrap="square" lIns="0" tIns="0" rIns="0" bIns="0" rtlCol="0" anchor="ctr"/>
          <a:lstStyle/>
          <a:p>
            <a:pPr indent="0" marL="0">
              <a:buNone/>
            </a:pPr>
            <a:r>
              <a:rPr lang="en-US" sz="3600" b="1" dirty="0">
                <a:solidFill>
                  <a:srgbClr val="2A7F8F"/>
                </a:solidFill>
                <a:latin typeface="Cambria" pitchFamily="34" charset="0"/>
                <a:ea typeface="Cambria" pitchFamily="34" charset="-122"/>
                <a:cs typeface="Cambria" pitchFamily="34" charset="-120"/>
              </a:rPr>
              <a:t>0.68</a:t>
            </a:r>
            <a:endParaRPr lang="en-US" sz="3600" dirty="0"/>
          </a:p>
        </p:txBody>
      </p:sp>
      <p:sp>
        <p:nvSpPr>
          <p:cNvPr id="20" name="Text 17"/>
          <p:cNvSpPr txBox="1"/>
          <p:nvPr/>
        </p:nvSpPr>
        <p:spPr>
          <a:xfrm>
            <a:off x="3337560" y="4206240"/>
            <a:ext cx="2148840" cy="548640"/>
          </a:xfrm>
          <a:prstGeom prst="rect">
            <a:avLst/>
          </a:prstGeom>
          <a:noFill/>
          <a:ln/>
        </p:spPr>
        <p:txBody>
          <a:bodyPr wrap="square" lIns="0" tIns="0" rIns="0" bIns="0" rtlCol="0" anchor="t"/>
          <a:lstStyle/>
          <a:p>
            <a:pPr indent="0" marL="0">
              <a:buNone/>
            </a:pPr>
            <a:r>
              <a:rPr lang="en-US" sz="1300" dirty="0">
                <a:solidFill>
                  <a:schemeClr val="tx1"/>
                </a:solidFill>
              </a:rPr>
              <a:t>skew: sharp falls exceed sharp gains</a:t>
            </a:r>
            <a:endParaRPr lang="en-US" sz="1300" dirty="0"/>
          </a:p>
        </p:txBody>
      </p:sp>
      <p:sp>
        <p:nvSpPr>
          <p:cNvPr id="21" name="Text 18"/>
          <p:cNvSpPr txBox="1"/>
          <p:nvPr/>
        </p:nvSpPr>
        <p:spPr>
          <a:xfrm>
            <a:off x="457200" y="5029200"/>
            <a:ext cx="5212080" cy="548640"/>
          </a:xfrm>
          <a:prstGeom prst="rect">
            <a:avLst/>
          </a:prstGeom>
          <a:noFill/>
          <a:ln/>
        </p:spPr>
        <p:txBody>
          <a:bodyPr wrap="square" lIns="0" tIns="0" rIns="0" bIns="0" rtlCol="0" anchor="t"/>
          <a:lstStyle/>
          <a:p>
            <a:pPr indent="0" marL="0">
              <a:buNone/>
            </a:pPr>
            <a:r>
              <a:rPr lang="en-US" sz="1300" dirty="0">
                <a:solidFill>
                  <a:schemeClr val="accent6"/>
                </a:solidFill>
              </a:rPr>
              <a:t>Month types: 74 depreciated &gt; 0.5%, 59 stable, 42 appreciated &gt; 0.5% (175 months)</a:t>
            </a:r>
            <a:endParaRPr lang="en-US" sz="1300" dirty="0"/>
          </a:p>
        </p:txBody>
      </p:sp>
      <p:pic>
        <p:nvPicPr>
          <p:cNvPr id="22" name="Image 0" descr="Histogram of monthly USD/INR returns">    </p:cNvPr>
          <p:cNvPicPr>
            <a:picLocks noChangeAspect="1"/>
          </p:cNvPicPr>
          <p:nvPr/>
        </p:nvPicPr>
        <p:blipFill>
          <a:blip r:embed="rId13"/>
          <a:stretch>
            <a:fillRect/>
          </a:stretch>
        </p:blipFill>
        <p:spPr>
          <a:xfrm>
            <a:off x="6035040" y="1645920"/>
            <a:ext cx="5715000" cy="3566160"/>
          </a:xfrm>
          <a:prstGeom prst="rect">
            <a:avLst/>
          </a:prstGeom>
        </p:spPr>
      </p:pic>
      <p:sp>
        <p:nvSpPr>
          <p:cNvPr id="23" name="Text 19"/>
          <p:cNvSpPr txBox="1"/>
          <p:nvPr/>
        </p:nvSpPr>
        <p:spPr>
          <a:xfrm>
            <a:off x="6035040" y="5257800"/>
            <a:ext cx="5715000" cy="274320"/>
          </a:xfrm>
          <a:prstGeom prst="rect">
            <a:avLst/>
          </a:prstGeom>
          <a:noFill/>
          <a:ln/>
        </p:spPr>
        <p:txBody>
          <a:bodyPr wrap="square" lIns="0" tIns="0" rIns="0" bIns="0" rtlCol="0" anchor="t"/>
          <a:lstStyle/>
          <a:p>
            <a:pPr indent="0" marL="0">
              <a:buNone/>
            </a:pPr>
            <a:r>
              <a:rPr lang="en-US" sz="1000" i="1" dirty="0">
                <a:solidFill>
                  <a:schemeClr val="accent6"/>
                </a:solidFill>
              </a:rPr>
              <a:t>Distribution of monthly USD/INR returns (R, ggplot2)</a:t>
            </a:r>
            <a:endParaRPr lang="en-US" sz="1000" dirty="0"/>
          </a:p>
        </p:txBody>
      </p:sp>
      <p:sp>
        <p:nvSpPr>
          <p:cNvPr id="25" name="Slide Number Placeholder 0"/>
          <p:cNvSpPr>
            <a:spLocks noGrp="1"/>
          </p:cNvSpPr>
          <p:nvPr>
            <p:ph type="sldNum" sz="quarter" idx="4294967295"/>
          </p:nvPr>
        </p:nvSpPr>
        <p:spPr>
          <a:xfrm>
            <a:off x="10927080" y="6382512"/>
            <a:ext cx="420624" cy="329184"/>
          </a:xfrm>
          <a:prstGeom prst="rect">
            <a:avLst/>
          </a:prstGeom>
          <a:extLst>
            <a:ext uri="{C572A759-6A51-4108-AA02-DFA0A04FC94B}">
              <ma14:wrappingTextBoxFlag xmlns:ma14="http://schemas.microsoft.com/office/mac/drawingml/2011/main" val="0"/>
            </a:ext>
          </a:extLst>
        </p:spPr>
        <p:txBody>
          <a:bodyPr/>
          <a:lstStyle>
            <a:lvl1pPr>
              <a:defRPr sz="1200">
                <a:solidFill>
                  <a:srgbClr val="0F2A3A"/>
                </a:solidFill>
                <a:latin typeface="Calibri"/>
                <a:ea typeface="Calibri"/>
                <a:cs typeface="Calibri"/>
              </a:defRPr>
            </a:lvl1pPr>
          </a:lstStyle>
          <a:p>
            <a:pPr algn="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5"/>
          <p:cNvSpPr/>
          <p:nvPr>
            <p:ph idx="105" type="title" hasCustomPrompt="1"/>
          </p:nvPr>
        </p:nvSpPr>
        <p:spPr>
          <a:xfrm>
            <a:off x="365760" y="502920"/>
            <a:ext cx="10058400" cy="868680"/>
          </a:xfrm>
          <a:prstGeom prst="rect">
            <a:avLst/>
          </a:prstGeom>
          <a:noFill/>
          <a:ln/>
        </p:spPr>
        <p:txBody>
          <a:bodyPr wrap="square" lIns="0" tIns="0" rIns="0" bIns="0" rtlCol="0" anchor="ctr"/>
          <a:lstStyle/>
          <a:p>
            <a:pPr algn="l" indent="0" marL="0">
              <a:buNone/>
            </a:pPr>
            <a:r>
              <a:rPr lang="en-US" sz="2800" b="1" dirty="0">
                <a:solidFill>
                  <a:srgbClr val="FFFFFF"/>
                </a:solidFill>
              </a:rPr>
              <a:t>Inferential analytics: flows and the dollar move the rupee</a:t>
            </a:r>
            <a:endParaRPr lang="en-US" sz="2800" dirty="0"/>
          </a:p>
        </p:txBody>
      </p:sp>
      <p:sp>
        <p:nvSpPr>
          <p:cNvPr id="3" name="Current presenter"/>
          <p:cNvSpPr txBox="1"/>
          <p:nvPr/>
        </p:nvSpPr>
        <p:spPr>
          <a:xfrm>
            <a:off x="8869680" y="91440"/>
            <a:ext cx="3063240" cy="310896"/>
          </a:xfrm>
          <a:prstGeom prst="rect">
            <a:avLst/>
          </a:prstGeom>
          <a:noFill/>
          <a:ln/>
        </p:spPr>
        <p:txBody>
          <a:bodyPr wrap="square" lIns="0" tIns="0" rIns="0" bIns="0" rtlCol="0" anchor="ctr"/>
          <a:lstStyle/>
          <a:p>
            <a:pPr algn="r" indent="0" marL="0">
              <a:buNone/>
            </a:pPr>
            <a:r>
              <a:rPr lang="en-US" sz="1100" dirty="0">
                <a:solidFill>
                  <a:srgbClr val="5F6B73"/>
                </a:solidFill>
              </a:rPr>
              <a:t>Presenter: </a:t>
            </a:r>
            <a:pPr algn="r" indent="0" marL="0">
              <a:buNone/>
            </a:pPr>
            <a:r>
              <a:rPr lang="en-US" sz="1100" b="1" dirty="0">
                <a:solidFill>
                  <a:srgbClr val="0F2A3A"/>
                </a:solidFill>
              </a:rPr>
              <a:t>Gopalakrishnan S - EMBAA25017</a:t>
            </a:r>
            <a:endParaRPr lang="en-US" sz="1100" dirty="0"/>
          </a:p>
        </p:txBody>
      </p:sp>
      <p:sp>
        <p:nvSpPr>
          <p:cNvPr id="4" name="Presenter photo placeholder"/>
          <p:cNvSpPr/>
          <p:nvPr/>
        </p:nvSpPr>
        <p:spPr>
          <a:xfrm>
            <a:off x="10744200" y="502920"/>
            <a:ext cx="1188720" cy="868680"/>
          </a:xfrm>
          <a:prstGeom prst="rect">
            <a:avLst/>
          </a:prstGeom>
          <a:solidFill>
            <a:schemeClr val="accent2"/>
          </a:solidFill>
          <a:ln w="12700">
            <a:solidFill>
              <a:schemeClr val="accent2"/>
            </a:solidFill>
            <a:prstDash val="solid"/>
          </a:ln>
        </p:spPr>
      </p:sp>
      <p:sp>
        <p:nvSpPr>
          <p:cNvPr id="5" name="Presenter initials"/>
          <p:cNvSpPr txBox="1"/>
          <p:nvPr/>
        </p:nvSpPr>
        <p:spPr>
          <a:xfrm>
            <a:off x="10744200" y="502920"/>
            <a:ext cx="1188720" cy="868680"/>
          </a:xfrm>
          <a:prstGeom prst="rect">
            <a:avLst/>
          </a:prstGeom>
          <a:noFill/>
          <a:ln/>
        </p:spPr>
        <p:txBody>
          <a:bodyPr wrap="square" lIns="0" tIns="0" rIns="0" bIns="0" rtlCol="0" anchor="ctr"/>
          <a:lstStyle/>
          <a:p>
            <a:pPr algn="ctr" indent="0" marL="0">
              <a:buNone/>
            </a:pPr>
            <a:r>
              <a:rPr lang="en-US" sz="2600" b="1" dirty="0">
                <a:solidFill>
                  <a:schemeClr val="bg1"/>
                </a:solidFill>
              </a:rPr>
              <a:t>GS</a:t>
            </a:r>
            <a:endParaRPr lang="en-US" sz="2600" dirty="0"/>
          </a:p>
        </p:txBody>
      </p:sp>
      <p:sp>
        <p:nvSpPr>
          <p:cNvPr id="6" name="Footer rule"/>
          <p:cNvSpPr/>
          <p:nvPr/>
        </p:nvSpPr>
        <p:spPr>
          <a:xfrm>
            <a:off x="274320" y="6272784"/>
            <a:ext cx="10515600" cy="0"/>
          </a:xfrm>
          <a:prstGeom prst="line">
            <a:avLst/>
          </a:prstGeom>
          <a:noFill/>
          <a:ln w="12700">
            <a:solidFill>
              <a:srgbClr val="EEF2F4"/>
            </a:solidFill>
            <a:prstDash val="solid"/>
          </a:ln>
        </p:spPr>
      </p:sp>
      <p:sp>
        <p:nvSpPr>
          <p:cNvPr id="7" name="Team footer"/>
          <p:cNvSpPr txBox="1"/>
          <p:nvPr/>
        </p:nvSpPr>
        <p:spPr>
          <a:xfrm>
            <a:off x="274320" y="6309360"/>
            <a:ext cx="10515600" cy="457200"/>
          </a:xfrm>
          <a:prstGeom prst="rect">
            <a:avLst/>
          </a:prstGeom>
          <a:noFill/>
          <a:ln/>
        </p:spPr>
        <p:txBody>
          <a:bodyPr wrap="square" lIns="0" tIns="0" rIns="0" bIns="0" rtlCol="0" anchor="ctr"/>
          <a:lstStyle/>
          <a:p>
            <a:pPr algn="ctr" indent="0" marL="0">
              <a:buNone/>
            </a:pPr>
            <a:r>
              <a:rPr lang="en-US" sz="850" b="1" u="sng" dirty="0">
                <a:solidFill>
                  <a:srgbClr val="1F5FA8"/>
                </a:solidFill>
                <a:hlinkClick r:id="rId1" invalidUrl="" action="" tgtFrame="" tooltip="Ankit Singh on LinkedIn" history="1" highlightClick="0" endSnd="0">
                  <a:extLst>
                    <a:ext uri="{A12FA001-AC4F-418D-AE19-62706E023703}">
                      <ahyp:hlinkClr xmlns:ahyp="http://schemas.microsoft.com/office/drawing/2018/hyperlinkcolor" val="tx"/>
                    </a:ext>
                  </a:extLst>
                </a:hlinkClick>
              </a:rPr>
              <a:t>Ankit Singh</a:t>
            </a:r>
            <a:pPr algn="ctr" indent="0" marL="0">
              <a:buNone/>
            </a:pPr>
            <a:r>
              <a:rPr lang="en-US" sz="850" dirty="0">
                <a:solidFill>
                  <a:srgbClr val="5F6B73"/>
                </a:solidFill>
              </a:rPr>
              <a:t> - EMBAA25004 - </a:t>
            </a:r>
            <a:pPr algn="ctr" indent="0" marL="0">
              <a:buNone/>
            </a:pPr>
            <a:r>
              <a:rPr lang="en-US" sz="850" u="sng" dirty="0">
                <a:solidFill>
                  <a:srgbClr val="1F5FA8"/>
                </a:solidFill>
                <a:hlinkClick r:id="rId2" invalidUrl="" action="" tgtFrame="" tooltip="" history="1" highlightClick="0" endSnd="0">
                  <a:extLst>
                    <a:ext uri="{A12FA001-AC4F-418D-AE19-62706E023703}">
                      <ahyp:hlinkClr xmlns:ahyp="http://schemas.microsoft.com/office/drawing/2018/hyperlinkcolor" val="tx"/>
                    </a:ext>
                  </a:extLst>
                </a:hlinkClick>
              </a:rPr>
              <a:t>ankit.embaa25004@iimkashipur.ac.in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3" invalidUrl="" action="" tgtFrame="" tooltip="Gopalakrishnan S on LinkedIn" history="1" highlightClick="0" endSnd="0">
                  <a:extLst>
                    <a:ext uri="{A12FA001-AC4F-418D-AE19-62706E023703}">
                      <ahyp:hlinkClr xmlns:ahyp="http://schemas.microsoft.com/office/drawing/2018/hyperlinkcolor" val="tx"/>
                    </a:ext>
                  </a:extLst>
                </a:hlinkClick>
              </a:rPr>
              <a:t>Gopalakrishnan S</a:t>
            </a:r>
            <a:pPr algn="ctr" indent="0" marL="0">
              <a:buNone/>
            </a:pPr>
            <a:r>
              <a:rPr lang="en-US" sz="850" dirty="0">
                <a:solidFill>
                  <a:srgbClr val="5F6B73"/>
                </a:solidFill>
              </a:rPr>
              <a:t> - EMBAA25017 - </a:t>
            </a:r>
            <a:pPr algn="ctr" indent="0" marL="0">
              <a:buNone/>
            </a:pPr>
            <a:r>
              <a:rPr lang="en-US" sz="850" u="sng" dirty="0">
                <a:solidFill>
                  <a:srgbClr val="1F5FA8"/>
                </a:solidFill>
                <a:hlinkClick r:id="rId4" invalidUrl="" action="" tgtFrame="" tooltip="" history="1" highlightClick="0" endSnd="0">
                  <a:extLst>
                    <a:ext uri="{A12FA001-AC4F-418D-AE19-62706E023703}">
                      <ahyp:hlinkClr xmlns:ahyp="http://schemas.microsoft.com/office/drawing/2018/hyperlinkcolor" val="tx"/>
                    </a:ext>
                  </a:extLst>
                </a:hlinkClick>
              </a:rPr>
              <a:t>gopalakrishnan.embaa25017@iimkashipur.ac.in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5" invalidUrl="" action="" tgtFrame="" tooltip="Murugan Perumal on LinkedIn" history="1" highlightClick="0" endSnd="0">
                  <a:extLst>
                    <a:ext uri="{A12FA001-AC4F-418D-AE19-62706E023703}">
                      <ahyp:hlinkClr xmlns:ahyp="http://schemas.microsoft.com/office/drawing/2018/hyperlinkcolor" val="tx"/>
                    </a:ext>
                  </a:extLst>
                </a:hlinkClick>
              </a:rPr>
              <a:t>Murugan Perumal</a:t>
            </a:r>
            <a:pPr algn="ctr" indent="0" marL="0">
              <a:buNone/>
            </a:pPr>
            <a:r>
              <a:rPr lang="en-US" sz="850" dirty="0">
                <a:solidFill>
                  <a:srgbClr val="5F6B73"/>
                </a:solidFill>
              </a:rPr>
              <a:t> - EMBAA25020 - </a:t>
            </a:r>
            <a:pPr algn="ctr" indent="0" marL="0">
              <a:buNone/>
            </a:pPr>
            <a:r>
              <a:rPr lang="en-US" sz="850" u="sng" dirty="0">
                <a:solidFill>
                  <a:srgbClr val="1F5FA8"/>
                </a:solidFill>
                <a:hlinkClick r:id="rId6" invalidUrl="" action="" tgtFrame="" tooltip="" history="1" highlightClick="0" endSnd="0">
                  <a:extLst>
                    <a:ext uri="{A12FA001-AC4F-418D-AE19-62706E023703}">
                      <ahyp:hlinkClr xmlns:ahyp="http://schemas.microsoft.com/office/drawing/2018/hyperlinkcolor" val="tx"/>
                    </a:ext>
                  </a:extLst>
                </a:hlinkClick>
              </a:rPr>
              <a:t>murugan.embaa25020@iimkashipur.ac.in</a:t>
            </a:r>
            <a:pPr algn="ctr" indent="0" marL="0">
              <a:buNone/>
            </a:pPr>
            <a:endParaRPr lang="en-US" sz="850" dirty="0"/>
          </a:p>
          <a:p>
            <a:pPr algn="ctr" indent="0" marL="0">
              <a:buNone/>
            </a:pPr>
            <a:r>
              <a:rPr lang="en-US" sz="850" b="1" u="sng" dirty="0">
                <a:solidFill>
                  <a:srgbClr val="1F5FA8"/>
                </a:solidFill>
                <a:hlinkClick r:id="rId7" invalidUrl="" action="" tgtFrame="" tooltip="Aswin G. on LinkedIn" history="1" highlightClick="0" endSnd="0">
                  <a:extLst>
                    <a:ext uri="{A12FA001-AC4F-418D-AE19-62706E023703}">
                      <ahyp:hlinkClr xmlns:ahyp="http://schemas.microsoft.com/office/drawing/2018/hyperlinkcolor" val="tx"/>
                    </a:ext>
                  </a:extLst>
                </a:hlinkClick>
              </a:rPr>
              <a:t>Aswin G.</a:t>
            </a:r>
            <a:pPr algn="ctr" indent="0" marL="0">
              <a:buNone/>
            </a:pPr>
            <a:r>
              <a:rPr lang="en-US" sz="850" dirty="0">
                <a:solidFill>
                  <a:srgbClr val="5F6B73"/>
                </a:solidFill>
              </a:rPr>
              <a:t> - EMBAA25008 - </a:t>
            </a:r>
            <a:pPr algn="ctr" indent="0" marL="0">
              <a:buNone/>
            </a:pPr>
            <a:r>
              <a:rPr lang="en-US" sz="850" u="sng" dirty="0">
                <a:solidFill>
                  <a:srgbClr val="1F5FA8"/>
                </a:solidFill>
                <a:hlinkClick r:id="rId8" invalidUrl="" action="" tgtFrame="" tooltip="" history="1" highlightClick="0" endSnd="0">
                  <a:extLst>
                    <a:ext uri="{A12FA001-AC4F-418D-AE19-62706E023703}">
                      <ahyp:hlinkClr xmlns:ahyp="http://schemas.microsoft.com/office/drawing/2018/hyperlinkcolor" val="tx"/>
                    </a:ext>
                  </a:extLst>
                </a:hlinkClick>
              </a:rPr>
              <a:t>aswin.embaa25008@iimkashipur.ac.in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9" invalidUrl="" action="" tgtFrame="" tooltip="Atul Kumar Singh on LinkedIn" history="1" highlightClick="0" endSnd="0">
                  <a:extLst>
                    <a:ext uri="{A12FA001-AC4F-418D-AE19-62706E023703}">
                      <ahyp:hlinkClr xmlns:ahyp="http://schemas.microsoft.com/office/drawing/2018/hyperlinkcolor" val="tx"/>
                    </a:ext>
                  </a:extLst>
                </a:hlinkClick>
              </a:rPr>
              <a:t>Atul Kumar Singh</a:t>
            </a:r>
            <a:pPr algn="ctr" indent="0" marL="0">
              <a:buNone/>
            </a:pPr>
            <a:r>
              <a:rPr lang="en-US" sz="850" dirty="0">
                <a:solidFill>
                  <a:srgbClr val="5F6B73"/>
                </a:solidFill>
              </a:rPr>
              <a:t> - EMBAA25009 - </a:t>
            </a:r>
            <a:pPr algn="ctr" indent="0" marL="0">
              <a:buNone/>
            </a:pPr>
            <a:r>
              <a:rPr lang="en-US" sz="850" u="sng" dirty="0">
                <a:solidFill>
                  <a:srgbClr val="1F5FA8"/>
                </a:solidFill>
                <a:hlinkClick r:id="rId10" invalidUrl="" action="" tgtFrame="" tooltip="" history="1" highlightClick="0" endSnd="0">
                  <a:extLst>
                    <a:ext uri="{A12FA001-AC4F-418D-AE19-62706E023703}">
                      <ahyp:hlinkClr xmlns:ahyp="http://schemas.microsoft.com/office/drawing/2018/hyperlinkcolor" val="tx"/>
                    </a:ext>
                  </a:extLst>
                </a:hlinkClick>
              </a:rPr>
              <a:t>atul.embaa25009@iimkashipur.ac.in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11" invalidUrl="" action="" tgtFrame="" tooltip="Devanshu Priyam on LinkedIn" history="1" highlightClick="0" endSnd="0">
                  <a:extLst>
                    <a:ext uri="{A12FA001-AC4F-418D-AE19-62706E023703}">
                      <ahyp:hlinkClr xmlns:ahyp="http://schemas.microsoft.com/office/drawing/2018/hyperlinkcolor" val="tx"/>
                    </a:ext>
                  </a:extLst>
                </a:hlinkClick>
              </a:rPr>
              <a:t>Devanshu Priyam</a:t>
            </a:r>
            <a:pPr algn="ctr" indent="0" marL="0">
              <a:buNone/>
            </a:pPr>
            <a:r>
              <a:rPr lang="en-US" sz="850" dirty="0">
                <a:solidFill>
                  <a:srgbClr val="5F6B73"/>
                </a:solidFill>
              </a:rPr>
              <a:t> - EMBAA25014 - </a:t>
            </a:r>
            <a:pPr algn="ctr" indent="0" marL="0">
              <a:buNone/>
            </a:pPr>
            <a:r>
              <a:rPr lang="en-US" sz="850" u="sng" dirty="0">
                <a:solidFill>
                  <a:srgbClr val="1F5FA8"/>
                </a:solidFill>
                <a:hlinkClick r:id="rId12" invalidUrl="" action="" tgtFrame="" tooltip="" history="1" highlightClick="0" endSnd="0">
                  <a:extLst>
                    <a:ext uri="{A12FA001-AC4F-418D-AE19-62706E023703}">
                      <ahyp:hlinkClr xmlns:ahyp="http://schemas.microsoft.com/office/drawing/2018/hyperlinkcolor" val="tx"/>
                    </a:ext>
                  </a:extLst>
                </a:hlinkClick>
              </a:rPr>
              <a:t>devanshu.embaa25014@iimkashipur.ac.in</a:t>
            </a:r>
            <a:endParaRPr lang="en-US" sz="850" dirty="0"/>
          </a:p>
        </p:txBody>
      </p:sp>
      <p:graphicFrame>
        <p:nvGraphicFramePr>
          <p:cNvPr id="9" name="Chart 0" descr=""/>
          <p:cNvGraphicFramePr/>
          <p:nvPr/>
        </p:nvGraphicFramePr>
        <p:xfrm>
          <a:off x="411480" y="1600200"/>
          <a:ext cx="5669280" cy="4480560"/>
        </p:xfrm>
        <a:graphic xmlns:a="http://schemas.openxmlformats.org/drawingml/2006/main">
          <a:graphicData uri="http://schemas.openxmlformats.org/drawingml/2006/chart">
            <c:chart xmlns:c="http://schemas.openxmlformats.org/drawingml/2006/chart" r:id="rId13"/>
          </a:graphicData>
        </a:graphic>
      </p:graphicFrame>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355080" y="1645920"/>
          <a:ext cx="5394960" cy="914400"/>
        </p:xfrm>
        <a:graphic>
          <a:graphicData uri="http://schemas.openxmlformats.org/drawingml/2006/table">
            <a:tbl>
              <a:tblPr/>
              <a:tblGrid>
                <a:gridCol w="2148840"/>
                <a:gridCol w="2057400"/>
                <a:gridCol w="1188720"/>
              </a:tblGrid>
              <a:tr h="0">
                <a:tc>
                  <a:txBody>
                    <a:bodyPr/>
                    <a:lstStyle/>
                    <a:p>
                      <a:pPr indent="0" marL="0">
                        <a:buNone/>
                      </a:pPr>
                      <a:r>
                        <a:rPr lang="en-US" sz="1250" b="1" dirty="0">
                          <a:solidFill>
                            <a:srgbClr val="FFFFFF"/>
                          </a:solidFill>
                        </a:rPr>
                        <a:t>Test</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0F2A3A"/>
                    </a:solidFill>
                  </a:tcPr>
                </a:tc>
                <a:tc>
                  <a:txBody>
                    <a:bodyPr/>
                    <a:lstStyle/>
                    <a:p>
                      <a:pPr indent="0" marL="0">
                        <a:buNone/>
                      </a:pPr>
                      <a:r>
                        <a:rPr lang="en-US" sz="1250" b="1" dirty="0">
                          <a:solidFill>
                            <a:srgbClr val="FFFFFF"/>
                          </a:solidFill>
                        </a:rPr>
                        <a:t>Result</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0F2A3A"/>
                    </a:solidFill>
                  </a:tcPr>
                </a:tc>
                <a:tc>
                  <a:txBody>
                    <a:bodyPr/>
                    <a:lstStyle/>
                    <a:p>
                      <a:pPr indent="0" marL="0">
                        <a:buNone/>
                      </a:pPr>
                      <a:r>
                        <a:rPr lang="en-US" sz="1250" b="1" dirty="0">
                          <a:solidFill>
                            <a:srgbClr val="FFFFFF"/>
                          </a:solidFill>
                        </a:rPr>
                        <a:t>Verdict</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0F2A3A"/>
                    </a:solidFill>
                  </a:tcPr>
                </a:tc>
              </a:tr>
              <a:tr h="0">
                <a:tc>
                  <a:txBody>
                    <a:bodyPr/>
                    <a:lstStyle/>
                    <a:p>
                      <a:pPr indent="0" marL="0">
                        <a:buNone/>
                      </a:pPr>
                      <a:r>
                        <a:rPr lang="en-US" sz="1150" dirty="0">
                          <a:solidFill>
                            <a:srgbClr val="1B1F23"/>
                          </a:solidFill>
                        </a:rPr>
                        <a:t>t-test: FPI outflow vs inflow months</a:t>
                      </a:r>
                      <a:endParaRPr lang="en-US" sz="11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150" dirty="0">
                          <a:solidFill>
                            <a:srgbClr val="1B1F23"/>
                          </a:solidFill>
                        </a:rPr>
                        <a:t>+1.08% vs −0.11%, p &lt; 0.001</a:t>
                      </a:r>
                      <a:endParaRPr lang="en-US" sz="11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150" dirty="0">
                          <a:solidFill>
                            <a:srgbClr val="1B1F23"/>
                          </a:solidFill>
                        </a:rPr>
                        <a:t>Significant</a:t>
                      </a:r>
                      <a:endParaRPr lang="en-US" sz="11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B1F23"/>
                          </a:solidFill>
                        </a:rPr>
                        <a:t>t-test: oil up vs oil down months</a:t>
                      </a:r>
                      <a:endParaRPr lang="en-US" sz="11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150" dirty="0">
                          <a:solidFill>
                            <a:srgbClr val="1B1F23"/>
                          </a:solidFill>
                        </a:rPr>
                        <a:t>+0.26% vs +0.47%, p = 0.35</a:t>
                      </a:r>
                      <a:endParaRPr lang="en-US" sz="11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150" dirty="0">
                          <a:solidFill>
                            <a:srgbClr val="1B1F23"/>
                          </a:solidFill>
                        </a:rPr>
                        <a:t>No difference</a:t>
                      </a:r>
                      <a:endParaRPr lang="en-US" sz="11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r>
              <a:tr h="0">
                <a:tc>
                  <a:txBody>
                    <a:bodyPr/>
                    <a:lstStyle/>
                    <a:p>
                      <a:pPr indent="0" marL="0">
                        <a:buNone/>
                      </a:pPr>
                      <a:r>
                        <a:rPr lang="en-US" sz="1150" dirty="0">
                          <a:solidFill>
                            <a:srgbClr val="1B1F23"/>
                          </a:solidFill>
                        </a:rPr>
                        <a:t>t-test: volatility, shock vs normal</a:t>
                      </a:r>
                      <a:endParaRPr lang="en-US" sz="11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150" dirty="0">
                          <a:solidFill>
                            <a:srgbClr val="1B1F23"/>
                          </a:solidFill>
                        </a:rPr>
                        <a:t>0.46% vs 0.33%, p = 0.015</a:t>
                      </a:r>
                      <a:endParaRPr lang="en-US" sz="11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150" dirty="0">
                          <a:solidFill>
                            <a:srgbClr val="1B1F23"/>
                          </a:solidFill>
                        </a:rPr>
                        <a:t>Significant</a:t>
                      </a:r>
                      <a:endParaRPr lang="en-US" sz="11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B1F23"/>
                          </a:solidFill>
                        </a:rPr>
                        <a:t>ANOVA: 3 FPI regimes</a:t>
                      </a:r>
                      <a:endParaRPr lang="en-US" sz="11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150" dirty="0">
                          <a:solidFill>
                            <a:srgbClr val="1B1F23"/>
                          </a:solidFill>
                        </a:rPr>
                        <a:t>F = 24.5, p &lt; 0.001</a:t>
                      </a:r>
                      <a:endParaRPr lang="en-US" sz="11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150" dirty="0">
                          <a:solidFill>
                            <a:srgbClr val="1B1F23"/>
                          </a:solidFill>
                        </a:rPr>
                        <a:t>Significant</a:t>
                      </a:r>
                      <a:endParaRPr lang="en-US" sz="11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r>
              <a:tr h="0">
                <a:tc>
                  <a:txBody>
                    <a:bodyPr/>
                    <a:lstStyle/>
                    <a:p>
                      <a:pPr indent="0" marL="0">
                        <a:buNone/>
                      </a:pPr>
                      <a:r>
                        <a:rPr lang="en-US" sz="1150" dirty="0">
                          <a:solidFill>
                            <a:srgbClr val="1B1F23"/>
                          </a:solidFill>
                        </a:rPr>
                        <a:t>ANOVA: 3 oil regimes</a:t>
                      </a:r>
                      <a:endParaRPr lang="en-US" sz="11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150" dirty="0">
                          <a:solidFill>
                            <a:srgbClr val="1B1F23"/>
                          </a:solidFill>
                        </a:rPr>
                        <a:t>F = 1.19, p = 0.31</a:t>
                      </a:r>
                      <a:endParaRPr lang="en-US" sz="11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150" dirty="0">
                          <a:solidFill>
                            <a:srgbClr val="1B1F23"/>
                          </a:solidFill>
                        </a:rPr>
                        <a:t>Not significant</a:t>
                      </a:r>
                      <a:endParaRPr lang="en-US" sz="11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B1F23"/>
                          </a:solidFill>
                        </a:rPr>
                        <a:t>Tukey / Levene / Kruskal–Wallis</a:t>
                      </a:r>
                      <a:endParaRPr lang="en-US" sz="11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150" dirty="0">
                          <a:solidFill>
                            <a:srgbClr val="1B1F23"/>
                          </a:solidFill>
                        </a:rPr>
                        <a:t>All FPI pairs differ; Levene p = 0.22; KW p &lt; 0.001</a:t>
                      </a:r>
                      <a:endParaRPr lang="en-US" sz="11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150" dirty="0">
                          <a:solidFill>
                            <a:srgbClr val="1B1F23"/>
                          </a:solidFill>
                        </a:rPr>
                        <a:t>Robust</a:t>
                      </a:r>
                      <a:endParaRPr lang="en-US" sz="11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r>
            </a:tbl>
          </a:graphicData>
        </a:graphic>
      </p:graphicFrame>
      <p:sp>
        <p:nvSpPr>
          <p:cNvPr id="11" name="Text 6"/>
          <p:cNvSpPr txBox="1"/>
          <p:nvPr/>
        </p:nvSpPr>
        <p:spPr>
          <a:xfrm>
            <a:off x="6355080" y="5394960"/>
            <a:ext cx="5394960" cy="548640"/>
          </a:xfrm>
          <a:prstGeom prst="rect">
            <a:avLst/>
          </a:prstGeom>
          <a:noFill/>
          <a:ln/>
        </p:spPr>
        <p:txBody>
          <a:bodyPr wrap="square" lIns="0" tIns="0" rIns="0" bIns="0" rtlCol="0" anchor="t"/>
          <a:lstStyle/>
          <a:p>
            <a:pPr indent="0" marL="0">
              <a:buNone/>
            </a:pPr>
            <a:r>
              <a:rPr lang="en-US" sz="1400" b="1" dirty="0">
                <a:solidFill>
                  <a:schemeClr val="accent1"/>
                </a:solidFill>
              </a:rPr>
              <a:t>Oil's correlation is small, has the “wrong” sign and is not significant (p = 0.08)</a:t>
            </a:r>
            <a:endParaRPr lang="en-US" sz="1400" dirty="0"/>
          </a:p>
        </p:txBody>
      </p:sp>
      <p:sp>
        <p:nvSpPr>
          <p:cNvPr id="25" name="Slide Number Placeholder 0"/>
          <p:cNvSpPr>
            <a:spLocks noGrp="1"/>
          </p:cNvSpPr>
          <p:nvPr>
            <p:ph type="sldNum" sz="quarter" idx="4294967295"/>
          </p:nvPr>
        </p:nvSpPr>
        <p:spPr>
          <a:xfrm>
            <a:off x="10927080" y="6382512"/>
            <a:ext cx="420624" cy="329184"/>
          </a:xfrm>
          <a:prstGeom prst="rect">
            <a:avLst/>
          </a:prstGeom>
          <a:extLst>
            <a:ext uri="{C572A759-6A51-4108-AA02-DFA0A04FC94B}">
              <ma14:wrappingTextBoxFlag xmlns:ma14="http://schemas.microsoft.com/office/mac/drawingml/2011/main" val="0"/>
            </a:ext>
          </a:extLst>
        </p:spPr>
        <p:txBody>
          <a:bodyPr/>
          <a:lstStyle>
            <a:lvl1pPr>
              <a:defRPr sz="1200">
                <a:solidFill>
                  <a:srgbClr val="0F2A3A"/>
                </a:solidFill>
                <a:latin typeface="Calibri"/>
                <a:ea typeface="Calibri"/>
                <a:cs typeface="Calibri"/>
              </a:defRPr>
            </a:lvl1pPr>
          </a:lstStyle>
          <a:p>
            <a:pPr algn="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5"/>
          <p:cNvSpPr/>
          <p:nvPr>
            <p:ph idx="105" type="title" hasCustomPrompt="1"/>
          </p:nvPr>
        </p:nvSpPr>
        <p:spPr>
          <a:xfrm>
            <a:off x="365760" y="502920"/>
            <a:ext cx="10058400" cy="868680"/>
          </a:xfrm>
          <a:prstGeom prst="rect">
            <a:avLst/>
          </a:prstGeom>
          <a:noFill/>
          <a:ln/>
        </p:spPr>
        <p:txBody>
          <a:bodyPr wrap="square" lIns="0" tIns="0" rIns="0" bIns="0" rtlCol="0" anchor="ctr"/>
          <a:lstStyle/>
          <a:p>
            <a:pPr algn="l" indent="0" marL="0">
              <a:buNone/>
            </a:pPr>
            <a:r>
              <a:rPr lang="en-US" sz="2800" b="1" dirty="0">
                <a:solidFill>
                  <a:srgbClr val="FFFFFF"/>
                </a:solidFill>
              </a:rPr>
              <a:t>Is oil the villain? Alone 3%; six drivers explain 43%</a:t>
            </a:r>
            <a:endParaRPr lang="en-US" sz="2800" dirty="0"/>
          </a:p>
        </p:txBody>
      </p:sp>
      <p:sp>
        <p:nvSpPr>
          <p:cNvPr id="3" name="Current presenter"/>
          <p:cNvSpPr txBox="1"/>
          <p:nvPr/>
        </p:nvSpPr>
        <p:spPr>
          <a:xfrm>
            <a:off x="8869680" y="91440"/>
            <a:ext cx="3063240" cy="310896"/>
          </a:xfrm>
          <a:prstGeom prst="rect">
            <a:avLst/>
          </a:prstGeom>
          <a:noFill/>
          <a:ln/>
        </p:spPr>
        <p:txBody>
          <a:bodyPr wrap="square" lIns="0" tIns="0" rIns="0" bIns="0" rtlCol="0" anchor="ctr"/>
          <a:lstStyle/>
          <a:p>
            <a:pPr algn="r" indent="0" marL="0">
              <a:buNone/>
            </a:pPr>
            <a:r>
              <a:rPr lang="en-US" sz="1100" dirty="0">
                <a:solidFill>
                  <a:srgbClr val="5F6B73"/>
                </a:solidFill>
              </a:rPr>
              <a:t>Presenter: </a:t>
            </a:r>
            <a:pPr algn="r" indent="0" marL="0">
              <a:buNone/>
            </a:pPr>
            <a:r>
              <a:rPr lang="en-US" sz="1100" b="1" dirty="0">
                <a:solidFill>
                  <a:srgbClr val="0F2A3A"/>
                </a:solidFill>
              </a:rPr>
              <a:t>Murugan Perumal - EMBAA25020</a:t>
            </a:r>
            <a:endParaRPr lang="en-US" sz="1100" dirty="0"/>
          </a:p>
        </p:txBody>
      </p:sp>
      <p:sp>
        <p:nvSpPr>
          <p:cNvPr id="4" name="Presenter photo placeholder"/>
          <p:cNvSpPr/>
          <p:nvPr/>
        </p:nvSpPr>
        <p:spPr>
          <a:xfrm>
            <a:off x="10744200" y="502920"/>
            <a:ext cx="1188720" cy="868680"/>
          </a:xfrm>
          <a:prstGeom prst="rect">
            <a:avLst/>
          </a:prstGeom>
          <a:solidFill>
            <a:schemeClr val="accent2"/>
          </a:solidFill>
          <a:ln w="12700">
            <a:solidFill>
              <a:schemeClr val="accent2"/>
            </a:solidFill>
            <a:prstDash val="solid"/>
          </a:ln>
        </p:spPr>
      </p:sp>
      <p:sp>
        <p:nvSpPr>
          <p:cNvPr id="5" name="Presenter initials"/>
          <p:cNvSpPr txBox="1"/>
          <p:nvPr/>
        </p:nvSpPr>
        <p:spPr>
          <a:xfrm>
            <a:off x="10744200" y="502920"/>
            <a:ext cx="1188720" cy="868680"/>
          </a:xfrm>
          <a:prstGeom prst="rect">
            <a:avLst/>
          </a:prstGeom>
          <a:noFill/>
          <a:ln/>
        </p:spPr>
        <p:txBody>
          <a:bodyPr wrap="square" lIns="0" tIns="0" rIns="0" bIns="0" rtlCol="0" anchor="ctr"/>
          <a:lstStyle/>
          <a:p>
            <a:pPr algn="ctr" indent="0" marL="0">
              <a:buNone/>
            </a:pPr>
            <a:r>
              <a:rPr lang="en-US" sz="2600" b="1" dirty="0">
                <a:solidFill>
                  <a:schemeClr val="bg1"/>
                </a:solidFill>
              </a:rPr>
              <a:t>MP</a:t>
            </a:r>
            <a:endParaRPr lang="en-US" sz="2600" dirty="0"/>
          </a:p>
        </p:txBody>
      </p:sp>
      <p:sp>
        <p:nvSpPr>
          <p:cNvPr id="6" name="Footer rule"/>
          <p:cNvSpPr/>
          <p:nvPr/>
        </p:nvSpPr>
        <p:spPr>
          <a:xfrm>
            <a:off x="274320" y="6272784"/>
            <a:ext cx="10515600" cy="0"/>
          </a:xfrm>
          <a:prstGeom prst="line">
            <a:avLst/>
          </a:prstGeom>
          <a:noFill/>
          <a:ln w="12700">
            <a:solidFill>
              <a:srgbClr val="EEF2F4"/>
            </a:solidFill>
            <a:prstDash val="solid"/>
          </a:ln>
        </p:spPr>
      </p:sp>
      <p:sp>
        <p:nvSpPr>
          <p:cNvPr id="7" name="Team footer"/>
          <p:cNvSpPr txBox="1"/>
          <p:nvPr/>
        </p:nvSpPr>
        <p:spPr>
          <a:xfrm>
            <a:off x="274320" y="6309360"/>
            <a:ext cx="10515600" cy="457200"/>
          </a:xfrm>
          <a:prstGeom prst="rect">
            <a:avLst/>
          </a:prstGeom>
          <a:noFill/>
          <a:ln/>
        </p:spPr>
        <p:txBody>
          <a:bodyPr wrap="square" lIns="0" tIns="0" rIns="0" bIns="0" rtlCol="0" anchor="ctr"/>
          <a:lstStyle/>
          <a:p>
            <a:pPr algn="ctr" indent="0" marL="0">
              <a:buNone/>
            </a:pPr>
            <a:r>
              <a:rPr lang="en-US" sz="850" b="1" u="sng" dirty="0">
                <a:solidFill>
                  <a:srgbClr val="1F5FA8"/>
                </a:solidFill>
                <a:hlinkClick r:id="rId1" invalidUrl="" action="" tgtFrame="" tooltip="Ankit Singh on LinkedIn" history="1" highlightClick="0" endSnd="0">
                  <a:extLst>
                    <a:ext uri="{A12FA001-AC4F-418D-AE19-62706E023703}">
                      <ahyp:hlinkClr xmlns:ahyp="http://schemas.microsoft.com/office/drawing/2018/hyperlinkcolor" val="tx"/>
                    </a:ext>
                  </a:extLst>
                </a:hlinkClick>
              </a:rPr>
              <a:t>Ankit Singh</a:t>
            </a:r>
            <a:pPr algn="ctr" indent="0" marL="0">
              <a:buNone/>
            </a:pPr>
            <a:r>
              <a:rPr lang="en-US" sz="850" dirty="0">
                <a:solidFill>
                  <a:srgbClr val="5F6B73"/>
                </a:solidFill>
              </a:rPr>
              <a:t> - EMBAA25004 - </a:t>
            </a:r>
            <a:pPr algn="ctr" indent="0" marL="0">
              <a:buNone/>
            </a:pPr>
            <a:r>
              <a:rPr lang="en-US" sz="850" u="sng" dirty="0">
                <a:solidFill>
                  <a:srgbClr val="1F5FA8"/>
                </a:solidFill>
                <a:hlinkClick r:id="rId2" invalidUrl="" action="" tgtFrame="" tooltip="" history="1" highlightClick="0" endSnd="0">
                  <a:extLst>
                    <a:ext uri="{A12FA001-AC4F-418D-AE19-62706E023703}">
                      <ahyp:hlinkClr xmlns:ahyp="http://schemas.microsoft.com/office/drawing/2018/hyperlinkcolor" val="tx"/>
                    </a:ext>
                  </a:extLst>
                </a:hlinkClick>
              </a:rPr>
              <a:t>ankit.embaa25004@iimkashipur.ac.in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3" invalidUrl="" action="" tgtFrame="" tooltip="Gopalakrishnan S on LinkedIn" history="1" highlightClick="0" endSnd="0">
                  <a:extLst>
                    <a:ext uri="{A12FA001-AC4F-418D-AE19-62706E023703}">
                      <ahyp:hlinkClr xmlns:ahyp="http://schemas.microsoft.com/office/drawing/2018/hyperlinkcolor" val="tx"/>
                    </a:ext>
                  </a:extLst>
                </a:hlinkClick>
              </a:rPr>
              <a:t>Gopalakrishnan S</a:t>
            </a:r>
            <a:pPr algn="ctr" indent="0" marL="0">
              <a:buNone/>
            </a:pPr>
            <a:r>
              <a:rPr lang="en-US" sz="850" dirty="0">
                <a:solidFill>
                  <a:srgbClr val="5F6B73"/>
                </a:solidFill>
              </a:rPr>
              <a:t> - EMBAA25017 - </a:t>
            </a:r>
            <a:pPr algn="ctr" indent="0" marL="0">
              <a:buNone/>
            </a:pPr>
            <a:r>
              <a:rPr lang="en-US" sz="850" u="sng" dirty="0">
                <a:solidFill>
                  <a:srgbClr val="1F5FA8"/>
                </a:solidFill>
                <a:hlinkClick r:id="rId4" invalidUrl="" action="" tgtFrame="" tooltip="" history="1" highlightClick="0" endSnd="0">
                  <a:extLst>
                    <a:ext uri="{A12FA001-AC4F-418D-AE19-62706E023703}">
                      <ahyp:hlinkClr xmlns:ahyp="http://schemas.microsoft.com/office/drawing/2018/hyperlinkcolor" val="tx"/>
                    </a:ext>
                  </a:extLst>
                </a:hlinkClick>
              </a:rPr>
              <a:t>gopalakrishnan.embaa25017@iimkashipur.ac.in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5" invalidUrl="" action="" tgtFrame="" tooltip="Murugan Perumal on LinkedIn" history="1" highlightClick="0" endSnd="0">
                  <a:extLst>
                    <a:ext uri="{A12FA001-AC4F-418D-AE19-62706E023703}">
                      <ahyp:hlinkClr xmlns:ahyp="http://schemas.microsoft.com/office/drawing/2018/hyperlinkcolor" val="tx"/>
                    </a:ext>
                  </a:extLst>
                </a:hlinkClick>
              </a:rPr>
              <a:t>Murugan Perumal</a:t>
            </a:r>
            <a:pPr algn="ctr" indent="0" marL="0">
              <a:buNone/>
            </a:pPr>
            <a:r>
              <a:rPr lang="en-US" sz="850" dirty="0">
                <a:solidFill>
                  <a:srgbClr val="5F6B73"/>
                </a:solidFill>
              </a:rPr>
              <a:t> - EMBAA25020 - </a:t>
            </a:r>
            <a:pPr algn="ctr" indent="0" marL="0">
              <a:buNone/>
            </a:pPr>
            <a:r>
              <a:rPr lang="en-US" sz="850" u="sng" dirty="0">
                <a:solidFill>
                  <a:srgbClr val="1F5FA8"/>
                </a:solidFill>
                <a:hlinkClick r:id="rId6" invalidUrl="" action="" tgtFrame="" tooltip="" history="1" highlightClick="0" endSnd="0">
                  <a:extLst>
                    <a:ext uri="{A12FA001-AC4F-418D-AE19-62706E023703}">
                      <ahyp:hlinkClr xmlns:ahyp="http://schemas.microsoft.com/office/drawing/2018/hyperlinkcolor" val="tx"/>
                    </a:ext>
                  </a:extLst>
                </a:hlinkClick>
              </a:rPr>
              <a:t>murugan.embaa25020@iimkashipur.ac.in</a:t>
            </a:r>
            <a:pPr algn="ctr" indent="0" marL="0">
              <a:buNone/>
            </a:pPr>
            <a:endParaRPr lang="en-US" sz="850" dirty="0"/>
          </a:p>
          <a:p>
            <a:pPr algn="ctr" indent="0" marL="0">
              <a:buNone/>
            </a:pPr>
            <a:r>
              <a:rPr lang="en-US" sz="850" b="1" u="sng" dirty="0">
                <a:solidFill>
                  <a:srgbClr val="1F5FA8"/>
                </a:solidFill>
                <a:hlinkClick r:id="rId7" invalidUrl="" action="" tgtFrame="" tooltip="Aswin G. on LinkedIn" history="1" highlightClick="0" endSnd="0">
                  <a:extLst>
                    <a:ext uri="{A12FA001-AC4F-418D-AE19-62706E023703}">
                      <ahyp:hlinkClr xmlns:ahyp="http://schemas.microsoft.com/office/drawing/2018/hyperlinkcolor" val="tx"/>
                    </a:ext>
                  </a:extLst>
                </a:hlinkClick>
              </a:rPr>
              <a:t>Aswin G.</a:t>
            </a:r>
            <a:pPr algn="ctr" indent="0" marL="0">
              <a:buNone/>
            </a:pPr>
            <a:r>
              <a:rPr lang="en-US" sz="850" dirty="0">
                <a:solidFill>
                  <a:srgbClr val="5F6B73"/>
                </a:solidFill>
              </a:rPr>
              <a:t> - EMBAA25008 - </a:t>
            </a:r>
            <a:pPr algn="ctr" indent="0" marL="0">
              <a:buNone/>
            </a:pPr>
            <a:r>
              <a:rPr lang="en-US" sz="850" u="sng" dirty="0">
                <a:solidFill>
                  <a:srgbClr val="1F5FA8"/>
                </a:solidFill>
                <a:hlinkClick r:id="rId8" invalidUrl="" action="" tgtFrame="" tooltip="" history="1" highlightClick="0" endSnd="0">
                  <a:extLst>
                    <a:ext uri="{A12FA001-AC4F-418D-AE19-62706E023703}">
                      <ahyp:hlinkClr xmlns:ahyp="http://schemas.microsoft.com/office/drawing/2018/hyperlinkcolor" val="tx"/>
                    </a:ext>
                  </a:extLst>
                </a:hlinkClick>
              </a:rPr>
              <a:t>aswin.embaa25008@iimkashipur.ac.in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9" invalidUrl="" action="" tgtFrame="" tooltip="Atul Kumar Singh on LinkedIn" history="1" highlightClick="0" endSnd="0">
                  <a:extLst>
                    <a:ext uri="{A12FA001-AC4F-418D-AE19-62706E023703}">
                      <ahyp:hlinkClr xmlns:ahyp="http://schemas.microsoft.com/office/drawing/2018/hyperlinkcolor" val="tx"/>
                    </a:ext>
                  </a:extLst>
                </a:hlinkClick>
              </a:rPr>
              <a:t>Atul Kumar Singh</a:t>
            </a:r>
            <a:pPr algn="ctr" indent="0" marL="0">
              <a:buNone/>
            </a:pPr>
            <a:r>
              <a:rPr lang="en-US" sz="850" dirty="0">
                <a:solidFill>
                  <a:srgbClr val="5F6B73"/>
                </a:solidFill>
              </a:rPr>
              <a:t> - EMBAA25009 - </a:t>
            </a:r>
            <a:pPr algn="ctr" indent="0" marL="0">
              <a:buNone/>
            </a:pPr>
            <a:r>
              <a:rPr lang="en-US" sz="850" u="sng" dirty="0">
                <a:solidFill>
                  <a:srgbClr val="1F5FA8"/>
                </a:solidFill>
                <a:hlinkClick r:id="rId10" invalidUrl="" action="" tgtFrame="" tooltip="" history="1" highlightClick="0" endSnd="0">
                  <a:extLst>
                    <a:ext uri="{A12FA001-AC4F-418D-AE19-62706E023703}">
                      <ahyp:hlinkClr xmlns:ahyp="http://schemas.microsoft.com/office/drawing/2018/hyperlinkcolor" val="tx"/>
                    </a:ext>
                  </a:extLst>
                </a:hlinkClick>
              </a:rPr>
              <a:t>atul.embaa25009@iimkashipur.ac.in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11" invalidUrl="" action="" tgtFrame="" tooltip="Devanshu Priyam on LinkedIn" history="1" highlightClick="0" endSnd="0">
                  <a:extLst>
                    <a:ext uri="{A12FA001-AC4F-418D-AE19-62706E023703}">
                      <ahyp:hlinkClr xmlns:ahyp="http://schemas.microsoft.com/office/drawing/2018/hyperlinkcolor" val="tx"/>
                    </a:ext>
                  </a:extLst>
                </a:hlinkClick>
              </a:rPr>
              <a:t>Devanshu Priyam</a:t>
            </a:r>
            <a:pPr algn="ctr" indent="0" marL="0">
              <a:buNone/>
            </a:pPr>
            <a:r>
              <a:rPr lang="en-US" sz="850" dirty="0">
                <a:solidFill>
                  <a:srgbClr val="5F6B73"/>
                </a:solidFill>
              </a:rPr>
              <a:t> - EMBAA25014 - </a:t>
            </a:r>
            <a:pPr algn="ctr" indent="0" marL="0">
              <a:buNone/>
            </a:pPr>
            <a:r>
              <a:rPr lang="en-US" sz="850" u="sng" dirty="0">
                <a:solidFill>
                  <a:srgbClr val="1F5FA8"/>
                </a:solidFill>
                <a:hlinkClick r:id="rId12" invalidUrl="" action="" tgtFrame="" tooltip="" history="1" highlightClick="0" endSnd="0">
                  <a:extLst>
                    <a:ext uri="{A12FA001-AC4F-418D-AE19-62706E023703}">
                      <ahyp:hlinkClr xmlns:ahyp="http://schemas.microsoft.com/office/drawing/2018/hyperlinkcolor" val="tx"/>
                    </a:ext>
                  </a:extLst>
                </a:hlinkClick>
              </a:rPr>
              <a:t>devanshu.embaa25014@iimkashipur.ac.in</a:t>
            </a:r>
            <a:endParaRPr lang="en-US" sz="850" dirty="0"/>
          </a:p>
        </p:txBody>
      </p:sp>
      <p:graphicFrame>
        <p:nvGraphicFramePr>
          <p:cNvPr id="9" name="Chart 0" descr=""/>
          <p:cNvGraphicFramePr/>
          <p:nvPr/>
        </p:nvGraphicFramePr>
        <p:xfrm>
          <a:off x="411480" y="1600200"/>
          <a:ext cx="6949440" cy="4480560"/>
        </p:xfrm>
        <a:graphic xmlns:a="http://schemas.openxmlformats.org/drawingml/2006/main">
          <a:graphicData uri="http://schemas.openxmlformats.org/drawingml/2006/chart">
            <c:chart xmlns:c="http://schemas.openxmlformats.org/drawingml/2006/chart" r:id="rId13"/>
          </a:graphicData>
        </a:graphic>
      </p:graphicFrame>
      <p:sp>
        <p:nvSpPr>
          <p:cNvPr id="10" name="Answer card"/>
          <p:cNvSpPr/>
          <p:nvPr/>
        </p:nvSpPr>
        <p:spPr>
          <a:xfrm>
            <a:off x="7680960" y="1645920"/>
            <a:ext cx="4069080" cy="2148840"/>
          </a:xfrm>
          <a:prstGeom prst="roundRect">
            <a:avLst>
              <a:gd name="adj" fmla="val 3404"/>
            </a:avLst>
          </a:prstGeom>
          <a:solidFill>
            <a:schemeClr val="tx2"/>
          </a:solidFill>
          <a:ln w="12700">
            <a:solidFill>
              <a:schemeClr val="tx2"/>
            </a:solidFill>
            <a:prstDash val="solid"/>
          </a:ln>
        </p:spPr>
      </p:sp>
      <p:sp>
        <p:nvSpPr>
          <p:cNvPr id="11" name="Text 7"/>
          <p:cNvSpPr txBox="1"/>
          <p:nvPr/>
        </p:nvSpPr>
        <p:spPr>
          <a:xfrm>
            <a:off x="7863840" y="1783080"/>
            <a:ext cx="3703320" cy="1920240"/>
          </a:xfrm>
          <a:prstGeom prst="rect">
            <a:avLst/>
          </a:prstGeom>
          <a:noFill/>
          <a:ln/>
        </p:spPr>
        <p:txBody>
          <a:bodyPr wrap="square" lIns="0" tIns="0" rIns="0" bIns="0" rtlCol="0" anchor="t"/>
          <a:lstStyle/>
          <a:p>
            <a:pPr indent="0" marL="0">
              <a:buNone/>
            </a:pPr>
            <a:r>
              <a:rPr lang="en-US" sz="2400" b="1" dirty="0">
                <a:solidFill>
                  <a:srgbClr val="E8871E"/>
                </a:solidFill>
                <a:latin typeface="Cambria" pitchFamily="34" charset="0"/>
                <a:ea typeface="Cambria" pitchFamily="34" charset="-122"/>
                <a:cs typeface="Cambria" pitchFamily="34" charset="-120"/>
              </a:rPr>
              <a:t>Answer: No</a:t>
            </a:r>
            <a:endParaRPr lang="en-US" sz="1500" dirty="0"/>
          </a:p>
          <a:p>
            <a:pPr indent="0" marL="0">
              <a:buNone/>
            </a:pPr>
            <a:r>
              <a:rPr lang="en-US" sz="1400" dirty="0">
                <a:solidFill>
                  <a:srgbClr val="FFFFFF"/>
                </a:solidFill>
              </a:rPr>
              <a:t>Holding the other drivers constant, oil's coefficient is −0.001 (p = 0.86). A 20% oil spike goes with a 0.03% move: effectively zero.</a:t>
            </a:r>
            <a:endParaRPr lang="en-US" sz="1500" dirty="0"/>
          </a:p>
        </p:txBody>
      </p:sp>
      <p:sp>
        <p:nvSpPr>
          <p:cNvPr id="12" name="Text 8"/>
          <p:cNvSpPr txBox="1"/>
          <p:nvPr/>
        </p:nvSpPr>
        <p:spPr>
          <a:xfrm>
            <a:off x="7680960" y="4023360"/>
            <a:ext cx="4069080" cy="20116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AIC falls from 497 (B) to 432 (C)</a:t>
            </a:r>
            <a:endParaRPr lang="en-US" sz="1400" dirty="0"/>
          </a:p>
          <a:p>
            <a:pPr marL="342900" indent="-342900">
              <a:spcAft>
                <a:spcPts val="800"/>
              </a:spcAft>
              <a:buSzPct val="100000"/>
              <a:buChar char="•"/>
            </a:pPr>
            <a:r>
              <a:rPr lang="en-US" sz="1400" dirty="0">
                <a:solidFill>
                  <a:schemeClr val="tx1"/>
                </a:solidFill>
              </a:rPr>
              <a:t>Model D adds VIX and lagged FPI but no fit</a:t>
            </a:r>
            <a:endParaRPr lang="en-US" sz="1400" dirty="0"/>
          </a:p>
          <a:p>
            <a:pPr marL="342900" indent="-342900">
              <a:spcAft>
                <a:spcPts val="800"/>
              </a:spcAft>
              <a:buSzPct val="100000"/>
              <a:buChar char="•"/>
            </a:pPr>
            <a:r>
              <a:rPr lang="en-US" sz="1400" dirty="0">
                <a:solidFill>
                  <a:schemeClr val="tx1"/>
                </a:solidFill>
              </a:rPr>
              <a:t>Model C chosen as the explanatory model</a:t>
            </a:r>
            <a:endParaRPr lang="en-US" sz="1400" dirty="0"/>
          </a:p>
          <a:p>
            <a:pPr marL="342900" indent="-342900">
              <a:spcAft>
                <a:spcPts val="800"/>
              </a:spcAft>
              <a:buSzPct val="100000"/>
              <a:buChar char="•"/>
            </a:pPr>
            <a:r>
              <a:rPr lang="en-US" sz="1400" dirty="0">
                <a:solidFill>
                  <a:schemeClr val="tx1"/>
                </a:solidFill>
              </a:rPr>
              <a:t>All five models fitted with lm() on 131 months</a:t>
            </a:r>
            <a:endParaRPr lang="en-US" sz="1400" dirty="0"/>
          </a:p>
        </p:txBody>
      </p:sp>
      <p:sp>
        <p:nvSpPr>
          <p:cNvPr id="25" name="Slide Number Placeholder 0"/>
          <p:cNvSpPr>
            <a:spLocks noGrp="1"/>
          </p:cNvSpPr>
          <p:nvPr>
            <p:ph type="sldNum" sz="quarter" idx="4294967295"/>
          </p:nvPr>
        </p:nvSpPr>
        <p:spPr>
          <a:xfrm>
            <a:off x="10927080" y="6382512"/>
            <a:ext cx="420624" cy="329184"/>
          </a:xfrm>
          <a:prstGeom prst="rect">
            <a:avLst/>
          </a:prstGeom>
          <a:extLst>
            <a:ext uri="{C572A759-6A51-4108-AA02-DFA0A04FC94B}">
              <ma14:wrappingTextBoxFlag xmlns:ma14="http://schemas.microsoft.com/office/mac/drawingml/2011/main" val="0"/>
            </a:ext>
          </a:extLst>
        </p:spPr>
        <p:txBody>
          <a:bodyPr/>
          <a:lstStyle>
            <a:lvl1pPr>
              <a:defRPr sz="1200">
                <a:solidFill>
                  <a:srgbClr val="0F2A3A"/>
                </a:solidFill>
                <a:latin typeface="Calibri"/>
                <a:ea typeface="Calibri"/>
                <a:cs typeface="Calibri"/>
              </a:defRPr>
            </a:lvl1pPr>
          </a:lstStyle>
          <a:p>
            <a:pPr algn="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5"/>
          <p:cNvSpPr/>
          <p:nvPr>
            <p:ph idx="105" type="title" hasCustomPrompt="1"/>
          </p:nvPr>
        </p:nvSpPr>
        <p:spPr>
          <a:xfrm>
            <a:off x="365760" y="502920"/>
            <a:ext cx="10058400" cy="868680"/>
          </a:xfrm>
          <a:prstGeom prst="rect">
            <a:avLst/>
          </a:prstGeom>
          <a:noFill/>
          <a:ln/>
        </p:spPr>
        <p:txBody>
          <a:bodyPr wrap="square" lIns="0" tIns="0" rIns="0" bIns="0" rtlCol="0" anchor="ctr"/>
          <a:lstStyle/>
          <a:p>
            <a:pPr algn="l" indent="0" marL="0">
              <a:buNone/>
            </a:pPr>
            <a:r>
              <a:rPr lang="en-US" sz="2800" b="1" dirty="0">
                <a:solidFill>
                  <a:srgbClr val="FFFFFF"/>
                </a:solidFill>
              </a:rPr>
              <a:t>Driver scorecard: only FPI and the dollar are significant</a:t>
            </a:r>
            <a:endParaRPr lang="en-US" sz="2800" dirty="0"/>
          </a:p>
        </p:txBody>
      </p:sp>
      <p:sp>
        <p:nvSpPr>
          <p:cNvPr id="3" name="Current presenter"/>
          <p:cNvSpPr txBox="1"/>
          <p:nvPr/>
        </p:nvSpPr>
        <p:spPr>
          <a:xfrm>
            <a:off x="8869680" y="91440"/>
            <a:ext cx="3063240" cy="310896"/>
          </a:xfrm>
          <a:prstGeom prst="rect">
            <a:avLst/>
          </a:prstGeom>
          <a:noFill/>
          <a:ln/>
        </p:spPr>
        <p:txBody>
          <a:bodyPr wrap="square" lIns="0" tIns="0" rIns="0" bIns="0" rtlCol="0" anchor="ctr"/>
          <a:lstStyle/>
          <a:p>
            <a:pPr algn="r" indent="0" marL="0">
              <a:buNone/>
            </a:pPr>
            <a:r>
              <a:rPr lang="en-US" sz="1100" dirty="0">
                <a:solidFill>
                  <a:srgbClr val="5F6B73"/>
                </a:solidFill>
              </a:rPr>
              <a:t>Presenter: </a:t>
            </a:r>
            <a:pPr algn="r" indent="0" marL="0">
              <a:buNone/>
            </a:pPr>
            <a:r>
              <a:rPr lang="en-US" sz="1100" b="1" dirty="0">
                <a:solidFill>
                  <a:srgbClr val="0F2A3A"/>
                </a:solidFill>
              </a:rPr>
              <a:t>Murugan Perumal - EMBAA25020</a:t>
            </a:r>
            <a:endParaRPr lang="en-US" sz="1100" dirty="0"/>
          </a:p>
        </p:txBody>
      </p:sp>
      <p:sp>
        <p:nvSpPr>
          <p:cNvPr id="4" name="Presenter photo placeholder"/>
          <p:cNvSpPr/>
          <p:nvPr/>
        </p:nvSpPr>
        <p:spPr>
          <a:xfrm>
            <a:off x="10744200" y="502920"/>
            <a:ext cx="1188720" cy="868680"/>
          </a:xfrm>
          <a:prstGeom prst="rect">
            <a:avLst/>
          </a:prstGeom>
          <a:solidFill>
            <a:schemeClr val="accent2"/>
          </a:solidFill>
          <a:ln w="12700">
            <a:solidFill>
              <a:schemeClr val="accent2"/>
            </a:solidFill>
            <a:prstDash val="solid"/>
          </a:ln>
        </p:spPr>
      </p:sp>
      <p:sp>
        <p:nvSpPr>
          <p:cNvPr id="5" name="Presenter initials"/>
          <p:cNvSpPr txBox="1"/>
          <p:nvPr/>
        </p:nvSpPr>
        <p:spPr>
          <a:xfrm>
            <a:off x="10744200" y="502920"/>
            <a:ext cx="1188720" cy="868680"/>
          </a:xfrm>
          <a:prstGeom prst="rect">
            <a:avLst/>
          </a:prstGeom>
          <a:noFill/>
          <a:ln/>
        </p:spPr>
        <p:txBody>
          <a:bodyPr wrap="square" lIns="0" tIns="0" rIns="0" bIns="0" rtlCol="0" anchor="ctr"/>
          <a:lstStyle/>
          <a:p>
            <a:pPr algn="ctr" indent="0" marL="0">
              <a:buNone/>
            </a:pPr>
            <a:r>
              <a:rPr lang="en-US" sz="2600" b="1" dirty="0">
                <a:solidFill>
                  <a:schemeClr val="bg1"/>
                </a:solidFill>
              </a:rPr>
              <a:t>MP</a:t>
            </a:r>
            <a:endParaRPr lang="en-US" sz="2600" dirty="0"/>
          </a:p>
        </p:txBody>
      </p:sp>
      <p:sp>
        <p:nvSpPr>
          <p:cNvPr id="6" name="Footer rule"/>
          <p:cNvSpPr/>
          <p:nvPr/>
        </p:nvSpPr>
        <p:spPr>
          <a:xfrm>
            <a:off x="274320" y="6272784"/>
            <a:ext cx="10515600" cy="0"/>
          </a:xfrm>
          <a:prstGeom prst="line">
            <a:avLst/>
          </a:prstGeom>
          <a:noFill/>
          <a:ln w="12700">
            <a:solidFill>
              <a:srgbClr val="EEF2F4"/>
            </a:solidFill>
            <a:prstDash val="solid"/>
          </a:ln>
        </p:spPr>
      </p:sp>
      <p:sp>
        <p:nvSpPr>
          <p:cNvPr id="7" name="Team footer"/>
          <p:cNvSpPr txBox="1"/>
          <p:nvPr/>
        </p:nvSpPr>
        <p:spPr>
          <a:xfrm>
            <a:off x="274320" y="6309360"/>
            <a:ext cx="10515600" cy="457200"/>
          </a:xfrm>
          <a:prstGeom prst="rect">
            <a:avLst/>
          </a:prstGeom>
          <a:noFill/>
          <a:ln/>
        </p:spPr>
        <p:txBody>
          <a:bodyPr wrap="square" lIns="0" tIns="0" rIns="0" bIns="0" rtlCol="0" anchor="ctr"/>
          <a:lstStyle/>
          <a:p>
            <a:pPr algn="ctr" indent="0" marL="0">
              <a:buNone/>
            </a:pPr>
            <a:r>
              <a:rPr lang="en-US" sz="850" b="1" u="sng" dirty="0">
                <a:solidFill>
                  <a:srgbClr val="1F5FA8"/>
                </a:solidFill>
                <a:hlinkClick r:id="rId1" invalidUrl="" action="" tgtFrame="" tooltip="Ankit Singh on LinkedIn" history="1" highlightClick="0" endSnd="0">
                  <a:extLst>
                    <a:ext uri="{A12FA001-AC4F-418D-AE19-62706E023703}">
                      <ahyp:hlinkClr xmlns:ahyp="http://schemas.microsoft.com/office/drawing/2018/hyperlinkcolor" val="tx"/>
                    </a:ext>
                  </a:extLst>
                </a:hlinkClick>
              </a:rPr>
              <a:t>Ankit Singh</a:t>
            </a:r>
            <a:pPr algn="ctr" indent="0" marL="0">
              <a:buNone/>
            </a:pPr>
            <a:r>
              <a:rPr lang="en-US" sz="850" dirty="0">
                <a:solidFill>
                  <a:srgbClr val="5F6B73"/>
                </a:solidFill>
              </a:rPr>
              <a:t> - EMBAA25004 - </a:t>
            </a:r>
            <a:pPr algn="ctr" indent="0" marL="0">
              <a:buNone/>
            </a:pPr>
            <a:r>
              <a:rPr lang="en-US" sz="850" u="sng" dirty="0">
                <a:solidFill>
                  <a:srgbClr val="1F5FA8"/>
                </a:solidFill>
                <a:hlinkClick r:id="rId2" invalidUrl="" action="" tgtFrame="" tooltip="" history="1" highlightClick="0" endSnd="0">
                  <a:extLst>
                    <a:ext uri="{A12FA001-AC4F-418D-AE19-62706E023703}">
                      <ahyp:hlinkClr xmlns:ahyp="http://schemas.microsoft.com/office/drawing/2018/hyperlinkcolor" val="tx"/>
                    </a:ext>
                  </a:extLst>
                </a:hlinkClick>
              </a:rPr>
              <a:t>ankit.embaa25004@iimkashipur.ac.in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3" invalidUrl="" action="" tgtFrame="" tooltip="Gopalakrishnan S on LinkedIn" history="1" highlightClick="0" endSnd="0">
                  <a:extLst>
                    <a:ext uri="{A12FA001-AC4F-418D-AE19-62706E023703}">
                      <ahyp:hlinkClr xmlns:ahyp="http://schemas.microsoft.com/office/drawing/2018/hyperlinkcolor" val="tx"/>
                    </a:ext>
                  </a:extLst>
                </a:hlinkClick>
              </a:rPr>
              <a:t>Gopalakrishnan S</a:t>
            </a:r>
            <a:pPr algn="ctr" indent="0" marL="0">
              <a:buNone/>
            </a:pPr>
            <a:r>
              <a:rPr lang="en-US" sz="850" dirty="0">
                <a:solidFill>
                  <a:srgbClr val="5F6B73"/>
                </a:solidFill>
              </a:rPr>
              <a:t> - EMBAA25017 - </a:t>
            </a:r>
            <a:pPr algn="ctr" indent="0" marL="0">
              <a:buNone/>
            </a:pPr>
            <a:r>
              <a:rPr lang="en-US" sz="850" u="sng" dirty="0">
                <a:solidFill>
                  <a:srgbClr val="1F5FA8"/>
                </a:solidFill>
                <a:hlinkClick r:id="rId4" invalidUrl="" action="" tgtFrame="" tooltip="" history="1" highlightClick="0" endSnd="0">
                  <a:extLst>
                    <a:ext uri="{A12FA001-AC4F-418D-AE19-62706E023703}">
                      <ahyp:hlinkClr xmlns:ahyp="http://schemas.microsoft.com/office/drawing/2018/hyperlinkcolor" val="tx"/>
                    </a:ext>
                  </a:extLst>
                </a:hlinkClick>
              </a:rPr>
              <a:t>gopalakrishnan.embaa25017@iimkashipur.ac.in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5" invalidUrl="" action="" tgtFrame="" tooltip="Murugan Perumal on LinkedIn" history="1" highlightClick="0" endSnd="0">
                  <a:extLst>
                    <a:ext uri="{A12FA001-AC4F-418D-AE19-62706E023703}">
                      <ahyp:hlinkClr xmlns:ahyp="http://schemas.microsoft.com/office/drawing/2018/hyperlinkcolor" val="tx"/>
                    </a:ext>
                  </a:extLst>
                </a:hlinkClick>
              </a:rPr>
              <a:t>Murugan Perumal</a:t>
            </a:r>
            <a:pPr algn="ctr" indent="0" marL="0">
              <a:buNone/>
            </a:pPr>
            <a:r>
              <a:rPr lang="en-US" sz="850" dirty="0">
                <a:solidFill>
                  <a:srgbClr val="5F6B73"/>
                </a:solidFill>
              </a:rPr>
              <a:t> - EMBAA25020 - </a:t>
            </a:r>
            <a:pPr algn="ctr" indent="0" marL="0">
              <a:buNone/>
            </a:pPr>
            <a:r>
              <a:rPr lang="en-US" sz="850" u="sng" dirty="0">
                <a:solidFill>
                  <a:srgbClr val="1F5FA8"/>
                </a:solidFill>
                <a:hlinkClick r:id="rId6" invalidUrl="" action="" tgtFrame="" tooltip="" history="1" highlightClick="0" endSnd="0">
                  <a:extLst>
                    <a:ext uri="{A12FA001-AC4F-418D-AE19-62706E023703}">
                      <ahyp:hlinkClr xmlns:ahyp="http://schemas.microsoft.com/office/drawing/2018/hyperlinkcolor" val="tx"/>
                    </a:ext>
                  </a:extLst>
                </a:hlinkClick>
              </a:rPr>
              <a:t>murugan.embaa25020@iimkashipur.ac.in</a:t>
            </a:r>
            <a:pPr algn="ctr" indent="0" marL="0">
              <a:buNone/>
            </a:pPr>
            <a:endParaRPr lang="en-US" sz="850" dirty="0"/>
          </a:p>
          <a:p>
            <a:pPr algn="ctr" indent="0" marL="0">
              <a:buNone/>
            </a:pPr>
            <a:r>
              <a:rPr lang="en-US" sz="850" b="1" u="sng" dirty="0">
                <a:solidFill>
                  <a:srgbClr val="1F5FA8"/>
                </a:solidFill>
                <a:hlinkClick r:id="rId7" invalidUrl="" action="" tgtFrame="" tooltip="Aswin G. on LinkedIn" history="1" highlightClick="0" endSnd="0">
                  <a:extLst>
                    <a:ext uri="{A12FA001-AC4F-418D-AE19-62706E023703}">
                      <ahyp:hlinkClr xmlns:ahyp="http://schemas.microsoft.com/office/drawing/2018/hyperlinkcolor" val="tx"/>
                    </a:ext>
                  </a:extLst>
                </a:hlinkClick>
              </a:rPr>
              <a:t>Aswin G.</a:t>
            </a:r>
            <a:pPr algn="ctr" indent="0" marL="0">
              <a:buNone/>
            </a:pPr>
            <a:r>
              <a:rPr lang="en-US" sz="850" dirty="0">
                <a:solidFill>
                  <a:srgbClr val="5F6B73"/>
                </a:solidFill>
              </a:rPr>
              <a:t> - EMBAA25008 - </a:t>
            </a:r>
            <a:pPr algn="ctr" indent="0" marL="0">
              <a:buNone/>
            </a:pPr>
            <a:r>
              <a:rPr lang="en-US" sz="850" u="sng" dirty="0">
                <a:solidFill>
                  <a:srgbClr val="1F5FA8"/>
                </a:solidFill>
                <a:hlinkClick r:id="rId8" invalidUrl="" action="" tgtFrame="" tooltip="" history="1" highlightClick="0" endSnd="0">
                  <a:extLst>
                    <a:ext uri="{A12FA001-AC4F-418D-AE19-62706E023703}">
                      <ahyp:hlinkClr xmlns:ahyp="http://schemas.microsoft.com/office/drawing/2018/hyperlinkcolor" val="tx"/>
                    </a:ext>
                  </a:extLst>
                </a:hlinkClick>
              </a:rPr>
              <a:t>aswin.embaa25008@iimkashipur.ac.in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9" invalidUrl="" action="" tgtFrame="" tooltip="Atul Kumar Singh on LinkedIn" history="1" highlightClick="0" endSnd="0">
                  <a:extLst>
                    <a:ext uri="{A12FA001-AC4F-418D-AE19-62706E023703}">
                      <ahyp:hlinkClr xmlns:ahyp="http://schemas.microsoft.com/office/drawing/2018/hyperlinkcolor" val="tx"/>
                    </a:ext>
                  </a:extLst>
                </a:hlinkClick>
              </a:rPr>
              <a:t>Atul Kumar Singh</a:t>
            </a:r>
            <a:pPr algn="ctr" indent="0" marL="0">
              <a:buNone/>
            </a:pPr>
            <a:r>
              <a:rPr lang="en-US" sz="850" dirty="0">
                <a:solidFill>
                  <a:srgbClr val="5F6B73"/>
                </a:solidFill>
              </a:rPr>
              <a:t> - EMBAA25009 - </a:t>
            </a:r>
            <a:pPr algn="ctr" indent="0" marL="0">
              <a:buNone/>
            </a:pPr>
            <a:r>
              <a:rPr lang="en-US" sz="850" u="sng" dirty="0">
                <a:solidFill>
                  <a:srgbClr val="1F5FA8"/>
                </a:solidFill>
                <a:hlinkClick r:id="rId10" invalidUrl="" action="" tgtFrame="" tooltip="" history="1" highlightClick="0" endSnd="0">
                  <a:extLst>
                    <a:ext uri="{A12FA001-AC4F-418D-AE19-62706E023703}">
                      <ahyp:hlinkClr xmlns:ahyp="http://schemas.microsoft.com/office/drawing/2018/hyperlinkcolor" val="tx"/>
                    </a:ext>
                  </a:extLst>
                </a:hlinkClick>
              </a:rPr>
              <a:t>atul.embaa25009@iimkashipur.ac.in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11" invalidUrl="" action="" tgtFrame="" tooltip="Devanshu Priyam on LinkedIn" history="1" highlightClick="0" endSnd="0">
                  <a:extLst>
                    <a:ext uri="{A12FA001-AC4F-418D-AE19-62706E023703}">
                      <ahyp:hlinkClr xmlns:ahyp="http://schemas.microsoft.com/office/drawing/2018/hyperlinkcolor" val="tx"/>
                    </a:ext>
                  </a:extLst>
                </a:hlinkClick>
              </a:rPr>
              <a:t>Devanshu Priyam</a:t>
            </a:r>
            <a:pPr algn="ctr" indent="0" marL="0">
              <a:buNone/>
            </a:pPr>
            <a:r>
              <a:rPr lang="en-US" sz="850" dirty="0">
                <a:solidFill>
                  <a:srgbClr val="5F6B73"/>
                </a:solidFill>
              </a:rPr>
              <a:t> - EMBAA25014 - </a:t>
            </a:r>
            <a:pPr algn="ctr" indent="0" marL="0">
              <a:buNone/>
            </a:pPr>
            <a:r>
              <a:rPr lang="en-US" sz="850" u="sng" dirty="0">
                <a:solidFill>
                  <a:srgbClr val="1F5FA8"/>
                </a:solidFill>
                <a:hlinkClick r:id="rId12" invalidUrl="" action="" tgtFrame="" tooltip="" history="1" highlightClick="0" endSnd="0">
                  <a:extLst>
                    <a:ext uri="{A12FA001-AC4F-418D-AE19-62706E023703}">
                      <ahyp:hlinkClr xmlns:ahyp="http://schemas.microsoft.com/office/drawing/2018/hyperlinkcolor" val="tx"/>
                    </a:ext>
                  </a:extLst>
                </a:hlinkClick>
              </a:rPr>
              <a:t>devanshu.embaa25014@iimkashipur.ac.in</a:t>
            </a:r>
            <a:endParaRPr lang="en-US" sz="850" dirty="0"/>
          </a:p>
        </p:txBody>
      </p:sp>
      <p:graphicFrame>
        <p:nvGraphicFramePr>
          <p:cNvPr id="9" name="Chart 0" descr=""/>
          <p:cNvGraphicFramePr/>
          <p:nvPr/>
        </p:nvGraphicFramePr>
        <p:xfrm>
          <a:off x="411480" y="1600200"/>
          <a:ext cx="6035040" cy="4480560"/>
        </p:xfrm>
        <a:graphic xmlns:a="http://schemas.openxmlformats.org/drawingml/2006/main">
          <a:graphicData uri="http://schemas.openxmlformats.org/drawingml/2006/chart">
            <c:chart xmlns:c="http://schemas.openxmlformats.org/drawingml/2006/chart" r:id="rId13"/>
          </a:graphicData>
        </a:graphic>
      </p:graphicFrame>
      <p:sp>
        <p:nvSpPr>
          <p:cNvPr id="10" name="Units card"/>
          <p:cNvSpPr/>
          <p:nvPr/>
        </p:nvSpPr>
        <p:spPr>
          <a:xfrm>
            <a:off x="6720840" y="1645920"/>
            <a:ext cx="5029200" cy="1600200"/>
          </a:xfrm>
          <a:prstGeom prst="roundRect">
            <a:avLst>
              <a:gd name="adj" fmla="val 4571"/>
            </a:avLst>
          </a:prstGeom>
          <a:solidFill>
            <a:schemeClr val="bg2"/>
          </a:solidFill>
          <a:ln w="12700">
            <a:solidFill>
              <a:schemeClr val="bg2"/>
            </a:solidFill>
            <a:prstDash val="solid"/>
          </a:ln>
        </p:spPr>
      </p:sp>
      <p:sp>
        <p:nvSpPr>
          <p:cNvPr id="11" name="Text 7"/>
          <p:cNvSpPr txBox="1"/>
          <p:nvPr/>
        </p:nvSpPr>
        <p:spPr>
          <a:xfrm>
            <a:off x="6903720" y="1755648"/>
            <a:ext cx="4663440" cy="1417320"/>
          </a:xfrm>
          <a:prstGeom prst="rect">
            <a:avLst/>
          </a:prstGeom>
          <a:noFill/>
          <a:ln/>
        </p:spPr>
        <p:txBody>
          <a:bodyPr wrap="square" lIns="0" tIns="0" rIns="0" bIns="0" rtlCol="0" anchor="t"/>
          <a:lstStyle/>
          <a:p>
            <a:pPr indent="0" marL="0">
              <a:buNone/>
            </a:pPr>
            <a:r>
              <a:rPr lang="en-US" sz="1400" b="1" dirty="0">
                <a:solidFill>
                  <a:srgbClr val="0F2A3A"/>
                </a:solidFill>
              </a:rPr>
              <a:t>In real units</a:t>
            </a:r>
            <a:endParaRPr lang="en-US" sz="1400" dirty="0"/>
          </a:p>
          <a:p>
            <a:pPr marL="342900" indent="-342900">
              <a:buSzPct val="100000"/>
              <a:buChar char="•"/>
            </a:pPr>
            <a:r>
              <a:rPr lang="en-US" sz="1400" dirty="0">
                <a:solidFill>
                  <a:schemeClr val="tx1"/>
                </a:solidFill>
              </a:rPr>
              <a:t>US$1 bn FPI inflow → rupee 0.18% stronger (p &lt; 0.001)</a:t>
            </a:r>
            <a:endParaRPr lang="en-US" sz="1400" dirty="0"/>
          </a:p>
          <a:p>
            <a:pPr marL="342900" indent="-342900">
              <a:buSzPct val="100000"/>
              <a:buChar char="•"/>
            </a:pPr>
            <a:r>
              <a:rPr lang="en-US" sz="1400" dirty="0">
                <a:solidFill>
                  <a:schemeClr val="tx1"/>
                </a:solidFill>
              </a:rPr>
              <a:t>1% broad-dollar rise → rupee 0.43% weaker (p &lt; 0.001)</a:t>
            </a:r>
            <a:endParaRPr lang="en-US" sz="1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720840" y="3429000"/>
          <a:ext cx="5029200" cy="914400"/>
        </p:xfrm>
        <a:graphic>
          <a:graphicData uri="http://schemas.openxmlformats.org/drawingml/2006/table">
            <a:tbl>
              <a:tblPr/>
              <a:tblGrid>
                <a:gridCol w="1554480"/>
                <a:gridCol w="1554480"/>
                <a:gridCol w="1920240"/>
              </a:tblGrid>
              <a:tr h="0">
                <a:tc>
                  <a:txBody>
                    <a:bodyPr/>
                    <a:lstStyle/>
                    <a:p>
                      <a:pPr indent="0" marL="0">
                        <a:buNone/>
                      </a:pPr>
                      <a:r>
                        <a:rPr lang="en-US" sz="1250" b="1" dirty="0">
                          <a:solidFill>
                            <a:srgbClr val="FFFFFF"/>
                          </a:solidFill>
                        </a:rPr>
                        <a:t>Diagnostic</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0F2A3A"/>
                    </a:solidFill>
                  </a:tcPr>
                </a:tc>
                <a:tc>
                  <a:txBody>
                    <a:bodyPr/>
                    <a:lstStyle/>
                    <a:p>
                      <a:pPr indent="0" marL="0">
                        <a:buNone/>
                      </a:pPr>
                      <a:r>
                        <a:rPr lang="en-US" sz="1250" b="1" dirty="0">
                          <a:solidFill>
                            <a:srgbClr val="FFFFFF"/>
                          </a:solidFill>
                        </a:rPr>
                        <a:t>Result</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0F2A3A"/>
                    </a:solidFill>
                  </a:tcPr>
                </a:tc>
                <a:tc>
                  <a:txBody>
                    <a:bodyPr/>
                    <a:lstStyle/>
                    <a:p>
                      <a:pPr indent="0" marL="0">
                        <a:buNone/>
                      </a:pPr>
                      <a:r>
                        <a:rPr lang="en-US" sz="1250" b="1" dirty="0">
                          <a:solidFill>
                            <a:srgbClr val="FFFFFF"/>
                          </a:solidFill>
                        </a:rPr>
                        <a:t>Reading</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0F2A3A"/>
                    </a:solidFill>
                  </a:tcPr>
                </a:tc>
              </a:tr>
              <a:tr h="0">
                <a:tc>
                  <a:txBody>
                    <a:bodyPr/>
                    <a:lstStyle/>
                    <a:p>
                      <a:pPr indent="0" marL="0">
                        <a:buNone/>
                      </a:pPr>
                      <a:r>
                        <a:rPr lang="en-US" sz="1250" dirty="0">
                          <a:solidFill>
                            <a:srgbClr val="1B1F23"/>
                          </a:solidFill>
                        </a:rPr>
                        <a:t>VIF</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250" dirty="0">
                          <a:solidFill>
                            <a:srgbClr val="1B1F23"/>
                          </a:solidFill>
                        </a:rPr>
                        <a:t>All &lt; 1.5</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250" dirty="0">
                          <a:solidFill>
                            <a:srgbClr val="1B1F23"/>
                          </a:solidFill>
                        </a:rPr>
                        <a:t>No multicollinearity</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r>
              <a:tr h="0">
                <a:tc>
                  <a:txBody>
                    <a:bodyPr/>
                    <a:lstStyle/>
                    <a:p>
                      <a:pPr indent="0" marL="0">
                        <a:buNone/>
                      </a:pPr>
                      <a:r>
                        <a:rPr lang="en-US" sz="1250" dirty="0">
                          <a:solidFill>
                            <a:srgbClr val="1B1F23"/>
                          </a:solidFill>
                        </a:rPr>
                        <a:t>Breusch–Pagan</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250" dirty="0">
                          <a:solidFill>
                            <a:srgbClr val="1B1F23"/>
                          </a:solidFill>
                        </a:rPr>
                        <a:t>p = 0.19</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250" dirty="0">
                          <a:solidFill>
                            <a:srgbClr val="1B1F23"/>
                          </a:solidFill>
                        </a:rPr>
                        <a:t>No heteroskedasticity</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r>
              <a:tr h="0">
                <a:tc>
                  <a:txBody>
                    <a:bodyPr/>
                    <a:lstStyle/>
                    <a:p>
                      <a:pPr indent="0" marL="0">
                        <a:buNone/>
                      </a:pPr>
                      <a:r>
                        <a:rPr lang="en-US" sz="1250" dirty="0">
                          <a:solidFill>
                            <a:srgbClr val="1B1F23"/>
                          </a:solidFill>
                        </a:rPr>
                        <a:t>Durbin–Watson</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250" dirty="0">
                          <a:solidFill>
                            <a:srgbClr val="1B1F23"/>
                          </a:solidFill>
                        </a:rPr>
                        <a:t>1.75, p = 0.06</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250" dirty="0">
                          <a:solidFill>
                            <a:srgbClr val="1B1F23"/>
                          </a:solidFill>
                        </a:rPr>
                        <a:t>Mild; Newey–West SEs</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r>
              <a:tr h="0">
                <a:tc>
                  <a:txBody>
                    <a:bodyPr/>
                    <a:lstStyle/>
                    <a:p>
                      <a:pPr indent="0" marL="0">
                        <a:buNone/>
                      </a:pPr>
                      <a:r>
                        <a:rPr lang="en-US" sz="1250" dirty="0">
                          <a:solidFill>
                            <a:srgbClr val="1B1F23"/>
                          </a:solidFill>
                        </a:rPr>
                        <a:t>Shapiro–Wilk</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250" dirty="0">
                          <a:solidFill>
                            <a:srgbClr val="1B1F23"/>
                          </a:solidFill>
                        </a:rPr>
                        <a:t>p = 0.44</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250" dirty="0">
                          <a:solidFill>
                            <a:srgbClr val="1B1F23"/>
                          </a:solidFill>
                        </a:rPr>
                        <a:t>Residuals ~ normal</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r>
              <a:tr h="0">
                <a:tc>
                  <a:txBody>
                    <a:bodyPr/>
                    <a:lstStyle/>
                    <a:p>
                      <a:pPr indent="0" marL="0">
                        <a:buNone/>
                      </a:pPr>
                      <a:r>
                        <a:rPr lang="en-US" sz="1250" dirty="0">
                          <a:solidFill>
                            <a:srgbClr val="1B1F23"/>
                          </a:solidFill>
                        </a:rPr>
                        <a:t>Overall F</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250" dirty="0">
                          <a:solidFill>
                            <a:srgbClr val="1B1F23"/>
                          </a:solidFill>
                        </a:rPr>
                        <a:t>17.1, p &lt; 0.001</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250" dirty="0">
                          <a:solidFill>
                            <a:srgbClr val="1B1F23"/>
                          </a:solidFill>
                        </a:rPr>
                        <a:t>Jointly significant</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927080" y="6382512"/>
            <a:ext cx="420624" cy="329184"/>
          </a:xfrm>
          <a:prstGeom prst="rect">
            <a:avLst/>
          </a:prstGeom>
          <a:extLst>
            <a:ext uri="{C572A759-6A51-4108-AA02-DFA0A04FC94B}">
              <ma14:wrappingTextBoxFlag xmlns:ma14="http://schemas.microsoft.com/office/mac/drawingml/2011/main" val="0"/>
            </a:ext>
          </a:extLst>
        </p:spPr>
        <p:txBody>
          <a:bodyPr/>
          <a:lstStyle>
            <a:lvl1pPr>
              <a:defRPr sz="1200">
                <a:solidFill>
                  <a:srgbClr val="0F2A3A"/>
                </a:solidFill>
                <a:latin typeface="Calibri"/>
                <a:ea typeface="Calibri"/>
                <a:cs typeface="Calibri"/>
              </a:defRPr>
            </a:lvl1pPr>
          </a:lstStyle>
          <a:p>
            <a:pPr algn="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5"/>
          <p:cNvSpPr/>
          <p:nvPr>
            <p:ph idx="105" type="title" hasCustomPrompt="1"/>
          </p:nvPr>
        </p:nvSpPr>
        <p:spPr>
          <a:xfrm>
            <a:off x="365760" y="502920"/>
            <a:ext cx="10058400" cy="868680"/>
          </a:xfrm>
          <a:prstGeom prst="rect">
            <a:avLst/>
          </a:prstGeom>
          <a:noFill/>
          <a:ln/>
        </p:spPr>
        <p:txBody>
          <a:bodyPr wrap="square" lIns="0" tIns="0" rIns="0" bIns="0" rtlCol="0" anchor="ctr"/>
          <a:lstStyle/>
          <a:p>
            <a:pPr algn="l" indent="0" marL="0">
              <a:buNone/>
            </a:pPr>
            <a:r>
              <a:rPr lang="en-US" sz="2800" b="1" dirty="0">
                <a:solidFill>
                  <a:srgbClr val="FFFFFF"/>
                </a:solidFill>
              </a:rPr>
              <a:t>Honest test: the drivers explain, but they don't forecast</a:t>
            </a:r>
            <a:endParaRPr lang="en-US" sz="2800" dirty="0"/>
          </a:p>
        </p:txBody>
      </p:sp>
      <p:sp>
        <p:nvSpPr>
          <p:cNvPr id="3" name="Current presenter"/>
          <p:cNvSpPr txBox="1"/>
          <p:nvPr/>
        </p:nvSpPr>
        <p:spPr>
          <a:xfrm>
            <a:off x="8869680" y="91440"/>
            <a:ext cx="3063240" cy="310896"/>
          </a:xfrm>
          <a:prstGeom prst="rect">
            <a:avLst/>
          </a:prstGeom>
          <a:noFill/>
          <a:ln/>
        </p:spPr>
        <p:txBody>
          <a:bodyPr wrap="square" lIns="0" tIns="0" rIns="0" bIns="0" rtlCol="0" anchor="ctr"/>
          <a:lstStyle/>
          <a:p>
            <a:pPr algn="r" indent="0" marL="0">
              <a:buNone/>
            </a:pPr>
            <a:r>
              <a:rPr lang="en-US" sz="1100" dirty="0">
                <a:solidFill>
                  <a:srgbClr val="5F6B73"/>
                </a:solidFill>
              </a:rPr>
              <a:t>Presenter: </a:t>
            </a:r>
            <a:pPr algn="r" indent="0" marL="0">
              <a:buNone/>
            </a:pPr>
            <a:r>
              <a:rPr lang="en-US" sz="1100" b="1" dirty="0">
                <a:solidFill>
                  <a:srgbClr val="0F2A3A"/>
                </a:solidFill>
              </a:rPr>
              <a:t>Murugan Perumal - EMBAA25020</a:t>
            </a:r>
            <a:endParaRPr lang="en-US" sz="1100" dirty="0"/>
          </a:p>
        </p:txBody>
      </p:sp>
      <p:sp>
        <p:nvSpPr>
          <p:cNvPr id="4" name="Presenter photo placeholder"/>
          <p:cNvSpPr/>
          <p:nvPr/>
        </p:nvSpPr>
        <p:spPr>
          <a:xfrm>
            <a:off x="10744200" y="502920"/>
            <a:ext cx="1188720" cy="868680"/>
          </a:xfrm>
          <a:prstGeom prst="rect">
            <a:avLst/>
          </a:prstGeom>
          <a:solidFill>
            <a:schemeClr val="accent2"/>
          </a:solidFill>
          <a:ln w="12700">
            <a:solidFill>
              <a:schemeClr val="accent2"/>
            </a:solidFill>
            <a:prstDash val="solid"/>
          </a:ln>
        </p:spPr>
      </p:sp>
      <p:sp>
        <p:nvSpPr>
          <p:cNvPr id="5" name="Presenter initials"/>
          <p:cNvSpPr txBox="1"/>
          <p:nvPr/>
        </p:nvSpPr>
        <p:spPr>
          <a:xfrm>
            <a:off x="10744200" y="502920"/>
            <a:ext cx="1188720" cy="868680"/>
          </a:xfrm>
          <a:prstGeom prst="rect">
            <a:avLst/>
          </a:prstGeom>
          <a:noFill/>
          <a:ln/>
        </p:spPr>
        <p:txBody>
          <a:bodyPr wrap="square" lIns="0" tIns="0" rIns="0" bIns="0" rtlCol="0" anchor="ctr"/>
          <a:lstStyle/>
          <a:p>
            <a:pPr algn="ctr" indent="0" marL="0">
              <a:buNone/>
            </a:pPr>
            <a:r>
              <a:rPr lang="en-US" sz="2600" b="1" dirty="0">
                <a:solidFill>
                  <a:schemeClr val="bg1"/>
                </a:solidFill>
              </a:rPr>
              <a:t>MP</a:t>
            </a:r>
            <a:endParaRPr lang="en-US" sz="2600" dirty="0"/>
          </a:p>
        </p:txBody>
      </p:sp>
      <p:sp>
        <p:nvSpPr>
          <p:cNvPr id="6" name="Footer rule"/>
          <p:cNvSpPr/>
          <p:nvPr/>
        </p:nvSpPr>
        <p:spPr>
          <a:xfrm>
            <a:off x="274320" y="6272784"/>
            <a:ext cx="10515600" cy="0"/>
          </a:xfrm>
          <a:prstGeom prst="line">
            <a:avLst/>
          </a:prstGeom>
          <a:noFill/>
          <a:ln w="12700">
            <a:solidFill>
              <a:srgbClr val="EEF2F4"/>
            </a:solidFill>
            <a:prstDash val="solid"/>
          </a:ln>
        </p:spPr>
      </p:sp>
      <p:sp>
        <p:nvSpPr>
          <p:cNvPr id="7" name="Team footer"/>
          <p:cNvSpPr txBox="1"/>
          <p:nvPr/>
        </p:nvSpPr>
        <p:spPr>
          <a:xfrm>
            <a:off x="274320" y="6309360"/>
            <a:ext cx="10515600" cy="457200"/>
          </a:xfrm>
          <a:prstGeom prst="rect">
            <a:avLst/>
          </a:prstGeom>
          <a:noFill/>
          <a:ln/>
        </p:spPr>
        <p:txBody>
          <a:bodyPr wrap="square" lIns="0" tIns="0" rIns="0" bIns="0" rtlCol="0" anchor="ctr"/>
          <a:lstStyle/>
          <a:p>
            <a:pPr algn="ctr" indent="0" marL="0">
              <a:buNone/>
            </a:pPr>
            <a:r>
              <a:rPr lang="en-US" sz="850" b="1" u="sng" dirty="0">
                <a:solidFill>
                  <a:srgbClr val="1F5FA8"/>
                </a:solidFill>
                <a:hlinkClick r:id="rId1" invalidUrl="" action="" tgtFrame="" tooltip="Ankit Singh on LinkedIn" history="1" highlightClick="0" endSnd="0">
                  <a:extLst>
                    <a:ext uri="{A12FA001-AC4F-418D-AE19-62706E023703}">
                      <ahyp:hlinkClr xmlns:ahyp="http://schemas.microsoft.com/office/drawing/2018/hyperlinkcolor" val="tx"/>
                    </a:ext>
                  </a:extLst>
                </a:hlinkClick>
              </a:rPr>
              <a:t>Ankit Singh</a:t>
            </a:r>
            <a:pPr algn="ctr" indent="0" marL="0">
              <a:buNone/>
            </a:pPr>
            <a:r>
              <a:rPr lang="en-US" sz="850" dirty="0">
                <a:solidFill>
                  <a:srgbClr val="5F6B73"/>
                </a:solidFill>
              </a:rPr>
              <a:t> - EMBAA25004 - </a:t>
            </a:r>
            <a:pPr algn="ctr" indent="0" marL="0">
              <a:buNone/>
            </a:pPr>
            <a:r>
              <a:rPr lang="en-US" sz="850" u="sng" dirty="0">
                <a:solidFill>
                  <a:srgbClr val="1F5FA8"/>
                </a:solidFill>
                <a:hlinkClick r:id="rId2" invalidUrl="" action="" tgtFrame="" tooltip="" history="1" highlightClick="0" endSnd="0">
                  <a:extLst>
                    <a:ext uri="{A12FA001-AC4F-418D-AE19-62706E023703}">
                      <ahyp:hlinkClr xmlns:ahyp="http://schemas.microsoft.com/office/drawing/2018/hyperlinkcolor" val="tx"/>
                    </a:ext>
                  </a:extLst>
                </a:hlinkClick>
              </a:rPr>
              <a:t>ankit.embaa25004@iimkashipur.ac.in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3" invalidUrl="" action="" tgtFrame="" tooltip="Gopalakrishnan S on LinkedIn" history="1" highlightClick="0" endSnd="0">
                  <a:extLst>
                    <a:ext uri="{A12FA001-AC4F-418D-AE19-62706E023703}">
                      <ahyp:hlinkClr xmlns:ahyp="http://schemas.microsoft.com/office/drawing/2018/hyperlinkcolor" val="tx"/>
                    </a:ext>
                  </a:extLst>
                </a:hlinkClick>
              </a:rPr>
              <a:t>Gopalakrishnan S</a:t>
            </a:r>
            <a:pPr algn="ctr" indent="0" marL="0">
              <a:buNone/>
            </a:pPr>
            <a:r>
              <a:rPr lang="en-US" sz="850" dirty="0">
                <a:solidFill>
                  <a:srgbClr val="5F6B73"/>
                </a:solidFill>
              </a:rPr>
              <a:t> - EMBAA25017 - </a:t>
            </a:r>
            <a:pPr algn="ctr" indent="0" marL="0">
              <a:buNone/>
            </a:pPr>
            <a:r>
              <a:rPr lang="en-US" sz="850" u="sng" dirty="0">
                <a:solidFill>
                  <a:srgbClr val="1F5FA8"/>
                </a:solidFill>
                <a:hlinkClick r:id="rId4" invalidUrl="" action="" tgtFrame="" tooltip="" history="1" highlightClick="0" endSnd="0">
                  <a:extLst>
                    <a:ext uri="{A12FA001-AC4F-418D-AE19-62706E023703}">
                      <ahyp:hlinkClr xmlns:ahyp="http://schemas.microsoft.com/office/drawing/2018/hyperlinkcolor" val="tx"/>
                    </a:ext>
                  </a:extLst>
                </a:hlinkClick>
              </a:rPr>
              <a:t>gopalakrishnan.embaa25017@iimkashipur.ac.in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5" invalidUrl="" action="" tgtFrame="" tooltip="Murugan Perumal on LinkedIn" history="1" highlightClick="0" endSnd="0">
                  <a:extLst>
                    <a:ext uri="{A12FA001-AC4F-418D-AE19-62706E023703}">
                      <ahyp:hlinkClr xmlns:ahyp="http://schemas.microsoft.com/office/drawing/2018/hyperlinkcolor" val="tx"/>
                    </a:ext>
                  </a:extLst>
                </a:hlinkClick>
              </a:rPr>
              <a:t>Murugan Perumal</a:t>
            </a:r>
            <a:pPr algn="ctr" indent="0" marL="0">
              <a:buNone/>
            </a:pPr>
            <a:r>
              <a:rPr lang="en-US" sz="850" dirty="0">
                <a:solidFill>
                  <a:srgbClr val="5F6B73"/>
                </a:solidFill>
              </a:rPr>
              <a:t> - EMBAA25020 - </a:t>
            </a:r>
            <a:pPr algn="ctr" indent="0" marL="0">
              <a:buNone/>
            </a:pPr>
            <a:r>
              <a:rPr lang="en-US" sz="850" u="sng" dirty="0">
                <a:solidFill>
                  <a:srgbClr val="1F5FA8"/>
                </a:solidFill>
                <a:hlinkClick r:id="rId6" invalidUrl="" action="" tgtFrame="" tooltip="" history="1" highlightClick="0" endSnd="0">
                  <a:extLst>
                    <a:ext uri="{A12FA001-AC4F-418D-AE19-62706E023703}">
                      <ahyp:hlinkClr xmlns:ahyp="http://schemas.microsoft.com/office/drawing/2018/hyperlinkcolor" val="tx"/>
                    </a:ext>
                  </a:extLst>
                </a:hlinkClick>
              </a:rPr>
              <a:t>murugan.embaa25020@iimkashipur.ac.in</a:t>
            </a:r>
            <a:pPr algn="ctr" indent="0" marL="0">
              <a:buNone/>
            </a:pPr>
            <a:endParaRPr lang="en-US" sz="850" dirty="0"/>
          </a:p>
          <a:p>
            <a:pPr algn="ctr" indent="0" marL="0">
              <a:buNone/>
            </a:pPr>
            <a:r>
              <a:rPr lang="en-US" sz="850" b="1" u="sng" dirty="0">
                <a:solidFill>
                  <a:srgbClr val="1F5FA8"/>
                </a:solidFill>
                <a:hlinkClick r:id="rId7" invalidUrl="" action="" tgtFrame="" tooltip="Aswin G. on LinkedIn" history="1" highlightClick="0" endSnd="0">
                  <a:extLst>
                    <a:ext uri="{A12FA001-AC4F-418D-AE19-62706E023703}">
                      <ahyp:hlinkClr xmlns:ahyp="http://schemas.microsoft.com/office/drawing/2018/hyperlinkcolor" val="tx"/>
                    </a:ext>
                  </a:extLst>
                </a:hlinkClick>
              </a:rPr>
              <a:t>Aswin G.</a:t>
            </a:r>
            <a:pPr algn="ctr" indent="0" marL="0">
              <a:buNone/>
            </a:pPr>
            <a:r>
              <a:rPr lang="en-US" sz="850" dirty="0">
                <a:solidFill>
                  <a:srgbClr val="5F6B73"/>
                </a:solidFill>
              </a:rPr>
              <a:t> - EMBAA25008 - </a:t>
            </a:r>
            <a:pPr algn="ctr" indent="0" marL="0">
              <a:buNone/>
            </a:pPr>
            <a:r>
              <a:rPr lang="en-US" sz="850" u="sng" dirty="0">
                <a:solidFill>
                  <a:srgbClr val="1F5FA8"/>
                </a:solidFill>
                <a:hlinkClick r:id="rId8" invalidUrl="" action="" tgtFrame="" tooltip="" history="1" highlightClick="0" endSnd="0">
                  <a:extLst>
                    <a:ext uri="{A12FA001-AC4F-418D-AE19-62706E023703}">
                      <ahyp:hlinkClr xmlns:ahyp="http://schemas.microsoft.com/office/drawing/2018/hyperlinkcolor" val="tx"/>
                    </a:ext>
                  </a:extLst>
                </a:hlinkClick>
              </a:rPr>
              <a:t>aswin.embaa25008@iimkashipur.ac.in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9" invalidUrl="" action="" tgtFrame="" tooltip="Atul Kumar Singh on LinkedIn" history="1" highlightClick="0" endSnd="0">
                  <a:extLst>
                    <a:ext uri="{A12FA001-AC4F-418D-AE19-62706E023703}">
                      <ahyp:hlinkClr xmlns:ahyp="http://schemas.microsoft.com/office/drawing/2018/hyperlinkcolor" val="tx"/>
                    </a:ext>
                  </a:extLst>
                </a:hlinkClick>
              </a:rPr>
              <a:t>Atul Kumar Singh</a:t>
            </a:r>
            <a:pPr algn="ctr" indent="0" marL="0">
              <a:buNone/>
            </a:pPr>
            <a:r>
              <a:rPr lang="en-US" sz="850" dirty="0">
                <a:solidFill>
                  <a:srgbClr val="5F6B73"/>
                </a:solidFill>
              </a:rPr>
              <a:t> - EMBAA25009 - </a:t>
            </a:r>
            <a:pPr algn="ctr" indent="0" marL="0">
              <a:buNone/>
            </a:pPr>
            <a:r>
              <a:rPr lang="en-US" sz="850" u="sng" dirty="0">
                <a:solidFill>
                  <a:srgbClr val="1F5FA8"/>
                </a:solidFill>
                <a:hlinkClick r:id="rId10" invalidUrl="" action="" tgtFrame="" tooltip="" history="1" highlightClick="0" endSnd="0">
                  <a:extLst>
                    <a:ext uri="{A12FA001-AC4F-418D-AE19-62706E023703}">
                      <ahyp:hlinkClr xmlns:ahyp="http://schemas.microsoft.com/office/drawing/2018/hyperlinkcolor" val="tx"/>
                    </a:ext>
                  </a:extLst>
                </a:hlinkClick>
              </a:rPr>
              <a:t>atul.embaa25009@iimkashipur.ac.in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11" invalidUrl="" action="" tgtFrame="" tooltip="Devanshu Priyam on LinkedIn" history="1" highlightClick="0" endSnd="0">
                  <a:extLst>
                    <a:ext uri="{A12FA001-AC4F-418D-AE19-62706E023703}">
                      <ahyp:hlinkClr xmlns:ahyp="http://schemas.microsoft.com/office/drawing/2018/hyperlinkcolor" val="tx"/>
                    </a:ext>
                  </a:extLst>
                </a:hlinkClick>
              </a:rPr>
              <a:t>Devanshu Priyam</a:t>
            </a:r>
            <a:pPr algn="ctr" indent="0" marL="0">
              <a:buNone/>
            </a:pPr>
            <a:r>
              <a:rPr lang="en-US" sz="850" dirty="0">
                <a:solidFill>
                  <a:srgbClr val="5F6B73"/>
                </a:solidFill>
              </a:rPr>
              <a:t> - EMBAA25014 - </a:t>
            </a:r>
            <a:pPr algn="ctr" indent="0" marL="0">
              <a:buNone/>
            </a:pPr>
            <a:r>
              <a:rPr lang="en-US" sz="850" u="sng" dirty="0">
                <a:solidFill>
                  <a:srgbClr val="1F5FA8"/>
                </a:solidFill>
                <a:hlinkClick r:id="rId12" invalidUrl="" action="" tgtFrame="" tooltip="" history="1" highlightClick="0" endSnd="0">
                  <a:extLst>
                    <a:ext uri="{A12FA001-AC4F-418D-AE19-62706E023703}">
                      <ahyp:hlinkClr xmlns:ahyp="http://schemas.microsoft.com/office/drawing/2018/hyperlinkcolor" val="tx"/>
                    </a:ext>
                  </a:extLst>
                </a:hlinkClick>
              </a:rPr>
              <a:t>devanshu.embaa25014@iimkashipur.ac.in</a:t>
            </a:r>
            <a:endParaRPr lang="en-US" sz="850" dirty="0"/>
          </a:p>
        </p:txBody>
      </p:sp>
      <p:graphicFrame>
        <p:nvGraphicFramePr>
          <p:cNvPr id="9" name="Chart 0" descr=""/>
          <p:cNvGraphicFramePr/>
          <p:nvPr/>
        </p:nvGraphicFramePr>
        <p:xfrm>
          <a:off x="411480" y="1600200"/>
          <a:ext cx="5120640" cy="3840480"/>
        </p:xfrm>
        <a:graphic xmlns:a="http://schemas.openxmlformats.org/drawingml/2006/main">
          <a:graphicData uri="http://schemas.openxmlformats.org/drawingml/2006/chart">
            <c:chart xmlns:c="http://schemas.openxmlformats.org/drawingml/2006/chart" r:id="rId13"/>
          </a:graphicData>
        </a:graphic>
      </p:graphicFrame>
      <p:pic>
        <p:nvPicPr>
          <p:cNvPr id="10" name="Image 0" descr="Actual vs Model C estimate on the test period">    </p:cNvPr>
          <p:cNvPicPr>
            <a:picLocks noChangeAspect="1"/>
          </p:cNvPicPr>
          <p:nvPr/>
        </p:nvPicPr>
        <p:blipFill>
          <a:blip r:embed="rId14"/>
          <a:stretch>
            <a:fillRect/>
          </a:stretch>
        </p:blipFill>
        <p:spPr>
          <a:xfrm>
            <a:off x="5806440" y="1600200"/>
            <a:ext cx="5943600" cy="2971800"/>
          </a:xfrm>
          <a:prstGeom prst="rect">
            <a:avLst/>
          </a:prstGeom>
        </p:spPr>
      </p:pic>
      <p:sp>
        <p:nvSpPr>
          <p:cNvPr id="11" name="Text 6"/>
          <p:cNvSpPr txBox="1"/>
          <p:nvPr/>
        </p:nvSpPr>
        <p:spPr>
          <a:xfrm>
            <a:off x="5806440" y="4590288"/>
            <a:ext cx="5943600" cy="274320"/>
          </a:xfrm>
          <a:prstGeom prst="rect">
            <a:avLst/>
          </a:prstGeom>
          <a:noFill/>
          <a:ln/>
        </p:spPr>
        <p:txBody>
          <a:bodyPr wrap="square" lIns="0" tIns="0" rIns="0" bIns="0" rtlCol="0" anchor="t"/>
          <a:lstStyle/>
          <a:p>
            <a:pPr indent="0" marL="0">
              <a:buNone/>
            </a:pPr>
            <a:r>
              <a:rPr lang="en-US" sz="1000" i="1" dirty="0">
                <a:solidFill>
                  <a:schemeClr val="accent6"/>
                </a:solidFill>
              </a:rPr>
              <a:t>Bars = actual monthly change; line = Model C estimate (test period)</a:t>
            </a:r>
            <a:endParaRPr lang="en-US" sz="1000" dirty="0"/>
          </a:p>
        </p:txBody>
      </p:sp>
      <p:sp>
        <p:nvSpPr>
          <p:cNvPr id="12" name="Finding banner"/>
          <p:cNvSpPr/>
          <p:nvPr/>
        </p:nvSpPr>
        <p:spPr>
          <a:xfrm>
            <a:off x="411480" y="5532120"/>
            <a:ext cx="11338560" cy="594360"/>
          </a:xfrm>
          <a:prstGeom prst="roundRect">
            <a:avLst>
              <a:gd name="adj" fmla="val 12308"/>
            </a:avLst>
          </a:prstGeom>
          <a:solidFill>
            <a:schemeClr val="tx2"/>
          </a:solidFill>
          <a:ln w="12700">
            <a:solidFill>
              <a:schemeClr val="tx2"/>
            </a:solidFill>
            <a:prstDash val="solid"/>
          </a:ln>
        </p:spPr>
      </p:sp>
      <p:sp>
        <p:nvSpPr>
          <p:cNvPr id="13" name="Text 8"/>
          <p:cNvSpPr txBox="1"/>
          <p:nvPr/>
        </p:nvSpPr>
        <p:spPr>
          <a:xfrm>
            <a:off x="594360" y="5532120"/>
            <a:ext cx="10972800" cy="594360"/>
          </a:xfrm>
          <a:prstGeom prst="rect">
            <a:avLst/>
          </a:prstGeom>
          <a:noFill/>
          <a:ln/>
        </p:spPr>
        <p:txBody>
          <a:bodyPr wrap="square" lIns="0" tIns="0" rIns="0" bIns="0" rtlCol="0" anchor="ctr"/>
          <a:lstStyle/>
          <a:p>
            <a:pPr indent="0" marL="0">
              <a:buNone/>
            </a:pPr>
            <a:r>
              <a:rPr lang="en-US" sz="1500" b="1" dirty="0">
                <a:solidFill>
                  <a:schemeClr val="bg1"/>
                </a:solidFill>
              </a:rPr>
              <a:t>A failure to beat the naive benchmark is a finding, not a failure: plan with scenarios, not point forecasts.</a:t>
            </a:r>
            <a:endParaRPr lang="en-US" sz="1500" dirty="0"/>
          </a:p>
        </p:txBody>
      </p:sp>
      <p:sp>
        <p:nvSpPr>
          <p:cNvPr id="25" name="Slide Number Placeholder 0"/>
          <p:cNvSpPr>
            <a:spLocks noGrp="1"/>
          </p:cNvSpPr>
          <p:nvPr>
            <p:ph type="sldNum" sz="quarter" idx="4294967295"/>
          </p:nvPr>
        </p:nvSpPr>
        <p:spPr>
          <a:xfrm>
            <a:off x="10927080" y="6382512"/>
            <a:ext cx="420624" cy="329184"/>
          </a:xfrm>
          <a:prstGeom prst="rect">
            <a:avLst/>
          </a:prstGeom>
          <a:extLst>
            <a:ext uri="{C572A759-6A51-4108-AA02-DFA0A04FC94B}">
              <ma14:wrappingTextBoxFlag xmlns:ma14="http://schemas.microsoft.com/office/mac/drawingml/2011/main" val="0"/>
            </a:ext>
          </a:extLst>
        </p:spPr>
        <p:txBody>
          <a:bodyPr/>
          <a:lstStyle>
            <a:lvl1pPr>
              <a:defRPr sz="1200">
                <a:solidFill>
                  <a:srgbClr val="0F2A3A"/>
                </a:solidFill>
                <a:latin typeface="Calibri"/>
                <a:ea typeface="Calibri"/>
                <a:cs typeface="Calibri"/>
              </a:defRPr>
            </a:lvl1pPr>
          </a:lstStyle>
          <a:p>
            <a:pPr algn="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5"/>
          <p:cNvSpPr/>
          <p:nvPr>
            <p:ph idx="105" type="title" hasCustomPrompt="1"/>
          </p:nvPr>
        </p:nvSpPr>
        <p:spPr>
          <a:xfrm>
            <a:off x="365760" y="502920"/>
            <a:ext cx="10058400" cy="868680"/>
          </a:xfrm>
          <a:prstGeom prst="rect">
            <a:avLst/>
          </a:prstGeom>
          <a:noFill/>
          <a:ln/>
        </p:spPr>
        <p:txBody>
          <a:bodyPr wrap="square" lIns="0" tIns="0" rIns="0" bIns="0" rtlCol="0" anchor="ctr"/>
          <a:lstStyle/>
          <a:p>
            <a:pPr algn="l" indent="0" marL="0">
              <a:buNone/>
            </a:pPr>
            <a:r>
              <a:rPr lang="en-US" sz="2800" b="1" dirty="0">
                <a:solidFill>
                  <a:srgbClr val="FFFFFF"/>
                </a:solidFill>
              </a:rPr>
              <a:t>Rupee Stress Monitor: four classifiers, two honest set-ups</a:t>
            </a:r>
            <a:endParaRPr lang="en-US" sz="2800" dirty="0"/>
          </a:p>
        </p:txBody>
      </p:sp>
      <p:sp>
        <p:nvSpPr>
          <p:cNvPr id="3" name="Current presenter"/>
          <p:cNvSpPr txBox="1"/>
          <p:nvPr/>
        </p:nvSpPr>
        <p:spPr>
          <a:xfrm>
            <a:off x="8869680" y="91440"/>
            <a:ext cx="3063240" cy="310896"/>
          </a:xfrm>
          <a:prstGeom prst="rect">
            <a:avLst/>
          </a:prstGeom>
          <a:noFill/>
          <a:ln/>
        </p:spPr>
        <p:txBody>
          <a:bodyPr wrap="square" lIns="0" tIns="0" rIns="0" bIns="0" rtlCol="0" anchor="ctr"/>
          <a:lstStyle/>
          <a:p>
            <a:pPr algn="r" indent="0" marL="0">
              <a:buNone/>
            </a:pPr>
            <a:r>
              <a:rPr lang="en-US" sz="1100" dirty="0">
                <a:solidFill>
                  <a:srgbClr val="5F6B73"/>
                </a:solidFill>
              </a:rPr>
              <a:t>Presenter: </a:t>
            </a:r>
            <a:pPr algn="r" indent="0" marL="0">
              <a:buNone/>
            </a:pPr>
            <a:r>
              <a:rPr lang="en-US" sz="1100" b="1" dirty="0">
                <a:solidFill>
                  <a:srgbClr val="0F2A3A"/>
                </a:solidFill>
              </a:rPr>
              <a:t>Aswin G. - EMBAA25008</a:t>
            </a:r>
            <a:endParaRPr lang="en-US" sz="1100" dirty="0"/>
          </a:p>
        </p:txBody>
      </p:sp>
      <p:sp>
        <p:nvSpPr>
          <p:cNvPr id="4" name="Presenter photo placeholder"/>
          <p:cNvSpPr/>
          <p:nvPr/>
        </p:nvSpPr>
        <p:spPr>
          <a:xfrm>
            <a:off x="10744200" y="502920"/>
            <a:ext cx="1188720" cy="868680"/>
          </a:xfrm>
          <a:prstGeom prst="rect">
            <a:avLst/>
          </a:prstGeom>
          <a:solidFill>
            <a:schemeClr val="accent2"/>
          </a:solidFill>
          <a:ln w="12700">
            <a:solidFill>
              <a:schemeClr val="accent2"/>
            </a:solidFill>
            <a:prstDash val="solid"/>
          </a:ln>
        </p:spPr>
      </p:sp>
      <p:sp>
        <p:nvSpPr>
          <p:cNvPr id="5" name="Presenter initials"/>
          <p:cNvSpPr txBox="1"/>
          <p:nvPr/>
        </p:nvSpPr>
        <p:spPr>
          <a:xfrm>
            <a:off x="10744200" y="502920"/>
            <a:ext cx="1188720" cy="868680"/>
          </a:xfrm>
          <a:prstGeom prst="rect">
            <a:avLst/>
          </a:prstGeom>
          <a:noFill/>
          <a:ln/>
        </p:spPr>
        <p:txBody>
          <a:bodyPr wrap="square" lIns="0" tIns="0" rIns="0" bIns="0" rtlCol="0" anchor="ctr"/>
          <a:lstStyle/>
          <a:p>
            <a:pPr algn="ctr" indent="0" marL="0">
              <a:buNone/>
            </a:pPr>
            <a:r>
              <a:rPr lang="en-US" sz="2600" b="1" dirty="0">
                <a:solidFill>
                  <a:schemeClr val="bg1"/>
                </a:solidFill>
              </a:rPr>
              <a:t>AG</a:t>
            </a:r>
            <a:endParaRPr lang="en-US" sz="2600" dirty="0"/>
          </a:p>
        </p:txBody>
      </p:sp>
      <p:sp>
        <p:nvSpPr>
          <p:cNvPr id="6" name="Footer rule"/>
          <p:cNvSpPr/>
          <p:nvPr/>
        </p:nvSpPr>
        <p:spPr>
          <a:xfrm>
            <a:off x="274320" y="6272784"/>
            <a:ext cx="10515600" cy="0"/>
          </a:xfrm>
          <a:prstGeom prst="line">
            <a:avLst/>
          </a:prstGeom>
          <a:noFill/>
          <a:ln w="12700">
            <a:solidFill>
              <a:srgbClr val="EEF2F4"/>
            </a:solidFill>
            <a:prstDash val="solid"/>
          </a:ln>
        </p:spPr>
      </p:sp>
      <p:sp>
        <p:nvSpPr>
          <p:cNvPr id="7" name="Team footer"/>
          <p:cNvSpPr txBox="1"/>
          <p:nvPr/>
        </p:nvSpPr>
        <p:spPr>
          <a:xfrm>
            <a:off x="274320" y="6309360"/>
            <a:ext cx="10515600" cy="457200"/>
          </a:xfrm>
          <a:prstGeom prst="rect">
            <a:avLst/>
          </a:prstGeom>
          <a:noFill/>
          <a:ln/>
        </p:spPr>
        <p:txBody>
          <a:bodyPr wrap="square" lIns="0" tIns="0" rIns="0" bIns="0" rtlCol="0" anchor="ctr"/>
          <a:lstStyle/>
          <a:p>
            <a:pPr algn="ctr" indent="0" marL="0">
              <a:buNone/>
            </a:pPr>
            <a:r>
              <a:rPr lang="en-US" sz="850" b="1" u="sng" dirty="0">
                <a:solidFill>
                  <a:srgbClr val="1F5FA8"/>
                </a:solidFill>
                <a:hlinkClick r:id="rId1" invalidUrl="" action="" tgtFrame="" tooltip="Ankit Singh on LinkedIn" history="1" highlightClick="0" endSnd="0">
                  <a:extLst>
                    <a:ext uri="{A12FA001-AC4F-418D-AE19-62706E023703}">
                      <ahyp:hlinkClr xmlns:ahyp="http://schemas.microsoft.com/office/drawing/2018/hyperlinkcolor" val="tx"/>
                    </a:ext>
                  </a:extLst>
                </a:hlinkClick>
              </a:rPr>
              <a:t>Ankit Singh</a:t>
            </a:r>
            <a:pPr algn="ctr" indent="0" marL="0">
              <a:buNone/>
            </a:pPr>
            <a:r>
              <a:rPr lang="en-US" sz="850" dirty="0">
                <a:solidFill>
                  <a:srgbClr val="5F6B73"/>
                </a:solidFill>
              </a:rPr>
              <a:t> - EMBAA25004 - </a:t>
            </a:r>
            <a:pPr algn="ctr" indent="0" marL="0">
              <a:buNone/>
            </a:pPr>
            <a:r>
              <a:rPr lang="en-US" sz="850" u="sng" dirty="0">
                <a:solidFill>
                  <a:srgbClr val="1F5FA8"/>
                </a:solidFill>
                <a:hlinkClick r:id="rId2" invalidUrl="" action="" tgtFrame="" tooltip="" history="1" highlightClick="0" endSnd="0">
                  <a:extLst>
                    <a:ext uri="{A12FA001-AC4F-418D-AE19-62706E023703}">
                      <ahyp:hlinkClr xmlns:ahyp="http://schemas.microsoft.com/office/drawing/2018/hyperlinkcolor" val="tx"/>
                    </a:ext>
                  </a:extLst>
                </a:hlinkClick>
              </a:rPr>
              <a:t>ankit.embaa25004@iimkashipur.ac.in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3" invalidUrl="" action="" tgtFrame="" tooltip="Gopalakrishnan S on LinkedIn" history="1" highlightClick="0" endSnd="0">
                  <a:extLst>
                    <a:ext uri="{A12FA001-AC4F-418D-AE19-62706E023703}">
                      <ahyp:hlinkClr xmlns:ahyp="http://schemas.microsoft.com/office/drawing/2018/hyperlinkcolor" val="tx"/>
                    </a:ext>
                  </a:extLst>
                </a:hlinkClick>
              </a:rPr>
              <a:t>Gopalakrishnan S</a:t>
            </a:r>
            <a:pPr algn="ctr" indent="0" marL="0">
              <a:buNone/>
            </a:pPr>
            <a:r>
              <a:rPr lang="en-US" sz="850" dirty="0">
                <a:solidFill>
                  <a:srgbClr val="5F6B73"/>
                </a:solidFill>
              </a:rPr>
              <a:t> - EMBAA25017 - </a:t>
            </a:r>
            <a:pPr algn="ctr" indent="0" marL="0">
              <a:buNone/>
            </a:pPr>
            <a:r>
              <a:rPr lang="en-US" sz="850" u="sng" dirty="0">
                <a:solidFill>
                  <a:srgbClr val="1F5FA8"/>
                </a:solidFill>
                <a:hlinkClick r:id="rId4" invalidUrl="" action="" tgtFrame="" tooltip="" history="1" highlightClick="0" endSnd="0">
                  <a:extLst>
                    <a:ext uri="{A12FA001-AC4F-418D-AE19-62706E023703}">
                      <ahyp:hlinkClr xmlns:ahyp="http://schemas.microsoft.com/office/drawing/2018/hyperlinkcolor" val="tx"/>
                    </a:ext>
                  </a:extLst>
                </a:hlinkClick>
              </a:rPr>
              <a:t>gopalakrishnan.embaa25017@iimkashipur.ac.in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5" invalidUrl="" action="" tgtFrame="" tooltip="Murugan Perumal on LinkedIn" history="1" highlightClick="0" endSnd="0">
                  <a:extLst>
                    <a:ext uri="{A12FA001-AC4F-418D-AE19-62706E023703}">
                      <ahyp:hlinkClr xmlns:ahyp="http://schemas.microsoft.com/office/drawing/2018/hyperlinkcolor" val="tx"/>
                    </a:ext>
                  </a:extLst>
                </a:hlinkClick>
              </a:rPr>
              <a:t>Murugan Perumal</a:t>
            </a:r>
            <a:pPr algn="ctr" indent="0" marL="0">
              <a:buNone/>
            </a:pPr>
            <a:r>
              <a:rPr lang="en-US" sz="850" dirty="0">
                <a:solidFill>
                  <a:srgbClr val="5F6B73"/>
                </a:solidFill>
              </a:rPr>
              <a:t> - EMBAA25020 - </a:t>
            </a:r>
            <a:pPr algn="ctr" indent="0" marL="0">
              <a:buNone/>
            </a:pPr>
            <a:r>
              <a:rPr lang="en-US" sz="850" u="sng" dirty="0">
                <a:solidFill>
                  <a:srgbClr val="1F5FA8"/>
                </a:solidFill>
                <a:hlinkClick r:id="rId6" invalidUrl="" action="" tgtFrame="" tooltip="" history="1" highlightClick="0" endSnd="0">
                  <a:extLst>
                    <a:ext uri="{A12FA001-AC4F-418D-AE19-62706E023703}">
                      <ahyp:hlinkClr xmlns:ahyp="http://schemas.microsoft.com/office/drawing/2018/hyperlinkcolor" val="tx"/>
                    </a:ext>
                  </a:extLst>
                </a:hlinkClick>
              </a:rPr>
              <a:t>murugan.embaa25020@iimkashipur.ac.in</a:t>
            </a:r>
            <a:pPr algn="ctr" indent="0" marL="0">
              <a:buNone/>
            </a:pPr>
            <a:endParaRPr lang="en-US" sz="850" dirty="0"/>
          </a:p>
          <a:p>
            <a:pPr algn="ctr" indent="0" marL="0">
              <a:buNone/>
            </a:pPr>
            <a:r>
              <a:rPr lang="en-US" sz="850" b="1" u="sng" dirty="0">
                <a:solidFill>
                  <a:srgbClr val="1F5FA8"/>
                </a:solidFill>
                <a:hlinkClick r:id="rId7" invalidUrl="" action="" tgtFrame="" tooltip="Aswin G. on LinkedIn" history="1" highlightClick="0" endSnd="0">
                  <a:extLst>
                    <a:ext uri="{A12FA001-AC4F-418D-AE19-62706E023703}">
                      <ahyp:hlinkClr xmlns:ahyp="http://schemas.microsoft.com/office/drawing/2018/hyperlinkcolor" val="tx"/>
                    </a:ext>
                  </a:extLst>
                </a:hlinkClick>
              </a:rPr>
              <a:t>Aswin G.</a:t>
            </a:r>
            <a:pPr algn="ctr" indent="0" marL="0">
              <a:buNone/>
            </a:pPr>
            <a:r>
              <a:rPr lang="en-US" sz="850" dirty="0">
                <a:solidFill>
                  <a:srgbClr val="5F6B73"/>
                </a:solidFill>
              </a:rPr>
              <a:t> - EMBAA25008 - </a:t>
            </a:r>
            <a:pPr algn="ctr" indent="0" marL="0">
              <a:buNone/>
            </a:pPr>
            <a:r>
              <a:rPr lang="en-US" sz="850" u="sng" dirty="0">
                <a:solidFill>
                  <a:srgbClr val="1F5FA8"/>
                </a:solidFill>
                <a:hlinkClick r:id="rId8" invalidUrl="" action="" tgtFrame="" tooltip="" history="1" highlightClick="0" endSnd="0">
                  <a:extLst>
                    <a:ext uri="{A12FA001-AC4F-418D-AE19-62706E023703}">
                      <ahyp:hlinkClr xmlns:ahyp="http://schemas.microsoft.com/office/drawing/2018/hyperlinkcolor" val="tx"/>
                    </a:ext>
                  </a:extLst>
                </a:hlinkClick>
              </a:rPr>
              <a:t>aswin.embaa25008@iimkashipur.ac.in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9" invalidUrl="" action="" tgtFrame="" tooltip="Atul Kumar Singh on LinkedIn" history="1" highlightClick="0" endSnd="0">
                  <a:extLst>
                    <a:ext uri="{A12FA001-AC4F-418D-AE19-62706E023703}">
                      <ahyp:hlinkClr xmlns:ahyp="http://schemas.microsoft.com/office/drawing/2018/hyperlinkcolor" val="tx"/>
                    </a:ext>
                  </a:extLst>
                </a:hlinkClick>
              </a:rPr>
              <a:t>Atul Kumar Singh</a:t>
            </a:r>
            <a:pPr algn="ctr" indent="0" marL="0">
              <a:buNone/>
            </a:pPr>
            <a:r>
              <a:rPr lang="en-US" sz="850" dirty="0">
                <a:solidFill>
                  <a:srgbClr val="5F6B73"/>
                </a:solidFill>
              </a:rPr>
              <a:t> - EMBAA25009 - </a:t>
            </a:r>
            <a:pPr algn="ctr" indent="0" marL="0">
              <a:buNone/>
            </a:pPr>
            <a:r>
              <a:rPr lang="en-US" sz="850" u="sng" dirty="0">
                <a:solidFill>
                  <a:srgbClr val="1F5FA8"/>
                </a:solidFill>
                <a:hlinkClick r:id="rId10" invalidUrl="" action="" tgtFrame="" tooltip="" history="1" highlightClick="0" endSnd="0">
                  <a:extLst>
                    <a:ext uri="{A12FA001-AC4F-418D-AE19-62706E023703}">
                      <ahyp:hlinkClr xmlns:ahyp="http://schemas.microsoft.com/office/drawing/2018/hyperlinkcolor" val="tx"/>
                    </a:ext>
                  </a:extLst>
                </a:hlinkClick>
              </a:rPr>
              <a:t>atul.embaa25009@iimkashipur.ac.in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11" invalidUrl="" action="" tgtFrame="" tooltip="Devanshu Priyam on LinkedIn" history="1" highlightClick="0" endSnd="0">
                  <a:extLst>
                    <a:ext uri="{A12FA001-AC4F-418D-AE19-62706E023703}">
                      <ahyp:hlinkClr xmlns:ahyp="http://schemas.microsoft.com/office/drawing/2018/hyperlinkcolor" val="tx"/>
                    </a:ext>
                  </a:extLst>
                </a:hlinkClick>
              </a:rPr>
              <a:t>Devanshu Priyam</a:t>
            </a:r>
            <a:pPr algn="ctr" indent="0" marL="0">
              <a:buNone/>
            </a:pPr>
            <a:r>
              <a:rPr lang="en-US" sz="850" dirty="0">
                <a:solidFill>
                  <a:srgbClr val="5F6B73"/>
                </a:solidFill>
              </a:rPr>
              <a:t> - EMBAA25014 - </a:t>
            </a:r>
            <a:pPr algn="ctr" indent="0" marL="0">
              <a:buNone/>
            </a:pPr>
            <a:r>
              <a:rPr lang="en-US" sz="850" u="sng" dirty="0">
                <a:solidFill>
                  <a:srgbClr val="1F5FA8"/>
                </a:solidFill>
                <a:hlinkClick r:id="rId12" invalidUrl="" action="" tgtFrame="" tooltip="" history="1" highlightClick="0" endSnd="0">
                  <a:extLst>
                    <a:ext uri="{A12FA001-AC4F-418D-AE19-62706E023703}">
                      <ahyp:hlinkClr xmlns:ahyp="http://schemas.microsoft.com/office/drawing/2018/hyperlinkcolor" val="tx"/>
                    </a:ext>
                  </a:extLst>
                </a:hlinkClick>
              </a:rPr>
              <a:t>devanshu.embaa25014@iimkashipur.ac.in</a:t>
            </a:r>
            <a:endParaRPr lang="en-US" sz="8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7223760" cy="914400"/>
        </p:xfrm>
        <a:graphic>
          <a:graphicData uri="http://schemas.openxmlformats.org/drawingml/2006/table">
            <a:tbl>
              <a:tblPr/>
              <a:tblGrid>
                <a:gridCol w="1463040"/>
                <a:gridCol w="1554480"/>
                <a:gridCol w="1051560"/>
                <a:gridCol w="1051560"/>
                <a:gridCol w="1188720"/>
                <a:gridCol w="914400"/>
              </a:tblGrid>
              <a:tr h="0">
                <a:tc>
                  <a:txBody>
                    <a:bodyPr/>
                    <a:lstStyle/>
                    <a:p>
                      <a:pPr indent="0" marL="0">
                        <a:buNone/>
                      </a:pPr>
                      <a:r>
                        <a:rPr lang="en-US" sz="1250" b="1" dirty="0">
                          <a:solidFill>
                            <a:srgbClr val="FFFFFF"/>
                          </a:solidFill>
                        </a:rPr>
                        <a:t>Set-up</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0F2A3A"/>
                    </a:solidFill>
                  </a:tcPr>
                </a:tc>
                <a:tc>
                  <a:txBody>
                    <a:bodyPr/>
                    <a:lstStyle/>
                    <a:p>
                      <a:pPr indent="0" marL="0">
                        <a:buNone/>
                      </a:pPr>
                      <a:r>
                        <a:rPr lang="en-US" sz="1250" b="1" dirty="0">
                          <a:solidFill>
                            <a:srgbClr val="FFFFFF"/>
                          </a:solidFill>
                        </a:rPr>
                        <a:t>Model</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0F2A3A"/>
                    </a:solidFill>
                  </a:tcPr>
                </a:tc>
                <a:tc>
                  <a:txBody>
                    <a:bodyPr/>
                    <a:lstStyle/>
                    <a:p>
                      <a:pPr indent="0" marL="0">
                        <a:buNone/>
                      </a:pPr>
                      <a:r>
                        <a:rPr lang="en-US" sz="1250" b="1" dirty="0">
                          <a:solidFill>
                            <a:srgbClr val="FFFFFF"/>
                          </a:solidFill>
                        </a:rPr>
                        <a:t>Sensitivity</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0F2A3A"/>
                    </a:solidFill>
                  </a:tcPr>
                </a:tc>
                <a:tc>
                  <a:txBody>
                    <a:bodyPr/>
                    <a:lstStyle/>
                    <a:p>
                      <a:pPr indent="0" marL="0">
                        <a:buNone/>
                      </a:pPr>
                      <a:r>
                        <a:rPr lang="en-US" sz="1250" b="1" dirty="0">
                          <a:solidFill>
                            <a:srgbClr val="FFFFFF"/>
                          </a:solidFill>
                        </a:rPr>
                        <a:t>Specificity</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0F2A3A"/>
                    </a:solidFill>
                  </a:tcPr>
                </a:tc>
                <a:tc>
                  <a:txBody>
                    <a:bodyPr/>
                    <a:lstStyle/>
                    <a:p>
                      <a:pPr indent="0" marL="0">
                        <a:buNone/>
                      </a:pPr>
                      <a:r>
                        <a:rPr lang="en-US" sz="1250" b="1" dirty="0">
                          <a:solidFill>
                            <a:srgbClr val="FFFFFF"/>
                          </a:solidFill>
                        </a:rPr>
                        <a:t>Balanced acc.</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0F2A3A"/>
                    </a:solidFill>
                  </a:tcPr>
                </a:tc>
                <a:tc>
                  <a:txBody>
                    <a:bodyPr/>
                    <a:lstStyle/>
                    <a:p>
                      <a:pPr indent="0" marL="0">
                        <a:buNone/>
                      </a:pPr>
                      <a:r>
                        <a:rPr lang="en-US" sz="1250" b="1" dirty="0">
                          <a:solidFill>
                            <a:srgbClr val="FFFFFF"/>
                          </a:solidFill>
                        </a:rPr>
                        <a:t>AUC</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0F2A3A"/>
                    </a:solidFill>
                  </a:tcPr>
                </a:tc>
              </a:tr>
              <a:tr h="0">
                <a:tc>
                  <a:txBody>
                    <a:bodyPr/>
                    <a:lstStyle/>
                    <a:p>
                      <a:pPr indent="0" marL="0">
                        <a:buNone/>
                      </a:pPr>
                      <a:r>
                        <a:rPr lang="en-US" sz="1250" dirty="0">
                          <a:solidFill>
                            <a:srgbClr val="1B1F23"/>
                          </a:solidFill>
                        </a:rPr>
                        <a:t>Early warning</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250" dirty="0">
                          <a:solidFill>
                            <a:srgbClr val="1B1F23"/>
                          </a:solidFill>
                        </a:rPr>
                        <a:t>Logistic</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250" dirty="0">
                          <a:solidFill>
                            <a:srgbClr val="1B1F23"/>
                          </a:solidFill>
                        </a:rPr>
                        <a:t>0.80</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250" dirty="0">
                          <a:solidFill>
                            <a:srgbClr val="1B1F23"/>
                          </a:solidFill>
                        </a:rPr>
                        <a:t>0.58</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250" dirty="0">
                          <a:solidFill>
                            <a:srgbClr val="1B1F23"/>
                          </a:solidFill>
                        </a:rPr>
                        <a:t>0.69</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250" dirty="0">
                          <a:solidFill>
                            <a:srgbClr val="1B1F23"/>
                          </a:solidFill>
                        </a:rPr>
                        <a:t>0.70</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1B1F23"/>
                          </a:solidFill>
                        </a:rPr>
                        <a:t>Early warning</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CEBD7"/>
                    </a:solidFill>
                  </a:tcPr>
                </a:tc>
                <a:tc>
                  <a:txBody>
                    <a:bodyPr/>
                    <a:lstStyle/>
                    <a:p>
                      <a:pPr indent="0" marL="0">
                        <a:buNone/>
                      </a:pPr>
                      <a:r>
                        <a:rPr lang="en-US" sz="1250" b="1" dirty="0">
                          <a:solidFill>
                            <a:srgbClr val="1B1F23"/>
                          </a:solidFill>
                        </a:rPr>
                        <a:t>LDA</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CEBD7"/>
                    </a:solidFill>
                  </a:tcPr>
                </a:tc>
                <a:tc>
                  <a:txBody>
                    <a:bodyPr/>
                    <a:lstStyle/>
                    <a:p>
                      <a:pPr indent="0" marL="0">
                        <a:buNone/>
                      </a:pPr>
                      <a:r>
                        <a:rPr lang="en-US" sz="1250" b="1" dirty="0">
                          <a:solidFill>
                            <a:srgbClr val="1B1F23"/>
                          </a:solidFill>
                        </a:rPr>
                        <a:t>0.80</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CEBD7"/>
                    </a:solidFill>
                  </a:tcPr>
                </a:tc>
                <a:tc>
                  <a:txBody>
                    <a:bodyPr/>
                    <a:lstStyle/>
                    <a:p>
                      <a:pPr indent="0" marL="0">
                        <a:buNone/>
                      </a:pPr>
                      <a:r>
                        <a:rPr lang="en-US" sz="1250" b="1" dirty="0">
                          <a:solidFill>
                            <a:srgbClr val="1B1F23"/>
                          </a:solidFill>
                        </a:rPr>
                        <a:t>0.63</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CEBD7"/>
                    </a:solidFill>
                  </a:tcPr>
                </a:tc>
                <a:tc>
                  <a:txBody>
                    <a:bodyPr/>
                    <a:lstStyle/>
                    <a:p>
                      <a:pPr indent="0" marL="0">
                        <a:buNone/>
                      </a:pPr>
                      <a:r>
                        <a:rPr lang="en-US" sz="1250" b="1" dirty="0">
                          <a:solidFill>
                            <a:srgbClr val="1B1F23"/>
                          </a:solidFill>
                        </a:rPr>
                        <a:t>0.72</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CEBD7"/>
                    </a:solidFill>
                  </a:tcPr>
                </a:tc>
                <a:tc>
                  <a:txBody>
                    <a:bodyPr/>
                    <a:lstStyle/>
                    <a:p>
                      <a:pPr indent="0" marL="0">
                        <a:buNone/>
                      </a:pPr>
                      <a:r>
                        <a:rPr lang="en-US" sz="1250" b="1" dirty="0">
                          <a:solidFill>
                            <a:srgbClr val="1B1F23"/>
                          </a:solidFill>
                        </a:rPr>
                        <a:t>0.69</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CEBD7"/>
                    </a:solidFill>
                  </a:tcPr>
                </a:tc>
              </a:tr>
              <a:tr h="0">
                <a:tc>
                  <a:txBody>
                    <a:bodyPr/>
                    <a:lstStyle/>
                    <a:p>
                      <a:pPr indent="0" marL="0">
                        <a:buNone/>
                      </a:pPr>
                      <a:r>
                        <a:rPr lang="en-US" sz="1250" dirty="0">
                          <a:solidFill>
                            <a:srgbClr val="1B1F23"/>
                          </a:solidFill>
                        </a:rPr>
                        <a:t>Early warning</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250" dirty="0">
                          <a:solidFill>
                            <a:srgbClr val="1B1F23"/>
                          </a:solidFill>
                        </a:rPr>
                        <a:t>Decision tree</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250" dirty="0">
                          <a:solidFill>
                            <a:srgbClr val="1B1F23"/>
                          </a:solidFill>
                        </a:rPr>
                        <a:t>0.00</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250" dirty="0">
                          <a:solidFill>
                            <a:srgbClr val="1B1F23"/>
                          </a:solidFill>
                        </a:rPr>
                        <a:t>1.00</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250" dirty="0">
                          <a:solidFill>
                            <a:srgbClr val="1B1F23"/>
                          </a:solidFill>
                        </a:rPr>
                        <a:t>0.50</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250" dirty="0">
                          <a:solidFill>
                            <a:srgbClr val="1B1F23"/>
                          </a:solidFill>
                        </a:rPr>
                        <a:t>0.50</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r>
              <a:tr h="0">
                <a:tc>
                  <a:txBody>
                    <a:bodyPr/>
                    <a:lstStyle/>
                    <a:p>
                      <a:pPr indent="0" marL="0">
                        <a:buNone/>
                      </a:pPr>
                      <a:r>
                        <a:rPr lang="en-US" sz="1250" dirty="0">
                          <a:solidFill>
                            <a:srgbClr val="1B1F23"/>
                          </a:solidFill>
                        </a:rPr>
                        <a:t>Early warning</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250" dirty="0">
                          <a:solidFill>
                            <a:srgbClr val="1B1F23"/>
                          </a:solidFill>
                        </a:rPr>
                        <a:t>SVM (radial)</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250" dirty="0">
                          <a:solidFill>
                            <a:srgbClr val="1B1F23"/>
                          </a:solidFill>
                        </a:rPr>
                        <a:t>0.80</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250" dirty="0">
                          <a:solidFill>
                            <a:srgbClr val="1B1F23"/>
                          </a:solidFill>
                        </a:rPr>
                        <a:t>0.45</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250" dirty="0">
                          <a:solidFill>
                            <a:srgbClr val="1B1F23"/>
                          </a:solidFill>
                        </a:rPr>
                        <a:t>0.62</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250" dirty="0">
                          <a:solidFill>
                            <a:srgbClr val="1B1F23"/>
                          </a:solidFill>
                        </a:rPr>
                        <a:t>0.74</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r>
              <a:tr h="0">
                <a:tc>
                  <a:txBody>
                    <a:bodyPr/>
                    <a:lstStyle/>
                    <a:p>
                      <a:pPr indent="0" marL="0">
                        <a:buNone/>
                      </a:pPr>
                      <a:r>
                        <a:rPr lang="en-US" sz="1250" dirty="0">
                          <a:solidFill>
                            <a:srgbClr val="1B1F23"/>
                          </a:solidFill>
                        </a:rPr>
                        <a:t>Nowcast</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250" dirty="0">
                          <a:solidFill>
                            <a:srgbClr val="1B1F23"/>
                          </a:solidFill>
                        </a:rPr>
                        <a:t>Logistic</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250" dirty="0">
                          <a:solidFill>
                            <a:srgbClr val="1B1F23"/>
                          </a:solidFill>
                        </a:rPr>
                        <a:t>0.60</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250" dirty="0">
                          <a:solidFill>
                            <a:srgbClr val="1B1F23"/>
                          </a:solidFill>
                        </a:rPr>
                        <a:t>0.76</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250" dirty="0">
                          <a:solidFill>
                            <a:srgbClr val="1B1F23"/>
                          </a:solidFill>
                        </a:rPr>
                        <a:t>0.68</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250" dirty="0">
                          <a:solidFill>
                            <a:srgbClr val="1B1F23"/>
                          </a:solidFill>
                        </a:rPr>
                        <a:t>0.87</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r>
              <a:tr h="0">
                <a:tc>
                  <a:txBody>
                    <a:bodyPr/>
                    <a:lstStyle/>
                    <a:p>
                      <a:pPr indent="0" marL="0">
                        <a:buNone/>
                      </a:pPr>
                      <a:r>
                        <a:rPr lang="en-US" sz="1250" dirty="0">
                          <a:solidFill>
                            <a:srgbClr val="1B1F23"/>
                          </a:solidFill>
                        </a:rPr>
                        <a:t>Nowcast</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250" dirty="0">
                          <a:solidFill>
                            <a:srgbClr val="1B1F23"/>
                          </a:solidFill>
                        </a:rPr>
                        <a:t>LDA</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250" dirty="0">
                          <a:solidFill>
                            <a:srgbClr val="1B1F23"/>
                          </a:solidFill>
                        </a:rPr>
                        <a:t>0.80</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250" dirty="0">
                          <a:solidFill>
                            <a:srgbClr val="1B1F23"/>
                          </a:solidFill>
                        </a:rPr>
                        <a:t>0.76</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250" dirty="0">
                          <a:solidFill>
                            <a:srgbClr val="1B1F23"/>
                          </a:solidFill>
                        </a:rPr>
                        <a:t>0.78</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250" dirty="0">
                          <a:solidFill>
                            <a:srgbClr val="1B1F23"/>
                          </a:solidFill>
                        </a:rPr>
                        <a:t>0.86</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r>
              <a:tr h="0">
                <a:tc>
                  <a:txBody>
                    <a:bodyPr/>
                    <a:lstStyle/>
                    <a:p>
                      <a:pPr indent="0" marL="0">
                        <a:buNone/>
                      </a:pPr>
                      <a:r>
                        <a:rPr lang="en-US" sz="1250" b="1" dirty="0">
                          <a:solidFill>
                            <a:srgbClr val="1B1F23"/>
                          </a:solidFill>
                        </a:rPr>
                        <a:t>Nowcast</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CEBD7"/>
                    </a:solidFill>
                  </a:tcPr>
                </a:tc>
                <a:tc>
                  <a:txBody>
                    <a:bodyPr/>
                    <a:lstStyle/>
                    <a:p>
                      <a:pPr indent="0" marL="0">
                        <a:buNone/>
                      </a:pPr>
                      <a:r>
                        <a:rPr lang="en-US" sz="1250" b="1" dirty="0">
                          <a:solidFill>
                            <a:srgbClr val="1B1F23"/>
                          </a:solidFill>
                        </a:rPr>
                        <a:t>Decision tree</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CEBD7"/>
                    </a:solidFill>
                  </a:tcPr>
                </a:tc>
                <a:tc>
                  <a:txBody>
                    <a:bodyPr/>
                    <a:lstStyle/>
                    <a:p>
                      <a:pPr indent="0" marL="0">
                        <a:buNone/>
                      </a:pPr>
                      <a:r>
                        <a:rPr lang="en-US" sz="1250" b="1" dirty="0">
                          <a:solidFill>
                            <a:srgbClr val="1B1F23"/>
                          </a:solidFill>
                        </a:rPr>
                        <a:t>1.00</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CEBD7"/>
                    </a:solidFill>
                  </a:tcPr>
                </a:tc>
                <a:tc>
                  <a:txBody>
                    <a:bodyPr/>
                    <a:lstStyle/>
                    <a:p>
                      <a:pPr indent="0" marL="0">
                        <a:buNone/>
                      </a:pPr>
                      <a:r>
                        <a:rPr lang="en-US" sz="1250" b="1" dirty="0">
                          <a:solidFill>
                            <a:srgbClr val="1B1F23"/>
                          </a:solidFill>
                        </a:rPr>
                        <a:t>0.63</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CEBD7"/>
                    </a:solidFill>
                  </a:tcPr>
                </a:tc>
                <a:tc>
                  <a:txBody>
                    <a:bodyPr/>
                    <a:lstStyle/>
                    <a:p>
                      <a:pPr indent="0" marL="0">
                        <a:buNone/>
                      </a:pPr>
                      <a:r>
                        <a:rPr lang="en-US" sz="1250" b="1" dirty="0">
                          <a:solidFill>
                            <a:srgbClr val="1B1F23"/>
                          </a:solidFill>
                        </a:rPr>
                        <a:t>0.82</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CEBD7"/>
                    </a:solidFill>
                  </a:tcPr>
                </a:tc>
                <a:tc>
                  <a:txBody>
                    <a:bodyPr/>
                    <a:lstStyle/>
                    <a:p>
                      <a:pPr indent="0" marL="0">
                        <a:buNone/>
                      </a:pPr>
                      <a:r>
                        <a:rPr lang="en-US" sz="1250" b="1" dirty="0">
                          <a:solidFill>
                            <a:srgbClr val="1B1F23"/>
                          </a:solidFill>
                        </a:rPr>
                        <a:t>0.80</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CEBD7"/>
                    </a:solidFill>
                  </a:tcPr>
                </a:tc>
              </a:tr>
              <a:tr h="0">
                <a:tc>
                  <a:txBody>
                    <a:bodyPr/>
                    <a:lstStyle/>
                    <a:p>
                      <a:pPr indent="0" marL="0">
                        <a:buNone/>
                      </a:pPr>
                      <a:r>
                        <a:rPr lang="en-US" sz="1250" dirty="0">
                          <a:solidFill>
                            <a:srgbClr val="1B1F23"/>
                          </a:solidFill>
                        </a:rPr>
                        <a:t>Nowcast</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250" dirty="0">
                          <a:solidFill>
                            <a:srgbClr val="1B1F23"/>
                          </a:solidFill>
                        </a:rPr>
                        <a:t>SVM (radial)</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250" dirty="0">
                          <a:solidFill>
                            <a:srgbClr val="1B1F23"/>
                          </a:solidFill>
                        </a:rPr>
                        <a:t>0.60</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250" dirty="0">
                          <a:solidFill>
                            <a:srgbClr val="1B1F23"/>
                          </a:solidFill>
                        </a:rPr>
                        <a:t>0.84</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250" dirty="0">
                          <a:solidFill>
                            <a:srgbClr val="1B1F23"/>
                          </a:solidFill>
                        </a:rPr>
                        <a:t>0.72</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250" dirty="0">
                          <a:solidFill>
                            <a:srgbClr val="1B1F23"/>
                          </a:solidFill>
                        </a:rPr>
                        <a:t>0.84</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r>
            </a:tbl>
          </a:graphicData>
        </a:graphic>
      </p:graphicFrame>
      <p:sp>
        <p:nvSpPr>
          <p:cNvPr id="10" name="Text 6"/>
          <p:cNvSpPr txBox="1"/>
          <p:nvPr/>
        </p:nvSpPr>
        <p:spPr>
          <a:xfrm>
            <a:off x="457200" y="5577840"/>
            <a:ext cx="7223760" cy="457200"/>
          </a:xfrm>
          <a:prstGeom prst="rect">
            <a:avLst/>
          </a:prstGeom>
          <a:noFill/>
          <a:ln/>
        </p:spPr>
        <p:txBody>
          <a:bodyPr wrap="square" lIns="0" tIns="0" rIns="0" bIns="0" rtlCol="0" anchor="t"/>
          <a:lstStyle/>
          <a:p>
            <a:pPr indent="0" marL="0">
              <a:buNone/>
            </a:pPr>
            <a:r>
              <a:rPr lang="en-US" sz="1200" i="1" dirty="0">
                <a:solidFill>
                  <a:schemeClr val="accent6"/>
                </a:solidFill>
              </a:rPr>
              <a:t>Test: 43 months (Jan 2023 – Aug 2026), 5 high-pressure. Cutoff = training share of high months (25%).</a:t>
            </a:r>
            <a:endParaRPr lang="en-US" sz="1200" dirty="0"/>
          </a:p>
        </p:txBody>
      </p:sp>
      <p:sp>
        <p:nvSpPr>
          <p:cNvPr id="11" name="Early warning card"/>
          <p:cNvSpPr/>
          <p:nvPr/>
        </p:nvSpPr>
        <p:spPr>
          <a:xfrm>
            <a:off x="8001000" y="1645920"/>
            <a:ext cx="3749040" cy="2103120"/>
          </a:xfrm>
          <a:prstGeom prst="roundRect">
            <a:avLst>
              <a:gd name="adj" fmla="val 3478"/>
            </a:avLst>
          </a:prstGeom>
          <a:solidFill>
            <a:schemeClr val="bg2"/>
          </a:solidFill>
          <a:ln w="12700">
            <a:solidFill>
              <a:schemeClr val="bg2"/>
            </a:solidFill>
            <a:prstDash val="solid"/>
          </a:ln>
        </p:spPr>
      </p:sp>
      <p:sp>
        <p:nvSpPr>
          <p:cNvPr id="12" name="Text 8"/>
          <p:cNvSpPr txBox="1"/>
          <p:nvPr/>
        </p:nvSpPr>
        <p:spPr>
          <a:xfrm>
            <a:off x="8183880" y="1783080"/>
            <a:ext cx="3383280" cy="1828800"/>
          </a:xfrm>
          <a:prstGeom prst="rect">
            <a:avLst/>
          </a:prstGeom>
          <a:noFill/>
          <a:ln/>
        </p:spPr>
        <p:txBody>
          <a:bodyPr wrap="square" lIns="0" tIns="0" rIns="0" bIns="0" rtlCol="0" anchor="t"/>
          <a:lstStyle/>
          <a:p>
            <a:pPr indent="0" marL="0">
              <a:buNone/>
            </a:pPr>
            <a:r>
              <a:rPr lang="en-US" sz="1700" b="1" dirty="0">
                <a:solidFill>
                  <a:srgbClr val="E8871E"/>
                </a:solidFill>
              </a:rPr>
              <a:t>Early warning</a:t>
            </a:r>
            <a:endParaRPr lang="en-US" sz="1500" dirty="0"/>
          </a:p>
          <a:p>
            <a:pPr indent="0" marL="0">
              <a:buNone/>
            </a:pPr>
            <a:r>
              <a:rPr lang="en-US" sz="1400" dirty="0">
                <a:solidFill>
                  <a:schemeClr val="tx1"/>
                </a:solidFill>
              </a:rPr>
              <a:t>Last month's data only: a true forecast. Catches 4 of 5 stress months, with false alarms.</a:t>
            </a:r>
            <a:endParaRPr lang="en-US" sz="1500" dirty="0"/>
          </a:p>
        </p:txBody>
      </p:sp>
      <p:sp>
        <p:nvSpPr>
          <p:cNvPr id="13" name="Nowcast card"/>
          <p:cNvSpPr/>
          <p:nvPr/>
        </p:nvSpPr>
        <p:spPr>
          <a:xfrm>
            <a:off x="8001000" y="3931920"/>
            <a:ext cx="3749040" cy="2103120"/>
          </a:xfrm>
          <a:prstGeom prst="roundRect">
            <a:avLst>
              <a:gd name="adj" fmla="val 3478"/>
            </a:avLst>
          </a:prstGeom>
          <a:solidFill>
            <a:schemeClr val="bg2"/>
          </a:solidFill>
          <a:ln w="12700">
            <a:solidFill>
              <a:schemeClr val="bg2"/>
            </a:solidFill>
            <a:prstDash val="solid"/>
          </a:ln>
        </p:spPr>
      </p:sp>
      <p:sp>
        <p:nvSpPr>
          <p:cNvPr id="14" name="Text 10"/>
          <p:cNvSpPr txBox="1"/>
          <p:nvPr/>
        </p:nvSpPr>
        <p:spPr>
          <a:xfrm>
            <a:off x="8183880" y="4069080"/>
            <a:ext cx="3383280" cy="1828800"/>
          </a:xfrm>
          <a:prstGeom prst="rect">
            <a:avLst/>
          </a:prstGeom>
          <a:noFill/>
          <a:ln/>
        </p:spPr>
        <p:txBody>
          <a:bodyPr wrap="square" lIns="0" tIns="0" rIns="0" bIns="0" rtlCol="0" anchor="t"/>
          <a:lstStyle/>
          <a:p>
            <a:pPr indent="0" marL="0">
              <a:buNone/>
            </a:pPr>
            <a:r>
              <a:rPr lang="en-US" sz="1700" b="1" dirty="0">
                <a:solidFill>
                  <a:srgbClr val="2A7F8F"/>
                </a:solidFill>
              </a:rPr>
              <a:t>Nowcast</a:t>
            </a:r>
            <a:endParaRPr lang="en-US" sz="1500" dirty="0"/>
          </a:p>
          <a:p>
            <a:pPr indent="0" marL="0">
              <a:buNone/>
            </a:pPr>
            <a:r>
              <a:rPr lang="en-US" sz="1400" dirty="0">
                <a:solidFill>
                  <a:schemeClr val="tx1"/>
                </a:solidFill>
              </a:rPr>
              <a:t>Same-month drivers: AUC up to 0.87. Explains a month once data is out; cannot forecast.</a:t>
            </a:r>
            <a:endParaRPr lang="en-US" sz="1500" dirty="0"/>
          </a:p>
        </p:txBody>
      </p:sp>
      <p:sp>
        <p:nvSpPr>
          <p:cNvPr id="25" name="Slide Number Placeholder 0"/>
          <p:cNvSpPr>
            <a:spLocks noGrp="1"/>
          </p:cNvSpPr>
          <p:nvPr>
            <p:ph type="sldNum" sz="quarter" idx="4294967295"/>
          </p:nvPr>
        </p:nvSpPr>
        <p:spPr>
          <a:xfrm>
            <a:off x="10927080" y="6382512"/>
            <a:ext cx="420624" cy="329184"/>
          </a:xfrm>
          <a:prstGeom prst="rect">
            <a:avLst/>
          </a:prstGeom>
          <a:extLst>
            <a:ext uri="{C572A759-6A51-4108-AA02-DFA0A04FC94B}">
              <ma14:wrappingTextBoxFlag xmlns:ma14="http://schemas.microsoft.com/office/mac/drawingml/2011/main" val="0"/>
            </a:ext>
          </a:extLst>
        </p:spPr>
        <p:txBody>
          <a:bodyPr/>
          <a:lstStyle>
            <a:lvl1pPr>
              <a:defRPr sz="1200">
                <a:solidFill>
                  <a:srgbClr val="0F2A3A"/>
                </a:solidFill>
                <a:latin typeface="Calibri"/>
                <a:ea typeface="Calibri"/>
                <a:cs typeface="Calibri"/>
              </a:defRPr>
            </a:lvl1pPr>
          </a:lstStyle>
          <a:p>
            <a:pPr algn="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5"/>
          <p:cNvSpPr/>
          <p:nvPr>
            <p:ph idx="105" type="title" hasCustomPrompt="1"/>
          </p:nvPr>
        </p:nvSpPr>
        <p:spPr>
          <a:xfrm>
            <a:off x="365760" y="502920"/>
            <a:ext cx="10058400" cy="868680"/>
          </a:xfrm>
          <a:prstGeom prst="rect">
            <a:avLst/>
          </a:prstGeom>
          <a:noFill/>
          <a:ln/>
        </p:spPr>
        <p:txBody>
          <a:bodyPr wrap="square" lIns="0" tIns="0" rIns="0" bIns="0" rtlCol="0" anchor="ctr"/>
          <a:lstStyle/>
          <a:p>
            <a:pPr algn="l" indent="0" marL="0">
              <a:buNone/>
            </a:pPr>
            <a:r>
              <a:rPr lang="en-US" sz="2800" b="1" dirty="0">
                <a:solidFill>
                  <a:srgbClr val="FFFFFF"/>
                </a:solidFill>
              </a:rPr>
              <a:t>The accuracy trap, and what drives the odds of stress</a:t>
            </a:r>
            <a:endParaRPr lang="en-US" sz="2800" dirty="0"/>
          </a:p>
        </p:txBody>
      </p:sp>
      <p:sp>
        <p:nvSpPr>
          <p:cNvPr id="3" name="Current presenter"/>
          <p:cNvSpPr txBox="1"/>
          <p:nvPr/>
        </p:nvSpPr>
        <p:spPr>
          <a:xfrm>
            <a:off x="8869680" y="91440"/>
            <a:ext cx="3063240" cy="310896"/>
          </a:xfrm>
          <a:prstGeom prst="rect">
            <a:avLst/>
          </a:prstGeom>
          <a:noFill/>
          <a:ln/>
        </p:spPr>
        <p:txBody>
          <a:bodyPr wrap="square" lIns="0" tIns="0" rIns="0" bIns="0" rtlCol="0" anchor="ctr"/>
          <a:lstStyle/>
          <a:p>
            <a:pPr algn="r" indent="0" marL="0">
              <a:buNone/>
            </a:pPr>
            <a:r>
              <a:rPr lang="en-US" sz="1100" dirty="0">
                <a:solidFill>
                  <a:srgbClr val="5F6B73"/>
                </a:solidFill>
              </a:rPr>
              <a:t>Presenter: </a:t>
            </a:r>
            <a:pPr algn="r" indent="0" marL="0">
              <a:buNone/>
            </a:pPr>
            <a:r>
              <a:rPr lang="en-US" sz="1100" b="1" dirty="0">
                <a:solidFill>
                  <a:srgbClr val="0F2A3A"/>
                </a:solidFill>
              </a:rPr>
              <a:t>Aswin G. - EMBAA25008</a:t>
            </a:r>
            <a:endParaRPr lang="en-US" sz="1100" dirty="0"/>
          </a:p>
        </p:txBody>
      </p:sp>
      <p:sp>
        <p:nvSpPr>
          <p:cNvPr id="4" name="Presenter photo placeholder"/>
          <p:cNvSpPr/>
          <p:nvPr/>
        </p:nvSpPr>
        <p:spPr>
          <a:xfrm>
            <a:off x="10744200" y="502920"/>
            <a:ext cx="1188720" cy="868680"/>
          </a:xfrm>
          <a:prstGeom prst="rect">
            <a:avLst/>
          </a:prstGeom>
          <a:solidFill>
            <a:schemeClr val="accent2"/>
          </a:solidFill>
          <a:ln w="12700">
            <a:solidFill>
              <a:schemeClr val="accent2"/>
            </a:solidFill>
            <a:prstDash val="solid"/>
          </a:ln>
        </p:spPr>
      </p:sp>
      <p:sp>
        <p:nvSpPr>
          <p:cNvPr id="5" name="Presenter initials"/>
          <p:cNvSpPr txBox="1"/>
          <p:nvPr/>
        </p:nvSpPr>
        <p:spPr>
          <a:xfrm>
            <a:off x="10744200" y="502920"/>
            <a:ext cx="1188720" cy="868680"/>
          </a:xfrm>
          <a:prstGeom prst="rect">
            <a:avLst/>
          </a:prstGeom>
          <a:noFill/>
          <a:ln/>
        </p:spPr>
        <p:txBody>
          <a:bodyPr wrap="square" lIns="0" tIns="0" rIns="0" bIns="0" rtlCol="0" anchor="ctr"/>
          <a:lstStyle/>
          <a:p>
            <a:pPr algn="ctr" indent="0" marL="0">
              <a:buNone/>
            </a:pPr>
            <a:r>
              <a:rPr lang="en-US" sz="2600" b="1" dirty="0">
                <a:solidFill>
                  <a:schemeClr val="bg1"/>
                </a:solidFill>
              </a:rPr>
              <a:t>AG</a:t>
            </a:r>
            <a:endParaRPr lang="en-US" sz="2600" dirty="0"/>
          </a:p>
        </p:txBody>
      </p:sp>
      <p:sp>
        <p:nvSpPr>
          <p:cNvPr id="6" name="Footer rule"/>
          <p:cNvSpPr/>
          <p:nvPr/>
        </p:nvSpPr>
        <p:spPr>
          <a:xfrm>
            <a:off x="274320" y="6272784"/>
            <a:ext cx="10515600" cy="0"/>
          </a:xfrm>
          <a:prstGeom prst="line">
            <a:avLst/>
          </a:prstGeom>
          <a:noFill/>
          <a:ln w="12700">
            <a:solidFill>
              <a:srgbClr val="EEF2F4"/>
            </a:solidFill>
            <a:prstDash val="solid"/>
          </a:ln>
        </p:spPr>
      </p:sp>
      <p:sp>
        <p:nvSpPr>
          <p:cNvPr id="7" name="Team footer"/>
          <p:cNvSpPr txBox="1"/>
          <p:nvPr/>
        </p:nvSpPr>
        <p:spPr>
          <a:xfrm>
            <a:off x="274320" y="6309360"/>
            <a:ext cx="10515600" cy="457200"/>
          </a:xfrm>
          <a:prstGeom prst="rect">
            <a:avLst/>
          </a:prstGeom>
          <a:noFill/>
          <a:ln/>
        </p:spPr>
        <p:txBody>
          <a:bodyPr wrap="square" lIns="0" tIns="0" rIns="0" bIns="0" rtlCol="0" anchor="ctr"/>
          <a:lstStyle/>
          <a:p>
            <a:pPr algn="ctr" indent="0" marL="0">
              <a:buNone/>
            </a:pPr>
            <a:r>
              <a:rPr lang="en-US" sz="850" b="1" u="sng" dirty="0">
                <a:solidFill>
                  <a:srgbClr val="1F5FA8"/>
                </a:solidFill>
                <a:hlinkClick r:id="rId1" invalidUrl="" action="" tgtFrame="" tooltip="Ankit Singh on LinkedIn" history="1" highlightClick="0" endSnd="0">
                  <a:extLst>
                    <a:ext uri="{A12FA001-AC4F-418D-AE19-62706E023703}">
                      <ahyp:hlinkClr xmlns:ahyp="http://schemas.microsoft.com/office/drawing/2018/hyperlinkcolor" val="tx"/>
                    </a:ext>
                  </a:extLst>
                </a:hlinkClick>
              </a:rPr>
              <a:t>Ankit Singh</a:t>
            </a:r>
            <a:pPr algn="ctr" indent="0" marL="0">
              <a:buNone/>
            </a:pPr>
            <a:r>
              <a:rPr lang="en-US" sz="850" dirty="0">
                <a:solidFill>
                  <a:srgbClr val="5F6B73"/>
                </a:solidFill>
              </a:rPr>
              <a:t> - EMBAA25004 - </a:t>
            </a:r>
            <a:pPr algn="ctr" indent="0" marL="0">
              <a:buNone/>
            </a:pPr>
            <a:r>
              <a:rPr lang="en-US" sz="850" u="sng" dirty="0">
                <a:solidFill>
                  <a:srgbClr val="1F5FA8"/>
                </a:solidFill>
                <a:hlinkClick r:id="rId2" invalidUrl="" action="" tgtFrame="" tooltip="" history="1" highlightClick="0" endSnd="0">
                  <a:extLst>
                    <a:ext uri="{A12FA001-AC4F-418D-AE19-62706E023703}">
                      <ahyp:hlinkClr xmlns:ahyp="http://schemas.microsoft.com/office/drawing/2018/hyperlinkcolor" val="tx"/>
                    </a:ext>
                  </a:extLst>
                </a:hlinkClick>
              </a:rPr>
              <a:t>ankit.embaa25004@iimkashipur.ac.in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3" invalidUrl="" action="" tgtFrame="" tooltip="Gopalakrishnan S on LinkedIn" history="1" highlightClick="0" endSnd="0">
                  <a:extLst>
                    <a:ext uri="{A12FA001-AC4F-418D-AE19-62706E023703}">
                      <ahyp:hlinkClr xmlns:ahyp="http://schemas.microsoft.com/office/drawing/2018/hyperlinkcolor" val="tx"/>
                    </a:ext>
                  </a:extLst>
                </a:hlinkClick>
              </a:rPr>
              <a:t>Gopalakrishnan S</a:t>
            </a:r>
            <a:pPr algn="ctr" indent="0" marL="0">
              <a:buNone/>
            </a:pPr>
            <a:r>
              <a:rPr lang="en-US" sz="850" dirty="0">
                <a:solidFill>
                  <a:srgbClr val="5F6B73"/>
                </a:solidFill>
              </a:rPr>
              <a:t> - EMBAA25017 - </a:t>
            </a:r>
            <a:pPr algn="ctr" indent="0" marL="0">
              <a:buNone/>
            </a:pPr>
            <a:r>
              <a:rPr lang="en-US" sz="850" u="sng" dirty="0">
                <a:solidFill>
                  <a:srgbClr val="1F5FA8"/>
                </a:solidFill>
                <a:hlinkClick r:id="rId4" invalidUrl="" action="" tgtFrame="" tooltip="" history="1" highlightClick="0" endSnd="0">
                  <a:extLst>
                    <a:ext uri="{A12FA001-AC4F-418D-AE19-62706E023703}">
                      <ahyp:hlinkClr xmlns:ahyp="http://schemas.microsoft.com/office/drawing/2018/hyperlinkcolor" val="tx"/>
                    </a:ext>
                  </a:extLst>
                </a:hlinkClick>
              </a:rPr>
              <a:t>gopalakrishnan.embaa25017@iimkashipur.ac.in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5" invalidUrl="" action="" tgtFrame="" tooltip="Murugan Perumal on LinkedIn" history="1" highlightClick="0" endSnd="0">
                  <a:extLst>
                    <a:ext uri="{A12FA001-AC4F-418D-AE19-62706E023703}">
                      <ahyp:hlinkClr xmlns:ahyp="http://schemas.microsoft.com/office/drawing/2018/hyperlinkcolor" val="tx"/>
                    </a:ext>
                  </a:extLst>
                </a:hlinkClick>
              </a:rPr>
              <a:t>Murugan Perumal</a:t>
            </a:r>
            <a:pPr algn="ctr" indent="0" marL="0">
              <a:buNone/>
            </a:pPr>
            <a:r>
              <a:rPr lang="en-US" sz="850" dirty="0">
                <a:solidFill>
                  <a:srgbClr val="5F6B73"/>
                </a:solidFill>
              </a:rPr>
              <a:t> - EMBAA25020 - </a:t>
            </a:r>
            <a:pPr algn="ctr" indent="0" marL="0">
              <a:buNone/>
            </a:pPr>
            <a:r>
              <a:rPr lang="en-US" sz="850" u="sng" dirty="0">
                <a:solidFill>
                  <a:srgbClr val="1F5FA8"/>
                </a:solidFill>
                <a:hlinkClick r:id="rId6" invalidUrl="" action="" tgtFrame="" tooltip="" history="1" highlightClick="0" endSnd="0">
                  <a:extLst>
                    <a:ext uri="{A12FA001-AC4F-418D-AE19-62706E023703}">
                      <ahyp:hlinkClr xmlns:ahyp="http://schemas.microsoft.com/office/drawing/2018/hyperlinkcolor" val="tx"/>
                    </a:ext>
                  </a:extLst>
                </a:hlinkClick>
              </a:rPr>
              <a:t>murugan.embaa25020@iimkashipur.ac.in</a:t>
            </a:r>
            <a:pPr algn="ctr" indent="0" marL="0">
              <a:buNone/>
            </a:pPr>
            <a:endParaRPr lang="en-US" sz="850" dirty="0"/>
          </a:p>
          <a:p>
            <a:pPr algn="ctr" indent="0" marL="0">
              <a:buNone/>
            </a:pPr>
            <a:r>
              <a:rPr lang="en-US" sz="850" b="1" u="sng" dirty="0">
                <a:solidFill>
                  <a:srgbClr val="1F5FA8"/>
                </a:solidFill>
                <a:hlinkClick r:id="rId7" invalidUrl="" action="" tgtFrame="" tooltip="Aswin G. on LinkedIn" history="1" highlightClick="0" endSnd="0">
                  <a:extLst>
                    <a:ext uri="{A12FA001-AC4F-418D-AE19-62706E023703}">
                      <ahyp:hlinkClr xmlns:ahyp="http://schemas.microsoft.com/office/drawing/2018/hyperlinkcolor" val="tx"/>
                    </a:ext>
                  </a:extLst>
                </a:hlinkClick>
              </a:rPr>
              <a:t>Aswin G.</a:t>
            </a:r>
            <a:pPr algn="ctr" indent="0" marL="0">
              <a:buNone/>
            </a:pPr>
            <a:r>
              <a:rPr lang="en-US" sz="850" dirty="0">
                <a:solidFill>
                  <a:srgbClr val="5F6B73"/>
                </a:solidFill>
              </a:rPr>
              <a:t> - EMBAA25008 - </a:t>
            </a:r>
            <a:pPr algn="ctr" indent="0" marL="0">
              <a:buNone/>
            </a:pPr>
            <a:r>
              <a:rPr lang="en-US" sz="850" u="sng" dirty="0">
                <a:solidFill>
                  <a:srgbClr val="1F5FA8"/>
                </a:solidFill>
                <a:hlinkClick r:id="rId8" invalidUrl="" action="" tgtFrame="" tooltip="" history="1" highlightClick="0" endSnd="0">
                  <a:extLst>
                    <a:ext uri="{A12FA001-AC4F-418D-AE19-62706E023703}">
                      <ahyp:hlinkClr xmlns:ahyp="http://schemas.microsoft.com/office/drawing/2018/hyperlinkcolor" val="tx"/>
                    </a:ext>
                  </a:extLst>
                </a:hlinkClick>
              </a:rPr>
              <a:t>aswin.embaa25008@iimkashipur.ac.in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9" invalidUrl="" action="" tgtFrame="" tooltip="Atul Kumar Singh on LinkedIn" history="1" highlightClick="0" endSnd="0">
                  <a:extLst>
                    <a:ext uri="{A12FA001-AC4F-418D-AE19-62706E023703}">
                      <ahyp:hlinkClr xmlns:ahyp="http://schemas.microsoft.com/office/drawing/2018/hyperlinkcolor" val="tx"/>
                    </a:ext>
                  </a:extLst>
                </a:hlinkClick>
              </a:rPr>
              <a:t>Atul Kumar Singh</a:t>
            </a:r>
            <a:pPr algn="ctr" indent="0" marL="0">
              <a:buNone/>
            </a:pPr>
            <a:r>
              <a:rPr lang="en-US" sz="850" dirty="0">
                <a:solidFill>
                  <a:srgbClr val="5F6B73"/>
                </a:solidFill>
              </a:rPr>
              <a:t> - EMBAA25009 - </a:t>
            </a:r>
            <a:pPr algn="ctr" indent="0" marL="0">
              <a:buNone/>
            </a:pPr>
            <a:r>
              <a:rPr lang="en-US" sz="850" u="sng" dirty="0">
                <a:solidFill>
                  <a:srgbClr val="1F5FA8"/>
                </a:solidFill>
                <a:hlinkClick r:id="rId10" invalidUrl="" action="" tgtFrame="" tooltip="" history="1" highlightClick="0" endSnd="0">
                  <a:extLst>
                    <a:ext uri="{A12FA001-AC4F-418D-AE19-62706E023703}">
                      <ahyp:hlinkClr xmlns:ahyp="http://schemas.microsoft.com/office/drawing/2018/hyperlinkcolor" val="tx"/>
                    </a:ext>
                  </a:extLst>
                </a:hlinkClick>
              </a:rPr>
              <a:t>atul.embaa25009@iimkashipur.ac.in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11" invalidUrl="" action="" tgtFrame="" tooltip="Devanshu Priyam on LinkedIn" history="1" highlightClick="0" endSnd="0">
                  <a:extLst>
                    <a:ext uri="{A12FA001-AC4F-418D-AE19-62706E023703}">
                      <ahyp:hlinkClr xmlns:ahyp="http://schemas.microsoft.com/office/drawing/2018/hyperlinkcolor" val="tx"/>
                    </a:ext>
                  </a:extLst>
                </a:hlinkClick>
              </a:rPr>
              <a:t>Devanshu Priyam</a:t>
            </a:r>
            <a:pPr algn="ctr" indent="0" marL="0">
              <a:buNone/>
            </a:pPr>
            <a:r>
              <a:rPr lang="en-US" sz="850" dirty="0">
                <a:solidFill>
                  <a:srgbClr val="5F6B73"/>
                </a:solidFill>
              </a:rPr>
              <a:t> - EMBAA25014 - </a:t>
            </a:r>
            <a:pPr algn="ctr" indent="0" marL="0">
              <a:buNone/>
            </a:pPr>
            <a:r>
              <a:rPr lang="en-US" sz="850" u="sng" dirty="0">
                <a:solidFill>
                  <a:srgbClr val="1F5FA8"/>
                </a:solidFill>
                <a:hlinkClick r:id="rId12" invalidUrl="" action="" tgtFrame="" tooltip="" history="1" highlightClick="0" endSnd="0">
                  <a:extLst>
                    <a:ext uri="{A12FA001-AC4F-418D-AE19-62706E023703}">
                      <ahyp:hlinkClr xmlns:ahyp="http://schemas.microsoft.com/office/drawing/2018/hyperlinkcolor" val="tx"/>
                    </a:ext>
                  </a:extLst>
                </a:hlinkClick>
              </a:rPr>
              <a:t>devanshu.embaa25014@iimkashipur.ac.in</a:t>
            </a:r>
            <a:endParaRPr lang="en-US" sz="850" dirty="0"/>
          </a:p>
        </p:txBody>
      </p:sp>
      <p:pic>
        <p:nvPicPr>
          <p:cNvPr id="9" name="Image 0" descr="Pruned decision tree for the nowcast set-up">    </p:cNvPr>
          <p:cNvPicPr>
            <a:picLocks noChangeAspect="1"/>
          </p:cNvPicPr>
          <p:nvPr/>
        </p:nvPicPr>
        <p:blipFill>
          <a:blip r:embed="rId13"/>
          <a:stretch>
            <a:fillRect/>
          </a:stretch>
        </p:blipFill>
        <p:spPr>
          <a:xfrm>
            <a:off x="411480" y="1600200"/>
            <a:ext cx="5760720" cy="4187952"/>
          </a:xfrm>
          <a:prstGeom prst="rect">
            <a:avLst/>
          </a:prstGeom>
        </p:spPr>
      </p:pic>
      <p:sp>
        <p:nvSpPr>
          <p:cNvPr id="10" name="Text 6"/>
          <p:cNvSpPr txBox="1"/>
          <p:nvPr/>
        </p:nvSpPr>
        <p:spPr>
          <a:xfrm>
            <a:off x="411480" y="5806440"/>
            <a:ext cx="5760720" cy="274320"/>
          </a:xfrm>
          <a:prstGeom prst="rect">
            <a:avLst/>
          </a:prstGeom>
          <a:noFill/>
          <a:ln/>
        </p:spPr>
        <p:txBody>
          <a:bodyPr wrap="square" lIns="0" tIns="0" rIns="0" bIns="0" rtlCol="0" anchor="t"/>
          <a:lstStyle/>
          <a:p>
            <a:pPr indent="0" marL="0">
              <a:buNone/>
            </a:pPr>
            <a:r>
              <a:rPr lang="en-US" sz="1000" i="1" dirty="0">
                <a:solidFill>
                  <a:schemeClr val="accent6"/>
                </a:solidFill>
              </a:rPr>
              <a:t>Pruned nowcast decision tree (rpart): sensitivity 1.00 on test</a:t>
            </a:r>
            <a:endParaRPr lang="en-US" sz="1000" dirty="0"/>
          </a:p>
        </p:txBody>
      </p:sp>
      <p:sp>
        <p:nvSpPr>
          <p:cNvPr id="11" name="Trap card"/>
          <p:cNvSpPr/>
          <p:nvPr/>
        </p:nvSpPr>
        <p:spPr>
          <a:xfrm>
            <a:off x="6492240" y="1645920"/>
            <a:ext cx="5257800" cy="1600200"/>
          </a:xfrm>
          <a:prstGeom prst="roundRect">
            <a:avLst>
              <a:gd name="adj" fmla="val 4571"/>
            </a:avLst>
          </a:prstGeom>
          <a:solidFill>
            <a:schemeClr val="tx2"/>
          </a:solidFill>
          <a:ln w="12700">
            <a:solidFill>
              <a:schemeClr val="tx2"/>
            </a:solidFill>
            <a:prstDash val="solid"/>
          </a:ln>
        </p:spPr>
      </p:sp>
      <p:sp>
        <p:nvSpPr>
          <p:cNvPr id="12" name="Text 8"/>
          <p:cNvSpPr txBox="1"/>
          <p:nvPr/>
        </p:nvSpPr>
        <p:spPr>
          <a:xfrm>
            <a:off x="6675120" y="1755648"/>
            <a:ext cx="4892040" cy="1417320"/>
          </a:xfrm>
          <a:prstGeom prst="rect">
            <a:avLst/>
          </a:prstGeom>
          <a:noFill/>
          <a:ln/>
        </p:spPr>
        <p:txBody>
          <a:bodyPr wrap="square" lIns="0" tIns="0" rIns="0" bIns="0" rtlCol="0" anchor="t"/>
          <a:lstStyle/>
          <a:p>
            <a:pPr indent="0" marL="0">
              <a:buNone/>
            </a:pPr>
            <a:r>
              <a:rPr lang="en-US" sz="1800" b="1" dirty="0">
                <a:solidFill>
                  <a:srgbClr val="E8871E"/>
                </a:solidFill>
              </a:rPr>
              <a:t>88% accuracy, 0 stress months caught</a:t>
            </a:r>
            <a:endParaRPr lang="en-US" sz="1500" dirty="0"/>
          </a:p>
          <a:p>
            <a:pPr indent="0" marL="0">
              <a:buNone/>
            </a:pPr>
            <a:r>
              <a:rPr lang="en-US" sz="1400" dirty="0">
                <a:solidFill>
                  <a:srgbClr val="FFFFFF"/>
                </a:solidFill>
              </a:rPr>
              <a:t>The early-warning tree predicts “Normal” every month. On unbalanced data, judge by sensitivity and balanced accuracy.</a:t>
            </a:r>
            <a:endParaRPr lang="en-US" sz="15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492240" y="3474720"/>
          <a:ext cx="5257800" cy="914400"/>
        </p:xfrm>
        <a:graphic>
          <a:graphicData uri="http://schemas.openxmlformats.org/drawingml/2006/table">
            <a:tbl>
              <a:tblPr/>
              <a:tblGrid>
                <a:gridCol w="1417320"/>
                <a:gridCol w="2468880"/>
                <a:gridCol w="1371600"/>
              </a:tblGrid>
              <a:tr h="0">
                <a:tc>
                  <a:txBody>
                    <a:bodyPr/>
                    <a:lstStyle/>
                    <a:p>
                      <a:pPr indent="0" marL="0">
                        <a:buNone/>
                      </a:pPr>
                      <a:r>
                        <a:rPr lang="en-US" sz="1250" b="1" dirty="0">
                          <a:solidFill>
                            <a:srgbClr val="FFFFFF"/>
                          </a:solidFill>
                        </a:rPr>
                        <a:t>Logistic model</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0F2A3A"/>
                    </a:solidFill>
                  </a:tcPr>
                </a:tc>
                <a:tc>
                  <a:txBody>
                    <a:bodyPr/>
                    <a:lstStyle/>
                    <a:p>
                      <a:pPr indent="0" marL="0">
                        <a:buNone/>
                      </a:pPr>
                      <a:r>
                        <a:rPr lang="en-US" sz="1250" b="1" dirty="0">
                          <a:solidFill>
                            <a:srgbClr val="FFFFFF"/>
                          </a:solidFill>
                        </a:rPr>
                        <a:t>Driver</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0F2A3A"/>
                    </a:solidFill>
                  </a:tcPr>
                </a:tc>
                <a:tc>
                  <a:txBody>
                    <a:bodyPr/>
                    <a:lstStyle/>
                    <a:p>
                      <a:pPr indent="0" marL="0">
                        <a:buNone/>
                      </a:pPr>
                      <a:r>
                        <a:rPr lang="en-US" sz="1250" b="1" dirty="0">
                          <a:solidFill>
                            <a:srgbClr val="FFFFFF"/>
                          </a:solidFill>
                        </a:rPr>
                        <a:t>Odds ratio</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0F2A3A"/>
                    </a:solidFill>
                  </a:tcPr>
                </a:tc>
              </a:tr>
              <a:tr h="0">
                <a:tc>
                  <a:txBody>
                    <a:bodyPr/>
                    <a:lstStyle/>
                    <a:p>
                      <a:pPr indent="0" marL="0">
                        <a:buNone/>
                      </a:pPr>
                      <a:r>
                        <a:rPr lang="en-US" sz="1250" dirty="0">
                          <a:solidFill>
                            <a:srgbClr val="1B1F23"/>
                          </a:solidFill>
                        </a:rPr>
                        <a:t>Early warning</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250" dirty="0">
                          <a:solidFill>
                            <a:srgbClr val="1B1F23"/>
                          </a:solidFill>
                        </a:rPr>
                        <a:t>Last month's reserves change (+1%)</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250" dirty="0">
                          <a:solidFill>
                            <a:srgbClr val="1B1F23"/>
                          </a:solidFill>
                        </a:rPr>
                        <a:t>0.62 (p = 0.006)</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r>
              <a:tr h="0">
                <a:tc>
                  <a:txBody>
                    <a:bodyPr/>
                    <a:lstStyle/>
                    <a:p>
                      <a:pPr indent="0" marL="0">
                        <a:buNone/>
                      </a:pPr>
                      <a:r>
                        <a:rPr lang="en-US" sz="1250" dirty="0">
                          <a:solidFill>
                            <a:srgbClr val="1B1F23"/>
                          </a:solidFill>
                        </a:rPr>
                        <a:t>Nowcast</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250" dirty="0">
                          <a:solidFill>
                            <a:srgbClr val="1B1F23"/>
                          </a:solidFill>
                        </a:rPr>
                        <a:t>Broad dollar (+1%)</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250" dirty="0">
                          <a:solidFill>
                            <a:srgbClr val="1B1F23"/>
                          </a:solidFill>
                        </a:rPr>
                        <a:t>3.59</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r>
              <a:tr h="0">
                <a:tc>
                  <a:txBody>
                    <a:bodyPr/>
                    <a:lstStyle/>
                    <a:p>
                      <a:pPr indent="0" marL="0">
                        <a:buNone/>
                      </a:pPr>
                      <a:r>
                        <a:rPr lang="en-US" sz="1250" dirty="0">
                          <a:solidFill>
                            <a:srgbClr val="1B1F23"/>
                          </a:solidFill>
                        </a:rPr>
                        <a:t>Nowcast</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250" dirty="0">
                          <a:solidFill>
                            <a:srgbClr val="1B1F23"/>
                          </a:solidFill>
                        </a:rPr>
                        <a:t>FPI inflow (+US$1 bn)</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250" dirty="0">
                          <a:solidFill>
                            <a:srgbClr val="1B1F23"/>
                          </a:solidFill>
                        </a:rPr>
                        <a:t>0.49</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r>
              <a:tr h="0">
                <a:tc>
                  <a:txBody>
                    <a:bodyPr/>
                    <a:lstStyle/>
                    <a:p>
                      <a:pPr indent="0" marL="0">
                        <a:buNone/>
                      </a:pPr>
                      <a:r>
                        <a:rPr lang="en-US" sz="1250" dirty="0">
                          <a:solidFill>
                            <a:srgbClr val="1B1F23"/>
                          </a:solidFill>
                        </a:rPr>
                        <a:t>Nowcast</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250" dirty="0">
                          <a:solidFill>
                            <a:srgbClr val="1B1F23"/>
                          </a:solidFill>
                        </a:rPr>
                        <a:t>Inflation gap (+1 pp)</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250" dirty="0">
                          <a:solidFill>
                            <a:srgbClr val="1B1F23"/>
                          </a:solidFill>
                        </a:rPr>
                        <a:t>1.40</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r>
            </a:tbl>
          </a:graphicData>
        </a:graphic>
      </p:graphicFrame>
      <p:sp>
        <p:nvSpPr>
          <p:cNvPr id="14" name="Text 9"/>
          <p:cNvSpPr txBox="1"/>
          <p:nvPr/>
        </p:nvSpPr>
        <p:spPr>
          <a:xfrm>
            <a:off x="6492240" y="5440680"/>
            <a:ext cx="5257800" cy="457200"/>
          </a:xfrm>
          <a:prstGeom prst="rect">
            <a:avLst/>
          </a:prstGeom>
          <a:noFill/>
          <a:ln/>
        </p:spPr>
        <p:txBody>
          <a:bodyPr wrap="square" lIns="0" tIns="0" rIns="0" bIns="0" rtlCol="0" anchor="t"/>
          <a:lstStyle/>
          <a:p>
            <a:pPr indent="0" marL="0">
              <a:buNone/>
            </a:pPr>
            <a:r>
              <a:rPr lang="en-US" sz="1300" dirty="0">
                <a:solidFill>
                  <a:schemeClr val="accent6"/>
                </a:solidFill>
              </a:rPr>
              <a:t>Appendix: 3-class tree (Stable / Moderate / High) reaches 63% test accuracy.</a:t>
            </a:r>
            <a:endParaRPr lang="en-US" sz="1300" dirty="0"/>
          </a:p>
        </p:txBody>
      </p:sp>
      <p:sp>
        <p:nvSpPr>
          <p:cNvPr id="25" name="Slide Number Placeholder 0"/>
          <p:cNvSpPr>
            <a:spLocks noGrp="1"/>
          </p:cNvSpPr>
          <p:nvPr>
            <p:ph type="sldNum" sz="quarter" idx="4294967295"/>
          </p:nvPr>
        </p:nvSpPr>
        <p:spPr>
          <a:xfrm>
            <a:off x="10927080" y="6382512"/>
            <a:ext cx="420624" cy="329184"/>
          </a:xfrm>
          <a:prstGeom prst="rect">
            <a:avLst/>
          </a:prstGeom>
          <a:extLst>
            <a:ext uri="{C572A759-6A51-4108-AA02-DFA0A04FC94B}">
              <ma14:wrappingTextBoxFlag xmlns:ma14="http://schemas.microsoft.com/office/mac/drawingml/2011/main" val="0"/>
            </a:ext>
          </a:extLst>
        </p:spPr>
        <p:txBody>
          <a:bodyPr/>
          <a:lstStyle>
            <a:lvl1pPr>
              <a:defRPr sz="1200">
                <a:solidFill>
                  <a:srgbClr val="0F2A3A"/>
                </a:solidFill>
                <a:latin typeface="Calibri"/>
                <a:ea typeface="Calibri"/>
                <a:cs typeface="Calibri"/>
              </a:defRPr>
            </a:lvl1pPr>
          </a:lstStyle>
          <a:p>
            <a:pPr algn="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5"/>
          <p:cNvSpPr/>
          <p:nvPr>
            <p:ph idx="105" type="title" hasCustomPrompt="1"/>
          </p:nvPr>
        </p:nvSpPr>
        <p:spPr>
          <a:xfrm>
            <a:off x="365760" y="502920"/>
            <a:ext cx="10058400" cy="868680"/>
          </a:xfrm>
          <a:prstGeom prst="rect">
            <a:avLst/>
          </a:prstGeom>
          <a:noFill/>
          <a:ln/>
        </p:spPr>
        <p:txBody>
          <a:bodyPr wrap="square" lIns="0" tIns="0" rIns="0" bIns="0" rtlCol="0" anchor="ctr"/>
          <a:lstStyle/>
          <a:p>
            <a:pPr algn="l" indent="0" marL="0">
              <a:buNone/>
            </a:pPr>
            <a:r>
              <a:rPr lang="en-US" sz="2800" b="1" dirty="0">
                <a:solidFill>
                  <a:srgbClr val="FFFFFF"/>
                </a:solidFill>
              </a:rPr>
              <a:t>Every rupee shock came with heavy FPI outflows; oil did not</a:t>
            </a:r>
            <a:endParaRPr lang="en-US" sz="2800" dirty="0"/>
          </a:p>
        </p:txBody>
      </p:sp>
      <p:sp>
        <p:nvSpPr>
          <p:cNvPr id="3" name="Current presenter"/>
          <p:cNvSpPr txBox="1"/>
          <p:nvPr/>
        </p:nvSpPr>
        <p:spPr>
          <a:xfrm>
            <a:off x="8869680" y="91440"/>
            <a:ext cx="3063240" cy="310896"/>
          </a:xfrm>
          <a:prstGeom prst="rect">
            <a:avLst/>
          </a:prstGeom>
          <a:noFill/>
          <a:ln/>
        </p:spPr>
        <p:txBody>
          <a:bodyPr wrap="square" lIns="0" tIns="0" rIns="0" bIns="0" rtlCol="0" anchor="ctr"/>
          <a:lstStyle/>
          <a:p>
            <a:pPr algn="r" indent="0" marL="0">
              <a:buNone/>
            </a:pPr>
            <a:r>
              <a:rPr lang="en-US" sz="1100" dirty="0">
                <a:solidFill>
                  <a:srgbClr val="5F6B73"/>
                </a:solidFill>
              </a:rPr>
              <a:t>Presenter: </a:t>
            </a:r>
            <a:pPr algn="r" indent="0" marL="0">
              <a:buNone/>
            </a:pPr>
            <a:r>
              <a:rPr lang="en-US" sz="1100" b="1" dirty="0">
                <a:solidFill>
                  <a:srgbClr val="0F2A3A"/>
                </a:solidFill>
              </a:rPr>
              <a:t>Atul Kumar Singh - EMBAA25009</a:t>
            </a:r>
            <a:endParaRPr lang="en-US" sz="1100" dirty="0"/>
          </a:p>
        </p:txBody>
      </p:sp>
      <p:sp>
        <p:nvSpPr>
          <p:cNvPr id="4" name="Presenter photo placeholder"/>
          <p:cNvSpPr/>
          <p:nvPr/>
        </p:nvSpPr>
        <p:spPr>
          <a:xfrm>
            <a:off x="10744200" y="502920"/>
            <a:ext cx="1188720" cy="868680"/>
          </a:xfrm>
          <a:prstGeom prst="rect">
            <a:avLst/>
          </a:prstGeom>
          <a:solidFill>
            <a:schemeClr val="accent2"/>
          </a:solidFill>
          <a:ln w="12700">
            <a:solidFill>
              <a:schemeClr val="accent2"/>
            </a:solidFill>
            <a:prstDash val="solid"/>
          </a:ln>
        </p:spPr>
      </p:sp>
      <p:sp>
        <p:nvSpPr>
          <p:cNvPr id="5" name="Presenter initials"/>
          <p:cNvSpPr txBox="1"/>
          <p:nvPr/>
        </p:nvSpPr>
        <p:spPr>
          <a:xfrm>
            <a:off x="10744200" y="502920"/>
            <a:ext cx="1188720" cy="868680"/>
          </a:xfrm>
          <a:prstGeom prst="rect">
            <a:avLst/>
          </a:prstGeom>
          <a:noFill/>
          <a:ln/>
        </p:spPr>
        <p:txBody>
          <a:bodyPr wrap="square" lIns="0" tIns="0" rIns="0" bIns="0" rtlCol="0" anchor="ctr"/>
          <a:lstStyle/>
          <a:p>
            <a:pPr algn="ctr" indent="0" marL="0">
              <a:buNone/>
            </a:pPr>
            <a:r>
              <a:rPr lang="en-US" sz="2600" b="1" dirty="0">
                <a:solidFill>
                  <a:schemeClr val="bg1"/>
                </a:solidFill>
              </a:rPr>
              <a:t>AK</a:t>
            </a:r>
            <a:endParaRPr lang="en-US" sz="2600" dirty="0"/>
          </a:p>
        </p:txBody>
      </p:sp>
      <p:sp>
        <p:nvSpPr>
          <p:cNvPr id="6" name="Footer rule"/>
          <p:cNvSpPr/>
          <p:nvPr/>
        </p:nvSpPr>
        <p:spPr>
          <a:xfrm>
            <a:off x="274320" y="6272784"/>
            <a:ext cx="10515600" cy="0"/>
          </a:xfrm>
          <a:prstGeom prst="line">
            <a:avLst/>
          </a:prstGeom>
          <a:noFill/>
          <a:ln w="12700">
            <a:solidFill>
              <a:srgbClr val="EEF2F4"/>
            </a:solidFill>
            <a:prstDash val="solid"/>
          </a:ln>
        </p:spPr>
      </p:sp>
      <p:sp>
        <p:nvSpPr>
          <p:cNvPr id="7" name="Team footer"/>
          <p:cNvSpPr txBox="1"/>
          <p:nvPr/>
        </p:nvSpPr>
        <p:spPr>
          <a:xfrm>
            <a:off x="274320" y="6309360"/>
            <a:ext cx="10515600" cy="457200"/>
          </a:xfrm>
          <a:prstGeom prst="rect">
            <a:avLst/>
          </a:prstGeom>
          <a:noFill/>
          <a:ln/>
        </p:spPr>
        <p:txBody>
          <a:bodyPr wrap="square" lIns="0" tIns="0" rIns="0" bIns="0" rtlCol="0" anchor="ctr"/>
          <a:lstStyle/>
          <a:p>
            <a:pPr algn="ctr" indent="0" marL="0">
              <a:buNone/>
            </a:pPr>
            <a:r>
              <a:rPr lang="en-US" sz="850" b="1" u="sng" dirty="0">
                <a:solidFill>
                  <a:srgbClr val="1F5FA8"/>
                </a:solidFill>
                <a:hlinkClick r:id="rId1" invalidUrl="" action="" tgtFrame="" tooltip="Ankit Singh on LinkedIn" history="1" highlightClick="0" endSnd="0">
                  <a:extLst>
                    <a:ext uri="{A12FA001-AC4F-418D-AE19-62706E023703}">
                      <ahyp:hlinkClr xmlns:ahyp="http://schemas.microsoft.com/office/drawing/2018/hyperlinkcolor" val="tx"/>
                    </a:ext>
                  </a:extLst>
                </a:hlinkClick>
              </a:rPr>
              <a:t>Ankit Singh</a:t>
            </a:r>
            <a:pPr algn="ctr" indent="0" marL="0">
              <a:buNone/>
            </a:pPr>
            <a:r>
              <a:rPr lang="en-US" sz="850" dirty="0">
                <a:solidFill>
                  <a:srgbClr val="5F6B73"/>
                </a:solidFill>
              </a:rPr>
              <a:t> - EMBAA25004 - </a:t>
            </a:r>
            <a:pPr algn="ctr" indent="0" marL="0">
              <a:buNone/>
            </a:pPr>
            <a:r>
              <a:rPr lang="en-US" sz="850" u="sng" dirty="0">
                <a:solidFill>
                  <a:srgbClr val="1F5FA8"/>
                </a:solidFill>
                <a:hlinkClick r:id="rId2" invalidUrl="" action="" tgtFrame="" tooltip="" history="1" highlightClick="0" endSnd="0">
                  <a:extLst>
                    <a:ext uri="{A12FA001-AC4F-418D-AE19-62706E023703}">
                      <ahyp:hlinkClr xmlns:ahyp="http://schemas.microsoft.com/office/drawing/2018/hyperlinkcolor" val="tx"/>
                    </a:ext>
                  </a:extLst>
                </a:hlinkClick>
              </a:rPr>
              <a:t>ankit.embaa25004@iimkashipur.ac.in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3" invalidUrl="" action="" tgtFrame="" tooltip="Gopalakrishnan S on LinkedIn" history="1" highlightClick="0" endSnd="0">
                  <a:extLst>
                    <a:ext uri="{A12FA001-AC4F-418D-AE19-62706E023703}">
                      <ahyp:hlinkClr xmlns:ahyp="http://schemas.microsoft.com/office/drawing/2018/hyperlinkcolor" val="tx"/>
                    </a:ext>
                  </a:extLst>
                </a:hlinkClick>
              </a:rPr>
              <a:t>Gopalakrishnan S</a:t>
            </a:r>
            <a:pPr algn="ctr" indent="0" marL="0">
              <a:buNone/>
            </a:pPr>
            <a:r>
              <a:rPr lang="en-US" sz="850" dirty="0">
                <a:solidFill>
                  <a:srgbClr val="5F6B73"/>
                </a:solidFill>
              </a:rPr>
              <a:t> - EMBAA25017 - </a:t>
            </a:r>
            <a:pPr algn="ctr" indent="0" marL="0">
              <a:buNone/>
            </a:pPr>
            <a:r>
              <a:rPr lang="en-US" sz="850" u="sng" dirty="0">
                <a:solidFill>
                  <a:srgbClr val="1F5FA8"/>
                </a:solidFill>
                <a:hlinkClick r:id="rId4" invalidUrl="" action="" tgtFrame="" tooltip="" history="1" highlightClick="0" endSnd="0">
                  <a:extLst>
                    <a:ext uri="{A12FA001-AC4F-418D-AE19-62706E023703}">
                      <ahyp:hlinkClr xmlns:ahyp="http://schemas.microsoft.com/office/drawing/2018/hyperlinkcolor" val="tx"/>
                    </a:ext>
                  </a:extLst>
                </a:hlinkClick>
              </a:rPr>
              <a:t>gopalakrishnan.embaa25017@iimkashipur.ac.in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5" invalidUrl="" action="" tgtFrame="" tooltip="Murugan Perumal on LinkedIn" history="1" highlightClick="0" endSnd="0">
                  <a:extLst>
                    <a:ext uri="{A12FA001-AC4F-418D-AE19-62706E023703}">
                      <ahyp:hlinkClr xmlns:ahyp="http://schemas.microsoft.com/office/drawing/2018/hyperlinkcolor" val="tx"/>
                    </a:ext>
                  </a:extLst>
                </a:hlinkClick>
              </a:rPr>
              <a:t>Murugan Perumal</a:t>
            </a:r>
            <a:pPr algn="ctr" indent="0" marL="0">
              <a:buNone/>
            </a:pPr>
            <a:r>
              <a:rPr lang="en-US" sz="850" dirty="0">
                <a:solidFill>
                  <a:srgbClr val="5F6B73"/>
                </a:solidFill>
              </a:rPr>
              <a:t> - EMBAA25020 - </a:t>
            </a:r>
            <a:pPr algn="ctr" indent="0" marL="0">
              <a:buNone/>
            </a:pPr>
            <a:r>
              <a:rPr lang="en-US" sz="850" u="sng" dirty="0">
                <a:solidFill>
                  <a:srgbClr val="1F5FA8"/>
                </a:solidFill>
                <a:hlinkClick r:id="rId6" invalidUrl="" action="" tgtFrame="" tooltip="" history="1" highlightClick="0" endSnd="0">
                  <a:extLst>
                    <a:ext uri="{A12FA001-AC4F-418D-AE19-62706E023703}">
                      <ahyp:hlinkClr xmlns:ahyp="http://schemas.microsoft.com/office/drawing/2018/hyperlinkcolor" val="tx"/>
                    </a:ext>
                  </a:extLst>
                </a:hlinkClick>
              </a:rPr>
              <a:t>murugan.embaa25020@iimkashipur.ac.in</a:t>
            </a:r>
            <a:pPr algn="ctr" indent="0" marL="0">
              <a:buNone/>
            </a:pPr>
            <a:endParaRPr lang="en-US" sz="850" dirty="0"/>
          </a:p>
          <a:p>
            <a:pPr algn="ctr" indent="0" marL="0">
              <a:buNone/>
            </a:pPr>
            <a:r>
              <a:rPr lang="en-US" sz="850" b="1" u="sng" dirty="0">
                <a:solidFill>
                  <a:srgbClr val="1F5FA8"/>
                </a:solidFill>
                <a:hlinkClick r:id="rId7" invalidUrl="" action="" tgtFrame="" tooltip="Aswin G. on LinkedIn" history="1" highlightClick="0" endSnd="0">
                  <a:extLst>
                    <a:ext uri="{A12FA001-AC4F-418D-AE19-62706E023703}">
                      <ahyp:hlinkClr xmlns:ahyp="http://schemas.microsoft.com/office/drawing/2018/hyperlinkcolor" val="tx"/>
                    </a:ext>
                  </a:extLst>
                </a:hlinkClick>
              </a:rPr>
              <a:t>Aswin G.</a:t>
            </a:r>
            <a:pPr algn="ctr" indent="0" marL="0">
              <a:buNone/>
            </a:pPr>
            <a:r>
              <a:rPr lang="en-US" sz="850" dirty="0">
                <a:solidFill>
                  <a:srgbClr val="5F6B73"/>
                </a:solidFill>
              </a:rPr>
              <a:t> - EMBAA25008 - </a:t>
            </a:r>
            <a:pPr algn="ctr" indent="0" marL="0">
              <a:buNone/>
            </a:pPr>
            <a:r>
              <a:rPr lang="en-US" sz="850" u="sng" dirty="0">
                <a:solidFill>
                  <a:srgbClr val="1F5FA8"/>
                </a:solidFill>
                <a:hlinkClick r:id="rId8" invalidUrl="" action="" tgtFrame="" tooltip="" history="1" highlightClick="0" endSnd="0">
                  <a:extLst>
                    <a:ext uri="{A12FA001-AC4F-418D-AE19-62706E023703}">
                      <ahyp:hlinkClr xmlns:ahyp="http://schemas.microsoft.com/office/drawing/2018/hyperlinkcolor" val="tx"/>
                    </a:ext>
                  </a:extLst>
                </a:hlinkClick>
              </a:rPr>
              <a:t>aswin.embaa25008@iimkashipur.ac.in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9" invalidUrl="" action="" tgtFrame="" tooltip="Atul Kumar Singh on LinkedIn" history="1" highlightClick="0" endSnd="0">
                  <a:extLst>
                    <a:ext uri="{A12FA001-AC4F-418D-AE19-62706E023703}">
                      <ahyp:hlinkClr xmlns:ahyp="http://schemas.microsoft.com/office/drawing/2018/hyperlinkcolor" val="tx"/>
                    </a:ext>
                  </a:extLst>
                </a:hlinkClick>
              </a:rPr>
              <a:t>Atul Kumar Singh</a:t>
            </a:r>
            <a:pPr algn="ctr" indent="0" marL="0">
              <a:buNone/>
            </a:pPr>
            <a:r>
              <a:rPr lang="en-US" sz="850" dirty="0">
                <a:solidFill>
                  <a:srgbClr val="5F6B73"/>
                </a:solidFill>
              </a:rPr>
              <a:t> - EMBAA25009 - </a:t>
            </a:r>
            <a:pPr algn="ctr" indent="0" marL="0">
              <a:buNone/>
            </a:pPr>
            <a:r>
              <a:rPr lang="en-US" sz="850" u="sng" dirty="0">
                <a:solidFill>
                  <a:srgbClr val="1F5FA8"/>
                </a:solidFill>
                <a:hlinkClick r:id="rId10" invalidUrl="" action="" tgtFrame="" tooltip="" history="1" highlightClick="0" endSnd="0">
                  <a:extLst>
                    <a:ext uri="{A12FA001-AC4F-418D-AE19-62706E023703}">
                      <ahyp:hlinkClr xmlns:ahyp="http://schemas.microsoft.com/office/drawing/2018/hyperlinkcolor" val="tx"/>
                    </a:ext>
                  </a:extLst>
                </a:hlinkClick>
              </a:rPr>
              <a:t>atul.embaa25009@iimkashipur.ac.in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11" invalidUrl="" action="" tgtFrame="" tooltip="Devanshu Priyam on LinkedIn" history="1" highlightClick="0" endSnd="0">
                  <a:extLst>
                    <a:ext uri="{A12FA001-AC4F-418D-AE19-62706E023703}">
                      <ahyp:hlinkClr xmlns:ahyp="http://schemas.microsoft.com/office/drawing/2018/hyperlinkcolor" val="tx"/>
                    </a:ext>
                  </a:extLst>
                </a:hlinkClick>
              </a:rPr>
              <a:t>Devanshu Priyam</a:t>
            </a:r>
            <a:pPr algn="ctr" indent="0" marL="0">
              <a:buNone/>
            </a:pPr>
            <a:r>
              <a:rPr lang="en-US" sz="850" dirty="0">
                <a:solidFill>
                  <a:srgbClr val="5F6B73"/>
                </a:solidFill>
              </a:rPr>
              <a:t> - EMBAA25014 - </a:t>
            </a:r>
            <a:pPr algn="ctr" indent="0" marL="0">
              <a:buNone/>
            </a:pPr>
            <a:r>
              <a:rPr lang="en-US" sz="850" u="sng" dirty="0">
                <a:solidFill>
                  <a:srgbClr val="1F5FA8"/>
                </a:solidFill>
                <a:hlinkClick r:id="rId12" invalidUrl="" action="" tgtFrame="" tooltip="" history="1" highlightClick="0" endSnd="0">
                  <a:extLst>
                    <a:ext uri="{A12FA001-AC4F-418D-AE19-62706E023703}">
                      <ahyp:hlinkClr xmlns:ahyp="http://schemas.microsoft.com/office/drawing/2018/hyperlinkcolor" val="tx"/>
                    </a:ext>
                  </a:extLst>
                </a:hlinkClick>
              </a:rPr>
              <a:t>devanshu.embaa25014@iimkashipur.ac.in</a:t>
            </a:r>
            <a:endParaRPr lang="en-US" sz="8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92840" cy="914400"/>
        </p:xfrm>
        <a:graphic>
          <a:graphicData uri="http://schemas.openxmlformats.org/drawingml/2006/table">
            <a:tbl>
              <a:tblPr/>
              <a:tblGrid>
                <a:gridCol w="3794760"/>
                <a:gridCol w="1737360"/>
                <a:gridCol w="1280160"/>
                <a:gridCol w="1371600"/>
                <a:gridCol w="1280160"/>
                <a:gridCol w="1828800"/>
              </a:tblGrid>
              <a:tr h="457200">
                <a:tc>
                  <a:txBody>
                    <a:bodyPr/>
                    <a:lstStyle/>
                    <a:p>
                      <a:pPr indent="0" marL="0">
                        <a:buNone/>
                      </a:pPr>
                      <a:r>
                        <a:rPr lang="en-US" sz="1250" b="1" dirty="0">
                          <a:solidFill>
                            <a:srgbClr val="FFFFFF"/>
                          </a:solidFill>
                        </a:rPr>
                        <a:t>Shock window</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0F2A3A"/>
                    </a:solidFill>
                  </a:tcPr>
                </a:tc>
                <a:tc>
                  <a:txBody>
                    <a:bodyPr/>
                    <a:lstStyle/>
                    <a:p>
                      <a:pPr indent="0" marL="0">
                        <a:buNone/>
                      </a:pPr>
                      <a:r>
                        <a:rPr lang="en-US" sz="1250" b="1" dirty="0">
                          <a:solidFill>
                            <a:srgbClr val="FFFFFF"/>
                          </a:solidFill>
                        </a:rPr>
                        <a:t>USD/INR</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0F2A3A"/>
                    </a:solidFill>
                  </a:tcPr>
                </a:tc>
                <a:tc>
                  <a:txBody>
                    <a:bodyPr/>
                    <a:lstStyle/>
                    <a:p>
                      <a:pPr indent="0" marL="0">
                        <a:buNone/>
                      </a:pPr>
                      <a:r>
                        <a:rPr lang="en-US" sz="1250" b="1" dirty="0">
                          <a:solidFill>
                            <a:srgbClr val="FFFFFF"/>
                          </a:solidFill>
                        </a:rPr>
                        <a:t>Rupee</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0F2A3A"/>
                    </a:solidFill>
                  </a:tcPr>
                </a:tc>
                <a:tc>
                  <a:txBody>
                    <a:bodyPr/>
                    <a:lstStyle/>
                    <a:p>
                      <a:pPr indent="0" marL="0">
                        <a:buNone/>
                      </a:pPr>
                      <a:r>
                        <a:rPr lang="en-US" sz="1250" b="1" dirty="0">
                          <a:solidFill>
                            <a:srgbClr val="FFFFFF"/>
                          </a:solidFill>
                        </a:rPr>
                        <a:t>Brent</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0F2A3A"/>
                    </a:solidFill>
                  </a:tcPr>
                </a:tc>
                <a:tc>
                  <a:txBody>
                    <a:bodyPr/>
                    <a:lstStyle/>
                    <a:p>
                      <a:pPr indent="0" marL="0">
                        <a:buNone/>
                      </a:pPr>
                      <a:r>
                        <a:rPr lang="en-US" sz="1250" b="1" dirty="0">
                          <a:solidFill>
                            <a:srgbClr val="FFFFFF"/>
                          </a:solidFill>
                        </a:rPr>
                        <a:t>Broad $</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0F2A3A"/>
                    </a:solidFill>
                  </a:tcPr>
                </a:tc>
                <a:tc>
                  <a:txBody>
                    <a:bodyPr/>
                    <a:lstStyle/>
                    <a:p>
                      <a:pPr indent="0" marL="0">
                        <a:buNone/>
                      </a:pPr>
                      <a:r>
                        <a:rPr lang="en-US" sz="1250" b="1" dirty="0">
                          <a:solidFill>
                            <a:srgbClr val="FFFFFF"/>
                          </a:solidFill>
                        </a:rPr>
                        <a:t>Net FPI (US$ bn)</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0F2A3A"/>
                    </a:solidFill>
                  </a:tcPr>
                </a:tc>
              </a:tr>
              <a:tr h="457200">
                <a:tc>
                  <a:txBody>
                    <a:bodyPr/>
                    <a:lstStyle/>
                    <a:p>
                      <a:pPr indent="0" marL="0">
                        <a:buNone/>
                      </a:pPr>
                      <a:r>
                        <a:rPr lang="en-US" sz="1350" dirty="0">
                          <a:solidFill>
                            <a:srgbClr val="1B1F23"/>
                          </a:solidFill>
                        </a:rPr>
                        <a:t>West Asia conflict (Feb–Sep 2026)</a:t>
                      </a:r>
                      <a:endParaRPr lang="en-US" sz="13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350" dirty="0">
                          <a:solidFill>
                            <a:srgbClr val="1B1F23"/>
                          </a:solidFill>
                        </a:rPr>
                        <a:t>90.9 → 95.5</a:t>
                      </a:r>
                      <a:endParaRPr lang="en-US" sz="13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350" dirty="0">
                          <a:solidFill>
                            <a:srgbClr val="1B1F23"/>
                          </a:solidFill>
                        </a:rPr>
                        <a:t>+5.1%</a:t>
                      </a:r>
                      <a:endParaRPr lang="en-US" sz="13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350" dirty="0">
                          <a:solidFill>
                            <a:srgbClr val="1B1F23"/>
                          </a:solidFill>
                        </a:rPr>
                        <a:t>+71.4%</a:t>
                      </a:r>
                      <a:endParaRPr lang="en-US" sz="13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350" dirty="0">
                          <a:solidFill>
                            <a:srgbClr val="1B1F23"/>
                          </a:solidFill>
                        </a:rPr>
                        <a:t>0.0%</a:t>
                      </a:r>
                      <a:endParaRPr lang="en-US" sz="13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350" b="1" dirty="0">
                          <a:solidFill>
                            <a:srgbClr val="C0392B"/>
                          </a:solidFill>
                        </a:rPr>
                        <a:t>−18.8</a:t>
                      </a:r>
                      <a:endParaRPr lang="en-US" sz="13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r>
              <a:tr h="457200">
                <a:tc>
                  <a:txBody>
                    <a:bodyPr/>
                    <a:lstStyle/>
                    <a:p>
                      <a:pPr indent="0" marL="0">
                        <a:buNone/>
                      </a:pPr>
                      <a:r>
                        <a:rPr lang="en-US" sz="1350" dirty="0">
                          <a:solidFill>
                            <a:srgbClr val="1B1F23"/>
                          </a:solidFill>
                        </a:rPr>
                        <a:t>Russia–Ukraine + Fed hikes (Feb–Oct 2022)</a:t>
                      </a:r>
                      <a:endParaRPr lang="en-US" sz="13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350" dirty="0">
                          <a:solidFill>
                            <a:srgbClr val="1B1F23"/>
                          </a:solidFill>
                        </a:rPr>
                        <a:t>74.4 → 82.3</a:t>
                      </a:r>
                      <a:endParaRPr lang="en-US" sz="13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350" dirty="0">
                          <a:solidFill>
                            <a:srgbClr val="1B1F23"/>
                          </a:solidFill>
                        </a:rPr>
                        <a:t>+10.6%</a:t>
                      </a:r>
                      <a:endParaRPr lang="en-US" sz="13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350" dirty="0">
                          <a:solidFill>
                            <a:srgbClr val="1B1F23"/>
                          </a:solidFill>
                        </a:rPr>
                        <a:t>+7.9%</a:t>
                      </a:r>
                      <a:endParaRPr lang="en-US" sz="13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350" dirty="0">
                          <a:solidFill>
                            <a:srgbClr val="1B1F23"/>
                          </a:solidFill>
                        </a:rPr>
                        <a:t>+10.8%</a:t>
                      </a:r>
                      <a:endParaRPr lang="en-US" sz="13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350" b="1" dirty="0">
                          <a:solidFill>
                            <a:srgbClr val="C0392B"/>
                          </a:solidFill>
                        </a:rPr>
                        <a:t>−19.4</a:t>
                      </a:r>
                      <a:endParaRPr lang="en-US" sz="13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r>
              <a:tr h="457200">
                <a:tc>
                  <a:txBody>
                    <a:bodyPr/>
                    <a:lstStyle/>
                    <a:p>
                      <a:pPr indent="0" marL="0">
                        <a:buNone/>
                      </a:pPr>
                      <a:r>
                        <a:rPr lang="en-US" sz="1350" dirty="0">
                          <a:solidFill>
                            <a:srgbClr val="1B1F23"/>
                          </a:solidFill>
                        </a:rPr>
                        <a:t>COVID-19 (Feb–May 2020)</a:t>
                      </a:r>
                      <a:endParaRPr lang="en-US" sz="13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350" dirty="0">
                          <a:solidFill>
                            <a:srgbClr val="1B1F23"/>
                          </a:solidFill>
                        </a:rPr>
                        <a:t>71.3 → 75.7</a:t>
                      </a:r>
                      <a:endParaRPr lang="en-US" sz="13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350" dirty="0">
                          <a:solidFill>
                            <a:srgbClr val="1B1F23"/>
                          </a:solidFill>
                        </a:rPr>
                        <a:t>+6.1%</a:t>
                      </a:r>
                      <a:endParaRPr lang="en-US" sz="13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350" dirty="0">
                          <a:solidFill>
                            <a:srgbClr val="1B1F23"/>
                          </a:solidFill>
                        </a:rPr>
                        <a:t>−53.8%</a:t>
                      </a:r>
                      <a:endParaRPr lang="en-US" sz="13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350" dirty="0">
                          <a:solidFill>
                            <a:srgbClr val="1B1F23"/>
                          </a:solidFill>
                        </a:rPr>
                        <a:t>+6.4%</a:t>
                      </a:r>
                      <a:endParaRPr lang="en-US" sz="13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350" b="1" dirty="0">
                          <a:solidFill>
                            <a:srgbClr val="C0392B"/>
                          </a:solidFill>
                        </a:rPr>
                        <a:t>−17.5</a:t>
                      </a:r>
                      <a:endParaRPr lang="en-US" sz="13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r>
              <a:tr h="457200">
                <a:tc>
                  <a:txBody>
                    <a:bodyPr/>
                    <a:lstStyle/>
                    <a:p>
                      <a:pPr indent="0" marL="0">
                        <a:buNone/>
                      </a:pPr>
                      <a:r>
                        <a:rPr lang="en-US" sz="1350" dirty="0">
                          <a:solidFill>
                            <a:srgbClr val="1B1F23"/>
                          </a:solidFill>
                        </a:rPr>
                        <a:t>2018 oil spike + EM sell-off (Apr–Oct)</a:t>
                      </a:r>
                      <a:endParaRPr lang="en-US" sz="13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350" dirty="0">
                          <a:solidFill>
                            <a:srgbClr val="1B1F23"/>
                          </a:solidFill>
                        </a:rPr>
                        <a:t>65.0 → 73.6</a:t>
                      </a:r>
                      <a:endParaRPr lang="en-US" sz="13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350" dirty="0">
                          <a:solidFill>
                            <a:srgbClr val="1B1F23"/>
                          </a:solidFill>
                        </a:rPr>
                        <a:t>+13.1%</a:t>
                      </a:r>
                      <a:endParaRPr lang="en-US" sz="13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350" dirty="0">
                          <a:solidFill>
                            <a:srgbClr val="1B1F23"/>
                          </a:solidFill>
                        </a:rPr>
                        <a:t>+22.7%</a:t>
                      </a:r>
                      <a:endParaRPr lang="en-US" sz="13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350" dirty="0">
                          <a:solidFill>
                            <a:srgbClr val="1B1F23"/>
                          </a:solidFill>
                        </a:rPr>
                        <a:t>+6.4%</a:t>
                      </a:r>
                      <a:endParaRPr lang="en-US" sz="13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350" b="1" dirty="0">
                          <a:solidFill>
                            <a:srgbClr val="C0392B"/>
                          </a:solidFill>
                        </a:rPr>
                        <a:t>−16.2</a:t>
                      </a:r>
                      <a:endParaRPr lang="en-US" sz="13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r>
              <a:tr h="457200">
                <a:tc>
                  <a:txBody>
                    <a:bodyPr/>
                    <a:lstStyle/>
                    <a:p>
                      <a:pPr indent="0" marL="0">
                        <a:buNone/>
                      </a:pPr>
                      <a:r>
                        <a:rPr lang="en-US" sz="1350" dirty="0">
                          <a:solidFill>
                            <a:srgbClr val="1B1F23"/>
                          </a:solidFill>
                        </a:rPr>
                        <a:t>Demonetisation (Nov–Dec 2016)</a:t>
                      </a:r>
                      <a:endParaRPr lang="en-US" sz="13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350" dirty="0">
                          <a:solidFill>
                            <a:srgbClr val="1B1F23"/>
                          </a:solidFill>
                        </a:rPr>
                        <a:t>66.7 → 67.8</a:t>
                      </a:r>
                      <a:endParaRPr lang="en-US" sz="13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350" dirty="0">
                          <a:solidFill>
                            <a:srgbClr val="1B1F23"/>
                          </a:solidFill>
                        </a:rPr>
                        <a:t>+1.6%</a:t>
                      </a:r>
                      <a:endParaRPr lang="en-US" sz="13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350" dirty="0">
                          <a:solidFill>
                            <a:srgbClr val="1B1F23"/>
                          </a:solidFill>
                        </a:rPr>
                        <a:t>+7.6%</a:t>
                      </a:r>
                      <a:endParaRPr lang="en-US" sz="13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350" dirty="0">
                          <a:solidFill>
                            <a:srgbClr val="1B1F23"/>
                          </a:solidFill>
                        </a:rPr>
                        <a:t>+3.9%</a:t>
                      </a:r>
                      <a:endParaRPr lang="en-US" sz="13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350" b="1" dirty="0">
                          <a:solidFill>
                            <a:srgbClr val="C0392B"/>
                          </a:solidFill>
                        </a:rPr>
                        <a:t>−9.8</a:t>
                      </a:r>
                      <a:endParaRPr lang="en-US" sz="13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r>
              <a:tr h="457200">
                <a:tc>
                  <a:txBody>
                    <a:bodyPr/>
                    <a:lstStyle/>
                    <a:p>
                      <a:pPr indent="0" marL="0">
                        <a:buNone/>
                      </a:pPr>
                      <a:r>
                        <a:rPr lang="en-US" sz="1350" dirty="0">
                          <a:solidFill>
                            <a:srgbClr val="1B1F23"/>
                          </a:solidFill>
                        </a:rPr>
                        <a:t>Taper tantrum (May–Sep 2013)</a:t>
                      </a:r>
                      <a:endParaRPr lang="en-US" sz="13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350" dirty="0">
                          <a:solidFill>
                            <a:srgbClr val="1B1F23"/>
                          </a:solidFill>
                        </a:rPr>
                        <a:t>54.3 → 63.6</a:t>
                      </a:r>
                      <a:endParaRPr lang="en-US" sz="13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350" dirty="0">
                          <a:solidFill>
                            <a:srgbClr val="1B1F23"/>
                          </a:solidFill>
                        </a:rPr>
                        <a:t>+17.2%</a:t>
                      </a:r>
                      <a:endParaRPr lang="en-US" sz="13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350" dirty="0">
                          <a:solidFill>
                            <a:srgbClr val="1B1F23"/>
                          </a:solidFill>
                        </a:rPr>
                        <a:t>+9.1%</a:t>
                      </a:r>
                      <a:endParaRPr lang="en-US" sz="13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350" dirty="0">
                          <a:solidFill>
                            <a:srgbClr val="1B1F23"/>
                          </a:solidFill>
                        </a:rPr>
                        <a:t>+1.5%</a:t>
                      </a:r>
                      <a:endParaRPr lang="en-US" sz="13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350" b="1" dirty="0">
                          <a:solidFill>
                            <a:srgbClr val="C0392B"/>
                          </a:solidFill>
                        </a:rPr>
                        <a:t>−6.8</a:t>
                      </a:r>
                      <a:endParaRPr lang="en-US" sz="13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r>
            </a:tbl>
          </a:graphicData>
        </a:graphic>
      </p:graphicFrame>
      <p:sp>
        <p:nvSpPr>
          <p:cNvPr id="10" name="COVID callout"/>
          <p:cNvSpPr/>
          <p:nvPr/>
        </p:nvSpPr>
        <p:spPr>
          <a:xfrm>
            <a:off x="457200" y="5120640"/>
            <a:ext cx="5486400" cy="960120"/>
          </a:xfrm>
          <a:prstGeom prst="roundRect">
            <a:avLst>
              <a:gd name="adj" fmla="val 7619"/>
            </a:avLst>
          </a:prstGeom>
          <a:solidFill>
            <a:schemeClr val="bg2"/>
          </a:solidFill>
          <a:ln w="12700">
            <a:solidFill>
              <a:schemeClr val="bg2"/>
            </a:solidFill>
            <a:prstDash val="solid"/>
          </a:ln>
        </p:spPr>
      </p:sp>
      <p:sp>
        <p:nvSpPr>
          <p:cNvPr id="11" name="Text 7"/>
          <p:cNvSpPr txBox="1"/>
          <p:nvPr/>
        </p:nvSpPr>
        <p:spPr>
          <a:xfrm>
            <a:off x="640080" y="5193792"/>
            <a:ext cx="5120640" cy="822960"/>
          </a:xfrm>
          <a:prstGeom prst="rect">
            <a:avLst/>
          </a:prstGeom>
          <a:noFill/>
          <a:ln/>
        </p:spPr>
        <p:txBody>
          <a:bodyPr wrap="square" lIns="0" tIns="0" rIns="0" bIns="0" rtlCol="0" anchor="ctr"/>
          <a:lstStyle/>
          <a:p>
            <a:pPr indent="0" marL="0">
              <a:buNone/>
            </a:pPr>
            <a:r>
              <a:rPr lang="en-US" sz="1400" b="1" dirty="0">
                <a:solidFill>
                  <a:srgbClr val="E8871E"/>
                </a:solidFill>
              </a:rPr>
              <a:t>COVID test: </a:t>
            </a:r>
            <a:pPr indent="0" marL="0">
              <a:buNone/>
            </a:pPr>
            <a:r>
              <a:rPr lang="en-US" sz="1400" dirty="0">
                <a:solidFill>
                  <a:schemeClr val="tx1"/>
                </a:solidFill>
              </a:rPr>
              <a:t>oil −54%, yet the rupee still fell 6% as US$17.5 bn of FPI left.</a:t>
            </a:r>
            <a:endParaRPr lang="en-US" sz="1400" dirty="0"/>
          </a:p>
        </p:txBody>
      </p:sp>
      <p:sp>
        <p:nvSpPr>
          <p:cNvPr id="12" name="Volatility callout"/>
          <p:cNvSpPr/>
          <p:nvPr/>
        </p:nvSpPr>
        <p:spPr>
          <a:xfrm>
            <a:off x="6263640" y="5120640"/>
            <a:ext cx="5486400" cy="960120"/>
          </a:xfrm>
          <a:prstGeom prst="roundRect">
            <a:avLst>
              <a:gd name="adj" fmla="val 7619"/>
            </a:avLst>
          </a:prstGeom>
          <a:solidFill>
            <a:schemeClr val="bg2"/>
          </a:solidFill>
          <a:ln w="12700">
            <a:solidFill>
              <a:schemeClr val="bg2"/>
            </a:solidFill>
            <a:prstDash val="solid"/>
          </a:ln>
        </p:spPr>
      </p:sp>
      <p:sp>
        <p:nvSpPr>
          <p:cNvPr id="13" name="Text 9"/>
          <p:cNvSpPr txBox="1"/>
          <p:nvPr/>
        </p:nvSpPr>
        <p:spPr>
          <a:xfrm>
            <a:off x="6446520" y="5193792"/>
            <a:ext cx="5120640" cy="822960"/>
          </a:xfrm>
          <a:prstGeom prst="rect">
            <a:avLst/>
          </a:prstGeom>
          <a:noFill/>
          <a:ln/>
        </p:spPr>
        <p:txBody>
          <a:bodyPr wrap="square" lIns="0" tIns="0" rIns="0" bIns="0" rtlCol="0" anchor="ctr"/>
          <a:lstStyle/>
          <a:p>
            <a:pPr indent="0" marL="0">
              <a:buNone/>
            </a:pPr>
            <a:r>
              <a:rPr lang="en-US" sz="1400" b="1" dirty="0">
                <a:solidFill>
                  <a:srgbClr val="2A7F8F"/>
                </a:solidFill>
              </a:rPr>
              <a:t>Volatility: </a:t>
            </a:r>
            <a:pPr indent="0" marL="0">
              <a:buNone/>
            </a:pPr>
            <a:r>
              <a:rPr lang="en-US" sz="1400" dirty="0">
                <a:solidFill>
                  <a:schemeClr val="tx1"/>
                </a:solidFill>
              </a:rPr>
              <a:t>0.46% a day in shock months vs 0.33% in normal months (p = 0.015).</a:t>
            </a:r>
            <a:endParaRPr lang="en-US" sz="1400" dirty="0"/>
          </a:p>
        </p:txBody>
      </p:sp>
      <p:sp>
        <p:nvSpPr>
          <p:cNvPr id="25" name="Slide Number Placeholder 0"/>
          <p:cNvSpPr>
            <a:spLocks noGrp="1"/>
          </p:cNvSpPr>
          <p:nvPr>
            <p:ph type="sldNum" sz="quarter" idx="4294967295"/>
          </p:nvPr>
        </p:nvSpPr>
        <p:spPr>
          <a:xfrm>
            <a:off x="10927080" y="6382512"/>
            <a:ext cx="420624" cy="329184"/>
          </a:xfrm>
          <a:prstGeom prst="rect">
            <a:avLst/>
          </a:prstGeom>
          <a:extLst>
            <a:ext uri="{C572A759-6A51-4108-AA02-DFA0A04FC94B}">
              <ma14:wrappingTextBoxFlag xmlns:ma14="http://schemas.microsoft.com/office/mac/drawingml/2011/main" val="0"/>
            </a:ext>
          </a:extLst>
        </p:spPr>
        <p:txBody>
          <a:bodyPr/>
          <a:lstStyle>
            <a:lvl1pPr>
              <a:defRPr sz="1200">
                <a:solidFill>
                  <a:srgbClr val="0F2A3A"/>
                </a:solidFill>
                <a:latin typeface="Calibri"/>
                <a:ea typeface="Calibri"/>
                <a:cs typeface="Calibri"/>
              </a:defRPr>
            </a:lvl1pPr>
          </a:lstStyle>
          <a:p>
            <a:pPr algn="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5"/>
          <p:cNvSpPr/>
          <p:nvPr>
            <p:ph idx="105" type="title" hasCustomPrompt="1"/>
          </p:nvPr>
        </p:nvSpPr>
        <p:spPr>
          <a:xfrm>
            <a:off x="365760" y="502920"/>
            <a:ext cx="10058400" cy="868680"/>
          </a:xfrm>
          <a:prstGeom prst="rect">
            <a:avLst/>
          </a:prstGeom>
          <a:noFill/>
          <a:ln/>
        </p:spPr>
        <p:txBody>
          <a:bodyPr wrap="square" lIns="0" tIns="0" rIns="0" bIns="0" rtlCol="0" anchor="ctr"/>
          <a:lstStyle/>
          <a:p>
            <a:pPr algn="l" indent="0" marL="0">
              <a:buNone/>
            </a:pPr>
            <a:r>
              <a:rPr lang="en-US" sz="2800" b="1" dirty="0">
                <a:solidFill>
                  <a:srgbClr val="FFFFFF"/>
                </a:solidFill>
              </a:rPr>
              <a:t>Unsupervised: two currency regimes, one recurring rule</a:t>
            </a:r>
            <a:endParaRPr lang="en-US" sz="2800" dirty="0"/>
          </a:p>
        </p:txBody>
      </p:sp>
      <p:sp>
        <p:nvSpPr>
          <p:cNvPr id="3" name="Current presenter"/>
          <p:cNvSpPr txBox="1"/>
          <p:nvPr/>
        </p:nvSpPr>
        <p:spPr>
          <a:xfrm>
            <a:off x="8869680" y="91440"/>
            <a:ext cx="3063240" cy="310896"/>
          </a:xfrm>
          <a:prstGeom prst="rect">
            <a:avLst/>
          </a:prstGeom>
          <a:noFill/>
          <a:ln/>
        </p:spPr>
        <p:txBody>
          <a:bodyPr wrap="square" lIns="0" tIns="0" rIns="0" bIns="0" rtlCol="0" anchor="ctr"/>
          <a:lstStyle/>
          <a:p>
            <a:pPr algn="r" indent="0" marL="0">
              <a:buNone/>
            </a:pPr>
            <a:r>
              <a:rPr lang="en-US" sz="1100" dirty="0">
                <a:solidFill>
                  <a:srgbClr val="5F6B73"/>
                </a:solidFill>
              </a:rPr>
              <a:t>Presenter: </a:t>
            </a:r>
            <a:pPr algn="r" indent="0" marL="0">
              <a:buNone/>
            </a:pPr>
            <a:r>
              <a:rPr lang="en-US" sz="1100" b="1" dirty="0">
                <a:solidFill>
                  <a:srgbClr val="0F2A3A"/>
                </a:solidFill>
              </a:rPr>
              <a:t>Atul Kumar Singh - EMBAA25009</a:t>
            </a:r>
            <a:endParaRPr lang="en-US" sz="1100" dirty="0"/>
          </a:p>
        </p:txBody>
      </p:sp>
      <p:sp>
        <p:nvSpPr>
          <p:cNvPr id="4" name="Presenter photo placeholder"/>
          <p:cNvSpPr/>
          <p:nvPr/>
        </p:nvSpPr>
        <p:spPr>
          <a:xfrm>
            <a:off x="10744200" y="502920"/>
            <a:ext cx="1188720" cy="868680"/>
          </a:xfrm>
          <a:prstGeom prst="rect">
            <a:avLst/>
          </a:prstGeom>
          <a:solidFill>
            <a:schemeClr val="accent2"/>
          </a:solidFill>
          <a:ln w="12700">
            <a:solidFill>
              <a:schemeClr val="accent2"/>
            </a:solidFill>
            <a:prstDash val="solid"/>
          </a:ln>
        </p:spPr>
      </p:sp>
      <p:sp>
        <p:nvSpPr>
          <p:cNvPr id="5" name="Presenter initials"/>
          <p:cNvSpPr txBox="1"/>
          <p:nvPr/>
        </p:nvSpPr>
        <p:spPr>
          <a:xfrm>
            <a:off x="10744200" y="502920"/>
            <a:ext cx="1188720" cy="868680"/>
          </a:xfrm>
          <a:prstGeom prst="rect">
            <a:avLst/>
          </a:prstGeom>
          <a:noFill/>
          <a:ln/>
        </p:spPr>
        <p:txBody>
          <a:bodyPr wrap="square" lIns="0" tIns="0" rIns="0" bIns="0" rtlCol="0" anchor="ctr"/>
          <a:lstStyle/>
          <a:p>
            <a:pPr algn="ctr" indent="0" marL="0">
              <a:buNone/>
            </a:pPr>
            <a:r>
              <a:rPr lang="en-US" sz="2600" b="1" dirty="0">
                <a:solidFill>
                  <a:schemeClr val="bg1"/>
                </a:solidFill>
              </a:rPr>
              <a:t>AK</a:t>
            </a:r>
            <a:endParaRPr lang="en-US" sz="2600" dirty="0"/>
          </a:p>
        </p:txBody>
      </p:sp>
      <p:sp>
        <p:nvSpPr>
          <p:cNvPr id="6" name="Footer rule"/>
          <p:cNvSpPr/>
          <p:nvPr/>
        </p:nvSpPr>
        <p:spPr>
          <a:xfrm>
            <a:off x="274320" y="6272784"/>
            <a:ext cx="10515600" cy="0"/>
          </a:xfrm>
          <a:prstGeom prst="line">
            <a:avLst/>
          </a:prstGeom>
          <a:noFill/>
          <a:ln w="12700">
            <a:solidFill>
              <a:srgbClr val="EEF2F4"/>
            </a:solidFill>
            <a:prstDash val="solid"/>
          </a:ln>
        </p:spPr>
      </p:sp>
      <p:sp>
        <p:nvSpPr>
          <p:cNvPr id="7" name="Team footer"/>
          <p:cNvSpPr txBox="1"/>
          <p:nvPr/>
        </p:nvSpPr>
        <p:spPr>
          <a:xfrm>
            <a:off x="274320" y="6309360"/>
            <a:ext cx="10515600" cy="457200"/>
          </a:xfrm>
          <a:prstGeom prst="rect">
            <a:avLst/>
          </a:prstGeom>
          <a:noFill/>
          <a:ln/>
        </p:spPr>
        <p:txBody>
          <a:bodyPr wrap="square" lIns="0" tIns="0" rIns="0" bIns="0" rtlCol="0" anchor="ctr"/>
          <a:lstStyle/>
          <a:p>
            <a:pPr algn="ctr" indent="0" marL="0">
              <a:buNone/>
            </a:pPr>
            <a:r>
              <a:rPr lang="en-US" sz="850" b="1" u="sng" dirty="0">
                <a:solidFill>
                  <a:srgbClr val="1F5FA8"/>
                </a:solidFill>
                <a:hlinkClick r:id="rId1" invalidUrl="" action="" tgtFrame="" tooltip="Ankit Singh on LinkedIn" history="1" highlightClick="0" endSnd="0">
                  <a:extLst>
                    <a:ext uri="{A12FA001-AC4F-418D-AE19-62706E023703}">
                      <ahyp:hlinkClr xmlns:ahyp="http://schemas.microsoft.com/office/drawing/2018/hyperlinkcolor" val="tx"/>
                    </a:ext>
                  </a:extLst>
                </a:hlinkClick>
              </a:rPr>
              <a:t>Ankit Singh</a:t>
            </a:r>
            <a:pPr algn="ctr" indent="0" marL="0">
              <a:buNone/>
            </a:pPr>
            <a:r>
              <a:rPr lang="en-US" sz="850" dirty="0">
                <a:solidFill>
                  <a:srgbClr val="5F6B73"/>
                </a:solidFill>
              </a:rPr>
              <a:t> - EMBAA25004 - </a:t>
            </a:r>
            <a:pPr algn="ctr" indent="0" marL="0">
              <a:buNone/>
            </a:pPr>
            <a:r>
              <a:rPr lang="en-US" sz="850" u="sng" dirty="0">
                <a:solidFill>
                  <a:srgbClr val="1F5FA8"/>
                </a:solidFill>
                <a:hlinkClick r:id="rId2" invalidUrl="" action="" tgtFrame="" tooltip="" history="1" highlightClick="0" endSnd="0">
                  <a:extLst>
                    <a:ext uri="{A12FA001-AC4F-418D-AE19-62706E023703}">
                      <ahyp:hlinkClr xmlns:ahyp="http://schemas.microsoft.com/office/drawing/2018/hyperlinkcolor" val="tx"/>
                    </a:ext>
                  </a:extLst>
                </a:hlinkClick>
              </a:rPr>
              <a:t>ankit.embaa25004@iimkashipur.ac.in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3" invalidUrl="" action="" tgtFrame="" tooltip="Gopalakrishnan S on LinkedIn" history="1" highlightClick="0" endSnd="0">
                  <a:extLst>
                    <a:ext uri="{A12FA001-AC4F-418D-AE19-62706E023703}">
                      <ahyp:hlinkClr xmlns:ahyp="http://schemas.microsoft.com/office/drawing/2018/hyperlinkcolor" val="tx"/>
                    </a:ext>
                  </a:extLst>
                </a:hlinkClick>
              </a:rPr>
              <a:t>Gopalakrishnan S</a:t>
            </a:r>
            <a:pPr algn="ctr" indent="0" marL="0">
              <a:buNone/>
            </a:pPr>
            <a:r>
              <a:rPr lang="en-US" sz="850" dirty="0">
                <a:solidFill>
                  <a:srgbClr val="5F6B73"/>
                </a:solidFill>
              </a:rPr>
              <a:t> - EMBAA25017 - </a:t>
            </a:r>
            <a:pPr algn="ctr" indent="0" marL="0">
              <a:buNone/>
            </a:pPr>
            <a:r>
              <a:rPr lang="en-US" sz="850" u="sng" dirty="0">
                <a:solidFill>
                  <a:srgbClr val="1F5FA8"/>
                </a:solidFill>
                <a:hlinkClick r:id="rId4" invalidUrl="" action="" tgtFrame="" tooltip="" history="1" highlightClick="0" endSnd="0">
                  <a:extLst>
                    <a:ext uri="{A12FA001-AC4F-418D-AE19-62706E023703}">
                      <ahyp:hlinkClr xmlns:ahyp="http://schemas.microsoft.com/office/drawing/2018/hyperlinkcolor" val="tx"/>
                    </a:ext>
                  </a:extLst>
                </a:hlinkClick>
              </a:rPr>
              <a:t>gopalakrishnan.embaa25017@iimkashipur.ac.in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5" invalidUrl="" action="" tgtFrame="" tooltip="Murugan Perumal on LinkedIn" history="1" highlightClick="0" endSnd="0">
                  <a:extLst>
                    <a:ext uri="{A12FA001-AC4F-418D-AE19-62706E023703}">
                      <ahyp:hlinkClr xmlns:ahyp="http://schemas.microsoft.com/office/drawing/2018/hyperlinkcolor" val="tx"/>
                    </a:ext>
                  </a:extLst>
                </a:hlinkClick>
              </a:rPr>
              <a:t>Murugan Perumal</a:t>
            </a:r>
            <a:pPr algn="ctr" indent="0" marL="0">
              <a:buNone/>
            </a:pPr>
            <a:r>
              <a:rPr lang="en-US" sz="850" dirty="0">
                <a:solidFill>
                  <a:srgbClr val="5F6B73"/>
                </a:solidFill>
              </a:rPr>
              <a:t> - EMBAA25020 - </a:t>
            </a:r>
            <a:pPr algn="ctr" indent="0" marL="0">
              <a:buNone/>
            </a:pPr>
            <a:r>
              <a:rPr lang="en-US" sz="850" u="sng" dirty="0">
                <a:solidFill>
                  <a:srgbClr val="1F5FA8"/>
                </a:solidFill>
                <a:hlinkClick r:id="rId6" invalidUrl="" action="" tgtFrame="" tooltip="" history="1" highlightClick="0" endSnd="0">
                  <a:extLst>
                    <a:ext uri="{A12FA001-AC4F-418D-AE19-62706E023703}">
                      <ahyp:hlinkClr xmlns:ahyp="http://schemas.microsoft.com/office/drawing/2018/hyperlinkcolor" val="tx"/>
                    </a:ext>
                  </a:extLst>
                </a:hlinkClick>
              </a:rPr>
              <a:t>murugan.embaa25020@iimkashipur.ac.in</a:t>
            </a:r>
            <a:pPr algn="ctr" indent="0" marL="0">
              <a:buNone/>
            </a:pPr>
            <a:endParaRPr lang="en-US" sz="850" dirty="0"/>
          </a:p>
          <a:p>
            <a:pPr algn="ctr" indent="0" marL="0">
              <a:buNone/>
            </a:pPr>
            <a:r>
              <a:rPr lang="en-US" sz="850" b="1" u="sng" dirty="0">
                <a:solidFill>
                  <a:srgbClr val="1F5FA8"/>
                </a:solidFill>
                <a:hlinkClick r:id="rId7" invalidUrl="" action="" tgtFrame="" tooltip="Aswin G. on LinkedIn" history="1" highlightClick="0" endSnd="0">
                  <a:extLst>
                    <a:ext uri="{A12FA001-AC4F-418D-AE19-62706E023703}">
                      <ahyp:hlinkClr xmlns:ahyp="http://schemas.microsoft.com/office/drawing/2018/hyperlinkcolor" val="tx"/>
                    </a:ext>
                  </a:extLst>
                </a:hlinkClick>
              </a:rPr>
              <a:t>Aswin G.</a:t>
            </a:r>
            <a:pPr algn="ctr" indent="0" marL="0">
              <a:buNone/>
            </a:pPr>
            <a:r>
              <a:rPr lang="en-US" sz="850" dirty="0">
                <a:solidFill>
                  <a:srgbClr val="5F6B73"/>
                </a:solidFill>
              </a:rPr>
              <a:t> - EMBAA25008 - </a:t>
            </a:r>
            <a:pPr algn="ctr" indent="0" marL="0">
              <a:buNone/>
            </a:pPr>
            <a:r>
              <a:rPr lang="en-US" sz="850" u="sng" dirty="0">
                <a:solidFill>
                  <a:srgbClr val="1F5FA8"/>
                </a:solidFill>
                <a:hlinkClick r:id="rId8" invalidUrl="" action="" tgtFrame="" tooltip="" history="1" highlightClick="0" endSnd="0">
                  <a:extLst>
                    <a:ext uri="{A12FA001-AC4F-418D-AE19-62706E023703}">
                      <ahyp:hlinkClr xmlns:ahyp="http://schemas.microsoft.com/office/drawing/2018/hyperlinkcolor" val="tx"/>
                    </a:ext>
                  </a:extLst>
                </a:hlinkClick>
              </a:rPr>
              <a:t>aswin.embaa25008@iimkashipur.ac.in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9" invalidUrl="" action="" tgtFrame="" tooltip="Atul Kumar Singh on LinkedIn" history="1" highlightClick="0" endSnd="0">
                  <a:extLst>
                    <a:ext uri="{A12FA001-AC4F-418D-AE19-62706E023703}">
                      <ahyp:hlinkClr xmlns:ahyp="http://schemas.microsoft.com/office/drawing/2018/hyperlinkcolor" val="tx"/>
                    </a:ext>
                  </a:extLst>
                </a:hlinkClick>
              </a:rPr>
              <a:t>Atul Kumar Singh</a:t>
            </a:r>
            <a:pPr algn="ctr" indent="0" marL="0">
              <a:buNone/>
            </a:pPr>
            <a:r>
              <a:rPr lang="en-US" sz="850" dirty="0">
                <a:solidFill>
                  <a:srgbClr val="5F6B73"/>
                </a:solidFill>
              </a:rPr>
              <a:t> - EMBAA25009 - </a:t>
            </a:r>
            <a:pPr algn="ctr" indent="0" marL="0">
              <a:buNone/>
            </a:pPr>
            <a:r>
              <a:rPr lang="en-US" sz="850" u="sng" dirty="0">
                <a:solidFill>
                  <a:srgbClr val="1F5FA8"/>
                </a:solidFill>
                <a:hlinkClick r:id="rId10" invalidUrl="" action="" tgtFrame="" tooltip="" history="1" highlightClick="0" endSnd="0">
                  <a:extLst>
                    <a:ext uri="{A12FA001-AC4F-418D-AE19-62706E023703}">
                      <ahyp:hlinkClr xmlns:ahyp="http://schemas.microsoft.com/office/drawing/2018/hyperlinkcolor" val="tx"/>
                    </a:ext>
                  </a:extLst>
                </a:hlinkClick>
              </a:rPr>
              <a:t>atul.embaa25009@iimkashipur.ac.in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11" invalidUrl="" action="" tgtFrame="" tooltip="Devanshu Priyam on LinkedIn" history="1" highlightClick="0" endSnd="0">
                  <a:extLst>
                    <a:ext uri="{A12FA001-AC4F-418D-AE19-62706E023703}">
                      <ahyp:hlinkClr xmlns:ahyp="http://schemas.microsoft.com/office/drawing/2018/hyperlinkcolor" val="tx"/>
                    </a:ext>
                  </a:extLst>
                </a:hlinkClick>
              </a:rPr>
              <a:t>Devanshu Priyam</a:t>
            </a:r>
            <a:pPr algn="ctr" indent="0" marL="0">
              <a:buNone/>
            </a:pPr>
            <a:r>
              <a:rPr lang="en-US" sz="850" dirty="0">
                <a:solidFill>
                  <a:srgbClr val="5F6B73"/>
                </a:solidFill>
              </a:rPr>
              <a:t> - EMBAA25014 - </a:t>
            </a:r>
            <a:pPr algn="ctr" indent="0" marL="0">
              <a:buNone/>
            </a:pPr>
            <a:r>
              <a:rPr lang="en-US" sz="850" u="sng" dirty="0">
                <a:solidFill>
                  <a:srgbClr val="1F5FA8"/>
                </a:solidFill>
                <a:hlinkClick r:id="rId12" invalidUrl="" action="" tgtFrame="" tooltip="" history="1" highlightClick="0" endSnd="0">
                  <a:extLst>
                    <a:ext uri="{A12FA001-AC4F-418D-AE19-62706E023703}">
                      <ahyp:hlinkClr xmlns:ahyp="http://schemas.microsoft.com/office/drawing/2018/hyperlinkcolor" val="tx"/>
                    </a:ext>
                  </a:extLst>
                </a:hlinkClick>
              </a:rPr>
              <a:t>devanshu.embaa25014@iimkashipur.ac.in</a:t>
            </a:r>
            <a:endParaRPr lang="en-US" sz="850" dirty="0"/>
          </a:p>
        </p:txBody>
      </p:sp>
      <p:pic>
        <p:nvPicPr>
          <p:cNvPr id="9" name="Image 0" descr="k-means clusters of months in PCA space">    </p:cNvPr>
          <p:cNvPicPr>
            <a:picLocks noChangeAspect="1"/>
          </p:cNvPicPr>
          <p:nvPr/>
        </p:nvPicPr>
        <p:blipFill>
          <a:blip r:embed="rId13"/>
          <a:stretch>
            <a:fillRect/>
          </a:stretch>
        </p:blipFill>
        <p:spPr>
          <a:xfrm>
            <a:off x="411480" y="1600200"/>
            <a:ext cx="4754880" cy="3566160"/>
          </a:xfrm>
          <a:prstGeom prst="rect">
            <a:avLst/>
          </a:prstGeom>
        </p:spPr>
      </p:pic>
      <p:sp>
        <p:nvSpPr>
          <p:cNvPr id="10" name="Text 6"/>
          <p:cNvSpPr txBox="1"/>
          <p:nvPr/>
        </p:nvSpPr>
        <p:spPr>
          <a:xfrm>
            <a:off x="411480" y="5193792"/>
            <a:ext cx="4754880" cy="274320"/>
          </a:xfrm>
          <a:prstGeom prst="rect">
            <a:avLst/>
          </a:prstGeom>
          <a:noFill/>
          <a:ln/>
        </p:spPr>
        <p:txBody>
          <a:bodyPr wrap="square" lIns="0" tIns="0" rIns="0" bIns="0" rtlCol="0" anchor="t"/>
          <a:lstStyle/>
          <a:p>
            <a:pPr indent="0" marL="0">
              <a:buNone/>
            </a:pPr>
            <a:r>
              <a:rPr lang="en-US" sz="1000" i="1" dirty="0">
                <a:solidFill>
                  <a:schemeClr val="accent6"/>
                </a:solidFill>
              </a:rPr>
              <a:t>k-means, k = 2 (silhouette 0.22); Ward agrees on 132 of 175 months</a:t>
            </a:r>
            <a:endParaRPr lang="en-US" sz="1000" dirty="0"/>
          </a:p>
        </p:txBody>
      </p:sp>
      <p:sp>
        <p:nvSpPr>
          <p:cNvPr id="11" name="Calm regime"/>
          <p:cNvSpPr/>
          <p:nvPr/>
        </p:nvSpPr>
        <p:spPr>
          <a:xfrm>
            <a:off x="5440680" y="1645920"/>
            <a:ext cx="3063240" cy="1783080"/>
          </a:xfrm>
          <a:prstGeom prst="roundRect">
            <a:avLst>
              <a:gd name="adj" fmla="val 4103"/>
            </a:avLst>
          </a:prstGeom>
          <a:solidFill>
            <a:schemeClr val="bg2"/>
          </a:solidFill>
          <a:ln w="12700">
            <a:solidFill>
              <a:schemeClr val="bg2"/>
            </a:solidFill>
            <a:prstDash val="solid"/>
          </a:ln>
        </p:spPr>
      </p:sp>
      <p:sp>
        <p:nvSpPr>
          <p:cNvPr id="12" name="Text 8"/>
          <p:cNvSpPr txBox="1"/>
          <p:nvPr/>
        </p:nvSpPr>
        <p:spPr>
          <a:xfrm>
            <a:off x="5596128" y="1755648"/>
            <a:ext cx="2743200" cy="1600200"/>
          </a:xfrm>
          <a:prstGeom prst="rect">
            <a:avLst/>
          </a:prstGeom>
          <a:noFill/>
          <a:ln/>
        </p:spPr>
        <p:txBody>
          <a:bodyPr wrap="square" lIns="0" tIns="0" rIns="0" bIns="0" rtlCol="0" anchor="t"/>
          <a:lstStyle/>
          <a:p>
            <a:pPr indent="0" marL="0">
              <a:buNone/>
            </a:pPr>
            <a:r>
              <a:rPr lang="en-US" sz="1600" b="1" dirty="0">
                <a:solidFill>
                  <a:srgbClr val="2A7F8F"/>
                </a:solidFill>
              </a:rPr>
              <a:t>Calm / inflow</a:t>
            </a:r>
            <a:endParaRPr lang="en-US" sz="1500" dirty="0"/>
          </a:p>
          <a:p>
            <a:pPr indent="0" marL="0">
              <a:buNone/>
            </a:pPr>
            <a:r>
              <a:rPr lang="en-US" sz="1300" dirty="0">
                <a:solidFill>
                  <a:schemeClr val="tx1"/>
                </a:solidFill>
              </a:rPr>
              <a:t>99 months · rupee −0.45%/mo · FPI +US$2.8 bn · dollar soft · VIX falling</a:t>
            </a:r>
            <a:endParaRPr lang="en-US" sz="1500" dirty="0"/>
          </a:p>
        </p:txBody>
      </p:sp>
      <p:sp>
        <p:nvSpPr>
          <p:cNvPr id="13" name="Pressure regime"/>
          <p:cNvSpPr/>
          <p:nvPr/>
        </p:nvSpPr>
        <p:spPr>
          <a:xfrm>
            <a:off x="8686800" y="1645920"/>
            <a:ext cx="3063240" cy="1783080"/>
          </a:xfrm>
          <a:prstGeom prst="roundRect">
            <a:avLst>
              <a:gd name="adj" fmla="val 4103"/>
            </a:avLst>
          </a:prstGeom>
          <a:solidFill>
            <a:schemeClr val="tx2"/>
          </a:solidFill>
          <a:ln w="12700">
            <a:solidFill>
              <a:schemeClr val="tx2"/>
            </a:solidFill>
            <a:prstDash val="solid"/>
          </a:ln>
        </p:spPr>
      </p:sp>
      <p:sp>
        <p:nvSpPr>
          <p:cNvPr id="14" name="Text 10"/>
          <p:cNvSpPr txBox="1"/>
          <p:nvPr/>
        </p:nvSpPr>
        <p:spPr>
          <a:xfrm>
            <a:off x="8842248" y="1755648"/>
            <a:ext cx="2743200" cy="1600200"/>
          </a:xfrm>
          <a:prstGeom prst="rect">
            <a:avLst/>
          </a:prstGeom>
          <a:noFill/>
          <a:ln/>
        </p:spPr>
        <p:txBody>
          <a:bodyPr wrap="square" lIns="0" tIns="0" rIns="0" bIns="0" rtlCol="0" anchor="t"/>
          <a:lstStyle/>
          <a:p>
            <a:pPr indent="0" marL="0">
              <a:buNone/>
            </a:pPr>
            <a:r>
              <a:rPr lang="en-US" sz="1600" b="1" dirty="0">
                <a:solidFill>
                  <a:srgbClr val="E8871E"/>
                </a:solidFill>
              </a:rPr>
              <a:t>Pressure / outflow</a:t>
            </a:r>
            <a:endParaRPr lang="en-US" sz="1500" dirty="0"/>
          </a:p>
          <a:p>
            <a:pPr indent="0" marL="0">
              <a:buNone/>
            </a:pPr>
            <a:r>
              <a:rPr lang="en-US" sz="1300" dirty="0">
                <a:solidFill>
                  <a:srgbClr val="FFFFFF"/>
                </a:solidFill>
              </a:rPr>
              <a:t>76 months · rupee +1.41%/mo · FPI −US$1.7 bn · dollar firm · VIX rising</a:t>
            </a:r>
            <a:endParaRPr lang="en-US" sz="15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40680" y="3611880"/>
          <a:ext cx="6309360" cy="914400"/>
        </p:xfrm>
        <a:graphic>
          <a:graphicData uri="http://schemas.openxmlformats.org/drawingml/2006/table">
            <a:tbl>
              <a:tblPr/>
              <a:tblGrid>
                <a:gridCol w="4480560"/>
                <a:gridCol w="914400"/>
                <a:gridCol w="914400"/>
              </a:tblGrid>
              <a:tr h="0">
                <a:tc>
                  <a:txBody>
                    <a:bodyPr/>
                    <a:lstStyle/>
                    <a:p>
                      <a:pPr indent="0" marL="0">
                        <a:buNone/>
                      </a:pPr>
                      <a:r>
                        <a:rPr lang="en-US" sz="1250" b="1" dirty="0">
                          <a:solidFill>
                            <a:srgbClr val="FFFFFF"/>
                          </a:solidFill>
                        </a:rPr>
                        <a:t>Apriori rule → Rupee = Weak</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0F2A3A"/>
                    </a:solidFill>
                  </a:tcPr>
                </a:tc>
                <a:tc>
                  <a:txBody>
                    <a:bodyPr/>
                    <a:lstStyle/>
                    <a:p>
                      <a:pPr indent="0" marL="0">
                        <a:buNone/>
                      </a:pPr>
                      <a:r>
                        <a:rPr lang="en-US" sz="1250" b="1" dirty="0">
                          <a:solidFill>
                            <a:srgbClr val="FFFFFF"/>
                          </a:solidFill>
                        </a:rPr>
                        <a:t>Conf.</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0F2A3A"/>
                    </a:solidFill>
                  </a:tcPr>
                </a:tc>
                <a:tc>
                  <a:txBody>
                    <a:bodyPr/>
                    <a:lstStyle/>
                    <a:p>
                      <a:pPr indent="0" marL="0">
                        <a:buNone/>
                      </a:pPr>
                      <a:r>
                        <a:rPr lang="en-US" sz="1250" b="1" dirty="0">
                          <a:solidFill>
                            <a:srgbClr val="FFFFFF"/>
                          </a:solidFill>
                        </a:rPr>
                        <a:t>Lift</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0F2A3A"/>
                    </a:solidFill>
                  </a:tcPr>
                </a:tc>
              </a:tr>
              <a:tr h="0">
                <a:tc>
                  <a:txBody>
                    <a:bodyPr/>
                    <a:lstStyle/>
                    <a:p>
                      <a:pPr indent="0" marL="0">
                        <a:buNone/>
                      </a:pPr>
                      <a:r>
                        <a:rPr lang="en-US" sz="1250" dirty="0">
                          <a:solidFill>
                            <a:srgbClr val="1B1F23"/>
                          </a:solidFill>
                        </a:rPr>
                        <a:t>FPI Low + rate-gap chg High + trade-bal chg Mid</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250" dirty="0">
                          <a:solidFill>
                            <a:srgbClr val="1B1F23"/>
                          </a:solidFill>
                        </a:rPr>
                        <a:t>100%</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250" dirty="0">
                          <a:solidFill>
                            <a:srgbClr val="1B1F23"/>
                          </a:solidFill>
                        </a:rPr>
                        <a:t>3.02</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r>
              <a:tr h="0">
                <a:tc>
                  <a:txBody>
                    <a:bodyPr/>
                    <a:lstStyle/>
                    <a:p>
                      <a:pPr indent="0" marL="0">
                        <a:buNone/>
                      </a:pPr>
                      <a:r>
                        <a:rPr lang="en-US" sz="1250" dirty="0">
                          <a:solidFill>
                            <a:srgbClr val="1B1F23"/>
                          </a:solidFill>
                        </a:rPr>
                        <a:t>FPI Low + trade-balance change Mid</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250" dirty="0">
                          <a:solidFill>
                            <a:srgbClr val="1B1F23"/>
                          </a:solidFill>
                        </a:rPr>
                        <a:t>77%</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250" dirty="0">
                          <a:solidFill>
                            <a:srgbClr val="1B1F23"/>
                          </a:solidFill>
                        </a:rPr>
                        <a:t>2.33</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r>
              <a:tr h="0">
                <a:tc>
                  <a:txBody>
                    <a:bodyPr/>
                    <a:lstStyle/>
                    <a:p>
                      <a:pPr indent="0" marL="0">
                        <a:buNone/>
                      </a:pPr>
                      <a:r>
                        <a:rPr lang="en-US" sz="1250" dirty="0">
                          <a:solidFill>
                            <a:srgbClr val="1B1F23"/>
                          </a:solidFill>
                        </a:rPr>
                        <a:t>FPI Low + rate-gap change High</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250" dirty="0">
                          <a:solidFill>
                            <a:srgbClr val="1B1F23"/>
                          </a:solidFill>
                        </a:rPr>
                        <a:t>73%</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250" dirty="0">
                          <a:solidFill>
                            <a:srgbClr val="1B1F23"/>
                          </a:solidFill>
                        </a:rPr>
                        <a:t>2.20</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r>
              <a:tr h="0">
                <a:tc>
                  <a:txBody>
                    <a:bodyPr/>
                    <a:lstStyle/>
                    <a:p>
                      <a:pPr indent="0" marL="0">
                        <a:buNone/>
                      </a:pPr>
                      <a:r>
                        <a:rPr lang="en-US" sz="1250" dirty="0">
                          <a:solidFill>
                            <a:srgbClr val="1B1F23"/>
                          </a:solidFill>
                        </a:rPr>
                        <a:t>Dollar High + FPI Low + VIX High</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250" dirty="0">
                          <a:solidFill>
                            <a:srgbClr val="1B1F23"/>
                          </a:solidFill>
                        </a:rPr>
                        <a:t>71%</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250" dirty="0">
                          <a:solidFill>
                            <a:srgbClr val="1B1F23"/>
                          </a:solidFill>
                        </a:rPr>
                        <a:t>2.16</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r>
            </a:tbl>
          </a:graphicData>
        </a:graphic>
      </p:graphicFrame>
      <p:sp>
        <p:nvSpPr>
          <p:cNvPr id="16" name="Text 11"/>
          <p:cNvSpPr txBox="1"/>
          <p:nvPr/>
        </p:nvSpPr>
        <p:spPr>
          <a:xfrm>
            <a:off x="5440680" y="5532120"/>
            <a:ext cx="6309360" cy="457200"/>
          </a:xfrm>
          <a:prstGeom prst="rect">
            <a:avLst/>
          </a:prstGeom>
          <a:noFill/>
          <a:ln/>
        </p:spPr>
        <p:txBody>
          <a:bodyPr wrap="square" lIns="0" tIns="0" rIns="0" bIns="0" rtlCol="0" anchor="t"/>
          <a:lstStyle/>
          <a:p>
            <a:pPr indent="0" marL="0">
              <a:buNone/>
            </a:pPr>
            <a:r>
              <a:rPr lang="en-US" sz="1200" i="1" dirty="0">
                <a:solidFill>
                  <a:schemeClr val="accent6"/>
                </a:solidFill>
              </a:rPr>
              <a:t>Baseline chance of a weak month: 33%. Top rule rests on 9 months: suggestive, not conclusive.</a:t>
            </a:r>
            <a:endParaRPr lang="en-US" sz="1200" dirty="0"/>
          </a:p>
        </p:txBody>
      </p:sp>
      <p:sp>
        <p:nvSpPr>
          <p:cNvPr id="25" name="Slide Number Placeholder 0"/>
          <p:cNvSpPr>
            <a:spLocks noGrp="1"/>
          </p:cNvSpPr>
          <p:nvPr>
            <p:ph type="sldNum" sz="quarter" idx="4294967295"/>
          </p:nvPr>
        </p:nvSpPr>
        <p:spPr>
          <a:xfrm>
            <a:off x="10927080" y="6382512"/>
            <a:ext cx="420624" cy="329184"/>
          </a:xfrm>
          <a:prstGeom prst="rect">
            <a:avLst/>
          </a:prstGeom>
          <a:extLst>
            <a:ext uri="{C572A759-6A51-4108-AA02-DFA0A04FC94B}">
              <ma14:wrappingTextBoxFlag xmlns:ma14="http://schemas.microsoft.com/office/mac/drawingml/2011/main" val="0"/>
            </a:ext>
          </a:extLst>
        </p:spPr>
        <p:txBody>
          <a:bodyPr/>
          <a:lstStyle>
            <a:lvl1pPr>
              <a:defRPr sz="1200">
                <a:solidFill>
                  <a:srgbClr val="0F2A3A"/>
                </a:solidFill>
                <a:latin typeface="Calibri"/>
                <a:ea typeface="Calibri"/>
                <a:cs typeface="Calibri"/>
              </a:defRPr>
            </a:lvl1pPr>
          </a:lstStyle>
          <a:p>
            <a:pPr algn="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5"/>
          <p:cNvSpPr/>
          <p:nvPr>
            <p:ph idx="105" type="title" hasCustomPrompt="1"/>
          </p:nvPr>
        </p:nvSpPr>
        <p:spPr>
          <a:xfrm>
            <a:off x="365760" y="502920"/>
            <a:ext cx="10058400" cy="868680"/>
          </a:xfrm>
          <a:prstGeom prst="rect">
            <a:avLst/>
          </a:prstGeom>
          <a:noFill/>
          <a:ln/>
        </p:spPr>
        <p:txBody>
          <a:bodyPr wrap="square" lIns="0" tIns="0" rIns="0" bIns="0" rtlCol="0" anchor="ctr"/>
          <a:lstStyle/>
          <a:p>
            <a:pPr algn="l" indent="0" marL="0">
              <a:buNone/>
            </a:pPr>
            <a:r>
              <a:rPr lang="en-US" sz="2800" b="1" dirty="0">
                <a:solidFill>
                  <a:srgbClr val="FFFFFF"/>
                </a:solidFill>
              </a:rPr>
              <a:t>Prescriptive: hedge on dollar and FPI scenarios, not oil</a:t>
            </a:r>
            <a:endParaRPr lang="en-US" sz="2800" dirty="0"/>
          </a:p>
        </p:txBody>
      </p:sp>
      <p:sp>
        <p:nvSpPr>
          <p:cNvPr id="3" name="Current presenter"/>
          <p:cNvSpPr txBox="1"/>
          <p:nvPr/>
        </p:nvSpPr>
        <p:spPr>
          <a:xfrm>
            <a:off x="8869680" y="91440"/>
            <a:ext cx="3063240" cy="310896"/>
          </a:xfrm>
          <a:prstGeom prst="rect">
            <a:avLst/>
          </a:prstGeom>
          <a:noFill/>
          <a:ln/>
        </p:spPr>
        <p:txBody>
          <a:bodyPr wrap="square" lIns="0" tIns="0" rIns="0" bIns="0" rtlCol="0" anchor="ctr"/>
          <a:lstStyle/>
          <a:p>
            <a:pPr algn="r" indent="0" marL="0">
              <a:buNone/>
            </a:pPr>
            <a:r>
              <a:rPr lang="en-US" sz="1100" dirty="0">
                <a:solidFill>
                  <a:srgbClr val="5F6B73"/>
                </a:solidFill>
              </a:rPr>
              <a:t>Presenter: </a:t>
            </a:r>
            <a:pPr algn="r" indent="0" marL="0">
              <a:buNone/>
            </a:pPr>
            <a:r>
              <a:rPr lang="en-US" sz="1100" b="1" dirty="0">
                <a:solidFill>
                  <a:srgbClr val="0F2A3A"/>
                </a:solidFill>
              </a:rPr>
              <a:t>Atul Kumar Singh - EMBAA25009</a:t>
            </a:r>
            <a:endParaRPr lang="en-US" sz="1100" dirty="0"/>
          </a:p>
        </p:txBody>
      </p:sp>
      <p:sp>
        <p:nvSpPr>
          <p:cNvPr id="4" name="Presenter photo placeholder"/>
          <p:cNvSpPr/>
          <p:nvPr/>
        </p:nvSpPr>
        <p:spPr>
          <a:xfrm>
            <a:off x="10744200" y="502920"/>
            <a:ext cx="1188720" cy="868680"/>
          </a:xfrm>
          <a:prstGeom prst="rect">
            <a:avLst/>
          </a:prstGeom>
          <a:solidFill>
            <a:schemeClr val="accent2"/>
          </a:solidFill>
          <a:ln w="12700">
            <a:solidFill>
              <a:schemeClr val="accent2"/>
            </a:solidFill>
            <a:prstDash val="solid"/>
          </a:ln>
        </p:spPr>
      </p:sp>
      <p:sp>
        <p:nvSpPr>
          <p:cNvPr id="5" name="Presenter initials"/>
          <p:cNvSpPr txBox="1"/>
          <p:nvPr/>
        </p:nvSpPr>
        <p:spPr>
          <a:xfrm>
            <a:off x="10744200" y="502920"/>
            <a:ext cx="1188720" cy="868680"/>
          </a:xfrm>
          <a:prstGeom prst="rect">
            <a:avLst/>
          </a:prstGeom>
          <a:noFill/>
          <a:ln/>
        </p:spPr>
        <p:txBody>
          <a:bodyPr wrap="square" lIns="0" tIns="0" rIns="0" bIns="0" rtlCol="0" anchor="ctr"/>
          <a:lstStyle/>
          <a:p>
            <a:pPr algn="ctr" indent="0" marL="0">
              <a:buNone/>
            </a:pPr>
            <a:r>
              <a:rPr lang="en-US" sz="2600" b="1" dirty="0">
                <a:solidFill>
                  <a:schemeClr val="bg1"/>
                </a:solidFill>
              </a:rPr>
              <a:t>AK</a:t>
            </a:r>
            <a:endParaRPr lang="en-US" sz="2600" dirty="0"/>
          </a:p>
        </p:txBody>
      </p:sp>
      <p:sp>
        <p:nvSpPr>
          <p:cNvPr id="6" name="Footer rule"/>
          <p:cNvSpPr/>
          <p:nvPr/>
        </p:nvSpPr>
        <p:spPr>
          <a:xfrm>
            <a:off x="274320" y="6272784"/>
            <a:ext cx="10515600" cy="0"/>
          </a:xfrm>
          <a:prstGeom prst="line">
            <a:avLst/>
          </a:prstGeom>
          <a:noFill/>
          <a:ln w="12700">
            <a:solidFill>
              <a:srgbClr val="EEF2F4"/>
            </a:solidFill>
            <a:prstDash val="solid"/>
          </a:ln>
        </p:spPr>
      </p:sp>
      <p:sp>
        <p:nvSpPr>
          <p:cNvPr id="7" name="Team footer"/>
          <p:cNvSpPr txBox="1"/>
          <p:nvPr/>
        </p:nvSpPr>
        <p:spPr>
          <a:xfrm>
            <a:off x="274320" y="6309360"/>
            <a:ext cx="10515600" cy="457200"/>
          </a:xfrm>
          <a:prstGeom prst="rect">
            <a:avLst/>
          </a:prstGeom>
          <a:noFill/>
          <a:ln/>
        </p:spPr>
        <p:txBody>
          <a:bodyPr wrap="square" lIns="0" tIns="0" rIns="0" bIns="0" rtlCol="0" anchor="ctr"/>
          <a:lstStyle/>
          <a:p>
            <a:pPr algn="ctr" indent="0" marL="0">
              <a:buNone/>
            </a:pPr>
            <a:r>
              <a:rPr lang="en-US" sz="850" b="1" u="sng" dirty="0">
                <a:solidFill>
                  <a:srgbClr val="1F5FA8"/>
                </a:solidFill>
                <a:hlinkClick r:id="rId1" invalidUrl="" action="" tgtFrame="" tooltip="Ankit Singh on LinkedIn" history="1" highlightClick="0" endSnd="0">
                  <a:extLst>
                    <a:ext uri="{A12FA001-AC4F-418D-AE19-62706E023703}">
                      <ahyp:hlinkClr xmlns:ahyp="http://schemas.microsoft.com/office/drawing/2018/hyperlinkcolor" val="tx"/>
                    </a:ext>
                  </a:extLst>
                </a:hlinkClick>
              </a:rPr>
              <a:t>Ankit Singh</a:t>
            </a:r>
            <a:pPr algn="ctr" indent="0" marL="0">
              <a:buNone/>
            </a:pPr>
            <a:r>
              <a:rPr lang="en-US" sz="850" dirty="0">
                <a:solidFill>
                  <a:srgbClr val="5F6B73"/>
                </a:solidFill>
              </a:rPr>
              <a:t> - EMBAA25004 - </a:t>
            </a:r>
            <a:pPr algn="ctr" indent="0" marL="0">
              <a:buNone/>
            </a:pPr>
            <a:r>
              <a:rPr lang="en-US" sz="850" u="sng" dirty="0">
                <a:solidFill>
                  <a:srgbClr val="1F5FA8"/>
                </a:solidFill>
                <a:hlinkClick r:id="rId2" invalidUrl="" action="" tgtFrame="" tooltip="" history="1" highlightClick="0" endSnd="0">
                  <a:extLst>
                    <a:ext uri="{A12FA001-AC4F-418D-AE19-62706E023703}">
                      <ahyp:hlinkClr xmlns:ahyp="http://schemas.microsoft.com/office/drawing/2018/hyperlinkcolor" val="tx"/>
                    </a:ext>
                  </a:extLst>
                </a:hlinkClick>
              </a:rPr>
              <a:t>ankit.embaa25004@iimkashipur.ac.in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3" invalidUrl="" action="" tgtFrame="" tooltip="Gopalakrishnan S on LinkedIn" history="1" highlightClick="0" endSnd="0">
                  <a:extLst>
                    <a:ext uri="{A12FA001-AC4F-418D-AE19-62706E023703}">
                      <ahyp:hlinkClr xmlns:ahyp="http://schemas.microsoft.com/office/drawing/2018/hyperlinkcolor" val="tx"/>
                    </a:ext>
                  </a:extLst>
                </a:hlinkClick>
              </a:rPr>
              <a:t>Gopalakrishnan S</a:t>
            </a:r>
            <a:pPr algn="ctr" indent="0" marL="0">
              <a:buNone/>
            </a:pPr>
            <a:r>
              <a:rPr lang="en-US" sz="850" dirty="0">
                <a:solidFill>
                  <a:srgbClr val="5F6B73"/>
                </a:solidFill>
              </a:rPr>
              <a:t> - EMBAA25017 - </a:t>
            </a:r>
            <a:pPr algn="ctr" indent="0" marL="0">
              <a:buNone/>
            </a:pPr>
            <a:r>
              <a:rPr lang="en-US" sz="850" u="sng" dirty="0">
                <a:solidFill>
                  <a:srgbClr val="1F5FA8"/>
                </a:solidFill>
                <a:hlinkClick r:id="rId4" invalidUrl="" action="" tgtFrame="" tooltip="" history="1" highlightClick="0" endSnd="0">
                  <a:extLst>
                    <a:ext uri="{A12FA001-AC4F-418D-AE19-62706E023703}">
                      <ahyp:hlinkClr xmlns:ahyp="http://schemas.microsoft.com/office/drawing/2018/hyperlinkcolor" val="tx"/>
                    </a:ext>
                  </a:extLst>
                </a:hlinkClick>
              </a:rPr>
              <a:t>gopalakrishnan.embaa25017@iimkashipur.ac.in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5" invalidUrl="" action="" tgtFrame="" tooltip="Murugan Perumal on LinkedIn" history="1" highlightClick="0" endSnd="0">
                  <a:extLst>
                    <a:ext uri="{A12FA001-AC4F-418D-AE19-62706E023703}">
                      <ahyp:hlinkClr xmlns:ahyp="http://schemas.microsoft.com/office/drawing/2018/hyperlinkcolor" val="tx"/>
                    </a:ext>
                  </a:extLst>
                </a:hlinkClick>
              </a:rPr>
              <a:t>Murugan Perumal</a:t>
            </a:r>
            <a:pPr algn="ctr" indent="0" marL="0">
              <a:buNone/>
            </a:pPr>
            <a:r>
              <a:rPr lang="en-US" sz="850" dirty="0">
                <a:solidFill>
                  <a:srgbClr val="5F6B73"/>
                </a:solidFill>
              </a:rPr>
              <a:t> - EMBAA25020 - </a:t>
            </a:r>
            <a:pPr algn="ctr" indent="0" marL="0">
              <a:buNone/>
            </a:pPr>
            <a:r>
              <a:rPr lang="en-US" sz="850" u="sng" dirty="0">
                <a:solidFill>
                  <a:srgbClr val="1F5FA8"/>
                </a:solidFill>
                <a:hlinkClick r:id="rId6" invalidUrl="" action="" tgtFrame="" tooltip="" history="1" highlightClick="0" endSnd="0">
                  <a:extLst>
                    <a:ext uri="{A12FA001-AC4F-418D-AE19-62706E023703}">
                      <ahyp:hlinkClr xmlns:ahyp="http://schemas.microsoft.com/office/drawing/2018/hyperlinkcolor" val="tx"/>
                    </a:ext>
                  </a:extLst>
                </a:hlinkClick>
              </a:rPr>
              <a:t>murugan.embaa25020@iimkashipur.ac.in</a:t>
            </a:r>
            <a:pPr algn="ctr" indent="0" marL="0">
              <a:buNone/>
            </a:pPr>
            <a:endParaRPr lang="en-US" sz="850" dirty="0"/>
          </a:p>
          <a:p>
            <a:pPr algn="ctr" indent="0" marL="0">
              <a:buNone/>
            </a:pPr>
            <a:r>
              <a:rPr lang="en-US" sz="850" b="1" u="sng" dirty="0">
                <a:solidFill>
                  <a:srgbClr val="1F5FA8"/>
                </a:solidFill>
                <a:hlinkClick r:id="rId7" invalidUrl="" action="" tgtFrame="" tooltip="Aswin G. on LinkedIn" history="1" highlightClick="0" endSnd="0">
                  <a:extLst>
                    <a:ext uri="{A12FA001-AC4F-418D-AE19-62706E023703}">
                      <ahyp:hlinkClr xmlns:ahyp="http://schemas.microsoft.com/office/drawing/2018/hyperlinkcolor" val="tx"/>
                    </a:ext>
                  </a:extLst>
                </a:hlinkClick>
              </a:rPr>
              <a:t>Aswin G.</a:t>
            </a:r>
            <a:pPr algn="ctr" indent="0" marL="0">
              <a:buNone/>
            </a:pPr>
            <a:r>
              <a:rPr lang="en-US" sz="850" dirty="0">
                <a:solidFill>
                  <a:srgbClr val="5F6B73"/>
                </a:solidFill>
              </a:rPr>
              <a:t> - EMBAA25008 - </a:t>
            </a:r>
            <a:pPr algn="ctr" indent="0" marL="0">
              <a:buNone/>
            </a:pPr>
            <a:r>
              <a:rPr lang="en-US" sz="850" u="sng" dirty="0">
                <a:solidFill>
                  <a:srgbClr val="1F5FA8"/>
                </a:solidFill>
                <a:hlinkClick r:id="rId8" invalidUrl="" action="" tgtFrame="" tooltip="" history="1" highlightClick="0" endSnd="0">
                  <a:extLst>
                    <a:ext uri="{A12FA001-AC4F-418D-AE19-62706E023703}">
                      <ahyp:hlinkClr xmlns:ahyp="http://schemas.microsoft.com/office/drawing/2018/hyperlinkcolor" val="tx"/>
                    </a:ext>
                  </a:extLst>
                </a:hlinkClick>
              </a:rPr>
              <a:t>aswin.embaa25008@iimkashipur.ac.in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9" invalidUrl="" action="" tgtFrame="" tooltip="Atul Kumar Singh on LinkedIn" history="1" highlightClick="0" endSnd="0">
                  <a:extLst>
                    <a:ext uri="{A12FA001-AC4F-418D-AE19-62706E023703}">
                      <ahyp:hlinkClr xmlns:ahyp="http://schemas.microsoft.com/office/drawing/2018/hyperlinkcolor" val="tx"/>
                    </a:ext>
                  </a:extLst>
                </a:hlinkClick>
              </a:rPr>
              <a:t>Atul Kumar Singh</a:t>
            </a:r>
            <a:pPr algn="ctr" indent="0" marL="0">
              <a:buNone/>
            </a:pPr>
            <a:r>
              <a:rPr lang="en-US" sz="850" dirty="0">
                <a:solidFill>
                  <a:srgbClr val="5F6B73"/>
                </a:solidFill>
              </a:rPr>
              <a:t> - EMBAA25009 - </a:t>
            </a:r>
            <a:pPr algn="ctr" indent="0" marL="0">
              <a:buNone/>
            </a:pPr>
            <a:r>
              <a:rPr lang="en-US" sz="850" u="sng" dirty="0">
                <a:solidFill>
                  <a:srgbClr val="1F5FA8"/>
                </a:solidFill>
                <a:hlinkClick r:id="rId10" invalidUrl="" action="" tgtFrame="" tooltip="" history="1" highlightClick="0" endSnd="0">
                  <a:extLst>
                    <a:ext uri="{A12FA001-AC4F-418D-AE19-62706E023703}">
                      <ahyp:hlinkClr xmlns:ahyp="http://schemas.microsoft.com/office/drawing/2018/hyperlinkcolor" val="tx"/>
                    </a:ext>
                  </a:extLst>
                </a:hlinkClick>
              </a:rPr>
              <a:t>atul.embaa25009@iimkashipur.ac.in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11" invalidUrl="" action="" tgtFrame="" tooltip="Devanshu Priyam on LinkedIn" history="1" highlightClick="0" endSnd="0">
                  <a:extLst>
                    <a:ext uri="{A12FA001-AC4F-418D-AE19-62706E023703}">
                      <ahyp:hlinkClr xmlns:ahyp="http://schemas.microsoft.com/office/drawing/2018/hyperlinkcolor" val="tx"/>
                    </a:ext>
                  </a:extLst>
                </a:hlinkClick>
              </a:rPr>
              <a:t>Devanshu Priyam</a:t>
            </a:r>
            <a:pPr algn="ctr" indent="0" marL="0">
              <a:buNone/>
            </a:pPr>
            <a:r>
              <a:rPr lang="en-US" sz="850" dirty="0">
                <a:solidFill>
                  <a:srgbClr val="5F6B73"/>
                </a:solidFill>
              </a:rPr>
              <a:t> - EMBAA25014 - </a:t>
            </a:r>
            <a:pPr algn="ctr" indent="0" marL="0">
              <a:buNone/>
            </a:pPr>
            <a:r>
              <a:rPr lang="en-US" sz="850" u="sng" dirty="0">
                <a:solidFill>
                  <a:srgbClr val="1F5FA8"/>
                </a:solidFill>
                <a:hlinkClick r:id="rId12" invalidUrl="" action="" tgtFrame="" tooltip="" history="1" highlightClick="0" endSnd="0">
                  <a:extLst>
                    <a:ext uri="{A12FA001-AC4F-418D-AE19-62706E023703}">
                      <ahyp:hlinkClr xmlns:ahyp="http://schemas.microsoft.com/office/drawing/2018/hyperlinkcolor" val="tx"/>
                    </a:ext>
                  </a:extLst>
                </a:hlinkClick>
              </a:rPr>
              <a:t>devanshu.embaa25014@iimkashipur.ac.in</a:t>
            </a:r>
            <a:endParaRPr lang="en-US" sz="8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92840" cy="914400"/>
        </p:xfrm>
        <a:graphic>
          <a:graphicData uri="http://schemas.openxmlformats.org/drawingml/2006/table">
            <a:tbl>
              <a:tblPr/>
              <a:tblGrid>
                <a:gridCol w="2834640"/>
                <a:gridCol w="1325880"/>
                <a:gridCol w="2057400"/>
                <a:gridCol w="1645920"/>
                <a:gridCol w="1874520"/>
                <a:gridCol w="1554480"/>
              </a:tblGrid>
              <a:tr h="438912">
                <a:tc>
                  <a:txBody>
                    <a:bodyPr/>
                    <a:lstStyle/>
                    <a:p>
                      <a:pPr indent="0" marL="0">
                        <a:buNone/>
                      </a:pPr>
                      <a:r>
                        <a:rPr lang="en-US" sz="1250" b="1" dirty="0">
                          <a:solidFill>
                            <a:srgbClr val="FFFFFF"/>
                          </a:solidFill>
                        </a:rPr>
                        <a:t>Scenario (from ₹95.51, Sep 2026)</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0F2A3A"/>
                    </a:solidFill>
                  </a:tcPr>
                </a:tc>
                <a:tc>
                  <a:txBody>
                    <a:bodyPr/>
                    <a:lstStyle/>
                    <a:p>
                      <a:pPr indent="0" marL="0">
                        <a:buNone/>
                      </a:pPr>
                      <a:r>
                        <a:rPr lang="en-US" sz="1250" b="1" dirty="0">
                          <a:solidFill>
                            <a:srgbClr val="FFFFFF"/>
                          </a:solidFill>
                        </a:rPr>
                        <a:t>Est. change</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0F2A3A"/>
                    </a:solidFill>
                  </a:tcPr>
                </a:tc>
                <a:tc>
                  <a:txBody>
                    <a:bodyPr/>
                    <a:lstStyle/>
                    <a:p>
                      <a:pPr indent="0" marL="0">
                        <a:buNone/>
                      </a:pPr>
                      <a:r>
                        <a:rPr lang="en-US" sz="1250" b="1" dirty="0">
                          <a:solidFill>
                            <a:srgbClr val="FFFFFF"/>
                          </a:solidFill>
                        </a:rPr>
                        <a:t>80% range</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0F2A3A"/>
                    </a:solidFill>
                  </a:tcPr>
                </a:tc>
                <a:tc>
                  <a:txBody>
                    <a:bodyPr/>
                    <a:lstStyle/>
                    <a:p>
                      <a:pPr indent="0" marL="0">
                        <a:buNone/>
                      </a:pPr>
                      <a:r>
                        <a:rPr lang="en-US" sz="1250" b="1" dirty="0">
                          <a:solidFill>
                            <a:srgbClr val="FFFFFF"/>
                          </a:solidFill>
                        </a:rPr>
                        <a:t>Implied USD/INR</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0F2A3A"/>
                    </a:solidFill>
                  </a:tcPr>
                </a:tc>
                <a:tc>
                  <a:txBody>
                    <a:bodyPr/>
                    <a:lstStyle/>
                    <a:p>
                      <a:pPr indent="0" marL="0">
                        <a:buNone/>
                      </a:pPr>
                      <a:r>
                        <a:rPr lang="en-US" sz="1250" b="1" dirty="0">
                          <a:solidFill>
                            <a:srgbClr val="FFFFFF"/>
                          </a:solidFill>
                        </a:rPr>
                        <a:t>Worst-case extra cost</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0F2A3A"/>
                    </a:solidFill>
                  </a:tcPr>
                </a:tc>
                <a:tc>
                  <a:txBody>
                    <a:bodyPr/>
                    <a:lstStyle/>
                    <a:p>
                      <a:pPr indent="0" marL="0">
                        <a:buNone/>
                      </a:pPr>
                      <a:r>
                        <a:rPr lang="en-US" sz="1250" b="1" dirty="0">
                          <a:solidFill>
                            <a:srgbClr val="FFFFFF"/>
                          </a:solidFill>
                        </a:rPr>
                        <a:t>Recommendation</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0F2A3A"/>
                    </a:solidFill>
                  </a:tcPr>
                </a:tc>
              </a:tr>
              <a:tr h="438912">
                <a:tc>
                  <a:txBody>
                    <a:bodyPr/>
                    <a:lstStyle/>
                    <a:p>
                      <a:pPr indent="0" marL="0">
                        <a:buNone/>
                      </a:pPr>
                      <a:r>
                        <a:rPr lang="en-US" sz="1300" dirty="0">
                          <a:solidFill>
                            <a:srgbClr val="1B1F23"/>
                          </a:solidFill>
                        </a:rPr>
                        <a:t>Neutral month</a:t>
                      </a:r>
                      <a:endParaRPr lang="en-US" sz="130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300" dirty="0">
                          <a:solidFill>
                            <a:srgbClr val="1B1F23"/>
                          </a:solidFill>
                        </a:rPr>
                        <a:t>+0.26%</a:t>
                      </a:r>
                      <a:endParaRPr lang="en-US" sz="130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300" dirty="0">
                          <a:solidFill>
                            <a:srgbClr val="1B1F23"/>
                          </a:solidFill>
                        </a:rPr>
                        <a:t>−1.21% to +1.74%</a:t>
                      </a:r>
                      <a:endParaRPr lang="en-US" sz="130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300" dirty="0">
                          <a:solidFill>
                            <a:srgbClr val="1B1F23"/>
                          </a:solidFill>
                        </a:rPr>
                        <a:t>95.76</a:t>
                      </a:r>
                      <a:endParaRPr lang="en-US" sz="130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300" dirty="0">
                          <a:solidFill>
                            <a:srgbClr val="1B1F23"/>
                          </a:solidFill>
                        </a:rPr>
                        <a:t>₹1.66 cr</a:t>
                      </a:r>
                      <a:endParaRPr lang="en-US" sz="130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300" b="1" dirty="0">
                          <a:solidFill>
                            <a:srgbClr val="E8871E"/>
                          </a:solidFill>
                        </a:rPr>
                        <a:t>Partial hedge</a:t>
                      </a:r>
                      <a:endParaRPr lang="en-US" sz="130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r>
              <a:tr h="438912">
                <a:tc>
                  <a:txBody>
                    <a:bodyPr/>
                    <a:lstStyle/>
                    <a:p>
                      <a:pPr indent="0" marL="0">
                        <a:buNone/>
                      </a:pPr>
                      <a:r>
                        <a:rPr lang="en-US" sz="1300" dirty="0">
                          <a:solidFill>
                            <a:srgbClr val="1B1F23"/>
                          </a:solidFill>
                        </a:rPr>
                        <a:t>Oil +20%</a:t>
                      </a:r>
                      <a:endParaRPr lang="en-US" sz="130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300" dirty="0">
                          <a:solidFill>
                            <a:srgbClr val="1B1F23"/>
                          </a:solidFill>
                        </a:rPr>
                        <a:t>+0.10%</a:t>
                      </a:r>
                      <a:endParaRPr lang="en-US" sz="130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300" dirty="0">
                          <a:solidFill>
                            <a:srgbClr val="1B1F23"/>
                          </a:solidFill>
                        </a:rPr>
                        <a:t>−1.39% to +1.59%</a:t>
                      </a:r>
                      <a:endParaRPr lang="en-US" sz="130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300" dirty="0">
                          <a:solidFill>
                            <a:srgbClr val="1B1F23"/>
                          </a:solidFill>
                        </a:rPr>
                        <a:t>95.61</a:t>
                      </a:r>
                      <a:endParaRPr lang="en-US" sz="130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300" dirty="0">
                          <a:solidFill>
                            <a:srgbClr val="1B1F23"/>
                          </a:solidFill>
                        </a:rPr>
                        <a:t>₹1.52 cr</a:t>
                      </a:r>
                      <a:endParaRPr lang="en-US" sz="130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300" b="1" dirty="0">
                          <a:solidFill>
                            <a:srgbClr val="E8871E"/>
                          </a:solidFill>
                        </a:rPr>
                        <a:t>Partial hedge</a:t>
                      </a:r>
                      <a:endParaRPr lang="en-US" sz="130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r>
              <a:tr h="438912">
                <a:tc>
                  <a:txBody>
                    <a:bodyPr/>
                    <a:lstStyle/>
                    <a:p>
                      <a:pPr indent="0" marL="0">
                        <a:buNone/>
                      </a:pPr>
                      <a:r>
                        <a:rPr lang="en-US" sz="1300" dirty="0">
                          <a:solidFill>
                            <a:srgbClr val="1B1F23"/>
                          </a:solidFill>
                        </a:rPr>
                        <a:t>Rate gap +50 bp</a:t>
                      </a:r>
                      <a:endParaRPr lang="en-US" sz="130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300" dirty="0">
                          <a:solidFill>
                            <a:srgbClr val="1B1F23"/>
                          </a:solidFill>
                        </a:rPr>
                        <a:t>+0.63%</a:t>
                      </a:r>
                      <a:endParaRPr lang="en-US" sz="130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300" dirty="0">
                          <a:solidFill>
                            <a:srgbClr val="1B1F23"/>
                          </a:solidFill>
                        </a:rPr>
                        <a:t>−0.85% to +2.11%</a:t>
                      </a:r>
                      <a:endParaRPr lang="en-US" sz="130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300" dirty="0">
                          <a:solidFill>
                            <a:srgbClr val="1B1F23"/>
                          </a:solidFill>
                        </a:rPr>
                        <a:t>96.12</a:t>
                      </a:r>
                      <a:endParaRPr lang="en-US" sz="130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300" dirty="0">
                          <a:solidFill>
                            <a:srgbClr val="1B1F23"/>
                          </a:solidFill>
                        </a:rPr>
                        <a:t>₹2.02 cr</a:t>
                      </a:r>
                      <a:endParaRPr lang="en-US" sz="130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300" b="1" dirty="0">
                          <a:solidFill>
                            <a:srgbClr val="2E8B57"/>
                          </a:solidFill>
                        </a:rPr>
                        <a:t>Hedge</a:t>
                      </a:r>
                      <a:endParaRPr lang="en-US" sz="130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r>
              <a:tr h="438912">
                <a:tc>
                  <a:txBody>
                    <a:bodyPr/>
                    <a:lstStyle/>
                    <a:p>
                      <a:pPr indent="0" marL="0">
                        <a:buNone/>
                      </a:pPr>
                      <a:r>
                        <a:rPr lang="en-US" sz="1300" dirty="0">
                          <a:solidFill>
                            <a:srgbClr val="1B1F23"/>
                          </a:solidFill>
                        </a:rPr>
                        <a:t>FPI outflow US$5 bn</a:t>
                      </a:r>
                      <a:endParaRPr lang="en-US" sz="130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300" dirty="0">
                          <a:solidFill>
                            <a:srgbClr val="1B1F23"/>
                          </a:solidFill>
                        </a:rPr>
                        <a:t>+1.06%</a:t>
                      </a:r>
                      <a:endParaRPr lang="en-US" sz="130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300" dirty="0">
                          <a:solidFill>
                            <a:srgbClr val="1B1F23"/>
                          </a:solidFill>
                        </a:rPr>
                        <a:t>−0.42% to +2.54%</a:t>
                      </a:r>
                      <a:endParaRPr lang="en-US" sz="130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300" dirty="0">
                          <a:solidFill>
                            <a:srgbClr val="1B1F23"/>
                          </a:solidFill>
                        </a:rPr>
                        <a:t>96.52</a:t>
                      </a:r>
                      <a:endParaRPr lang="en-US" sz="130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300" dirty="0">
                          <a:solidFill>
                            <a:srgbClr val="1B1F23"/>
                          </a:solidFill>
                        </a:rPr>
                        <a:t>₹2.43 cr</a:t>
                      </a:r>
                      <a:endParaRPr lang="en-US" sz="130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300" b="1" dirty="0">
                          <a:solidFill>
                            <a:srgbClr val="2E8B57"/>
                          </a:solidFill>
                        </a:rPr>
                        <a:t>Hedge</a:t>
                      </a:r>
                      <a:endParaRPr lang="en-US" sz="130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r>
              <a:tr h="438912">
                <a:tc>
                  <a:txBody>
                    <a:bodyPr/>
                    <a:lstStyle/>
                    <a:p>
                      <a:pPr indent="0" marL="0">
                        <a:buNone/>
                      </a:pPr>
                      <a:r>
                        <a:rPr lang="en-US" sz="1300" dirty="0">
                          <a:solidFill>
                            <a:srgbClr val="1B1F23"/>
                          </a:solidFill>
                        </a:rPr>
                        <a:t>Broad dollar +3%</a:t>
                      </a:r>
                      <a:endParaRPr lang="en-US" sz="130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300" dirty="0">
                          <a:solidFill>
                            <a:srgbClr val="1B1F23"/>
                          </a:solidFill>
                        </a:rPr>
                        <a:t>+1.36%</a:t>
                      </a:r>
                      <a:endParaRPr lang="en-US" sz="130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300" dirty="0">
                          <a:solidFill>
                            <a:srgbClr val="1B1F23"/>
                          </a:solidFill>
                        </a:rPr>
                        <a:t>−0.15% to +2.87%</a:t>
                      </a:r>
                      <a:endParaRPr lang="en-US" sz="130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300" dirty="0">
                          <a:solidFill>
                            <a:srgbClr val="1B1F23"/>
                          </a:solidFill>
                        </a:rPr>
                        <a:t>96.81</a:t>
                      </a:r>
                      <a:endParaRPr lang="en-US" sz="130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300" dirty="0">
                          <a:solidFill>
                            <a:srgbClr val="1B1F23"/>
                          </a:solidFill>
                        </a:rPr>
                        <a:t>₹2.74 cr</a:t>
                      </a:r>
                      <a:endParaRPr lang="en-US" sz="130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300" b="1" dirty="0">
                          <a:solidFill>
                            <a:srgbClr val="2E8B57"/>
                          </a:solidFill>
                        </a:rPr>
                        <a:t>Hedge</a:t>
                      </a:r>
                      <a:endParaRPr lang="en-US" sz="130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r>
              <a:tr h="438912">
                <a:tc>
                  <a:txBody>
                    <a:bodyPr/>
                    <a:lstStyle/>
                    <a:p>
                      <a:pPr indent="0" marL="0">
                        <a:buNone/>
                      </a:pPr>
                      <a:r>
                        <a:rPr lang="en-US" sz="1300" dirty="0">
                          <a:solidFill>
                            <a:srgbClr val="1B1F23"/>
                          </a:solidFill>
                        </a:rPr>
                        <a:t>Combined: oil, dollar, outflow</a:t>
                      </a:r>
                      <a:endParaRPr lang="en-US" sz="130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300" dirty="0">
                          <a:solidFill>
                            <a:srgbClr val="1B1F23"/>
                          </a:solidFill>
                        </a:rPr>
                        <a:t>+1.99%</a:t>
                      </a:r>
                      <a:endParaRPr lang="en-US" sz="130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300" dirty="0">
                          <a:solidFill>
                            <a:srgbClr val="1B1F23"/>
                          </a:solidFill>
                        </a:rPr>
                        <a:t>+0.47% to +3.52%</a:t>
                      </a:r>
                      <a:endParaRPr lang="en-US" sz="130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300" dirty="0">
                          <a:solidFill>
                            <a:srgbClr val="1B1F23"/>
                          </a:solidFill>
                        </a:rPr>
                        <a:t>97.42</a:t>
                      </a:r>
                      <a:endParaRPr lang="en-US" sz="130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300" dirty="0">
                          <a:solidFill>
                            <a:srgbClr val="1B1F23"/>
                          </a:solidFill>
                        </a:rPr>
                        <a:t>₹3.36 cr</a:t>
                      </a:r>
                      <a:endParaRPr lang="en-US" sz="130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300" b="1" dirty="0">
                          <a:solidFill>
                            <a:srgbClr val="2E8B57"/>
                          </a:solidFill>
                        </a:rPr>
                        <a:t>Hedge</a:t>
                      </a:r>
                      <a:endParaRPr lang="en-US" sz="130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r>
            </a:tbl>
          </a:graphicData>
        </a:graphic>
      </p:graphicFrame>
      <p:sp>
        <p:nvSpPr>
          <p:cNvPr id="10" name="Rule card"/>
          <p:cNvSpPr/>
          <p:nvPr/>
        </p:nvSpPr>
        <p:spPr>
          <a:xfrm>
            <a:off x="457200" y="4892040"/>
            <a:ext cx="11292840" cy="1188720"/>
          </a:xfrm>
          <a:prstGeom prst="roundRect">
            <a:avLst>
              <a:gd name="adj" fmla="val 6154"/>
            </a:avLst>
          </a:prstGeom>
          <a:solidFill>
            <a:schemeClr val="bg2"/>
          </a:solidFill>
          <a:ln w="12700">
            <a:solidFill>
              <a:schemeClr val="bg2"/>
            </a:solidFill>
            <a:prstDash val="solid"/>
          </a:ln>
        </p:spPr>
      </p:sp>
      <p:sp>
        <p:nvSpPr>
          <p:cNvPr id="11" name="Text 7"/>
          <p:cNvSpPr txBox="1"/>
          <p:nvPr/>
        </p:nvSpPr>
        <p:spPr>
          <a:xfrm>
            <a:off x="640080" y="4983480"/>
            <a:ext cx="10927080" cy="1005840"/>
          </a:xfrm>
          <a:prstGeom prst="rect">
            <a:avLst/>
          </a:prstGeom>
          <a:noFill/>
          <a:ln/>
        </p:spPr>
        <p:txBody>
          <a:bodyPr wrap="square" lIns="0" tIns="0" rIns="0" bIns="0" rtlCol="0" anchor="ctr"/>
          <a:lstStyle/>
          <a:p>
            <a:pPr indent="0" marL="0">
              <a:buNone/>
            </a:pPr>
            <a:r>
              <a:rPr lang="en-US" sz="1400" b="1" dirty="0">
                <a:solidFill>
                  <a:srgbClr val="0F2A3A"/>
                </a:solidFill>
              </a:rPr>
              <a:t>Decision rule (US$10 mn payable, hedge cost 0.40% = ₹0.38 cr): </a:t>
            </a:r>
            <a:pPr indent="0" marL="0">
              <a:buNone/>
            </a:pPr>
            <a:r>
              <a:rPr lang="en-US" sz="1400" dirty="0">
                <a:solidFill>
                  <a:schemeClr val="tx1"/>
                </a:solidFill>
              </a:rPr>
              <a:t>Hedge if both the expected and the 80% worst-case extra cost exceed the hedge cost; partial hedge if only the worst case does; otherwise stay unhedged. Estimates are model ranges under assumptions, not forecasts.</a:t>
            </a:r>
            <a:endParaRPr lang="en-US" sz="1400" dirty="0"/>
          </a:p>
        </p:txBody>
      </p:sp>
      <p:sp>
        <p:nvSpPr>
          <p:cNvPr id="25" name="Slide Number Placeholder 0"/>
          <p:cNvSpPr>
            <a:spLocks noGrp="1"/>
          </p:cNvSpPr>
          <p:nvPr>
            <p:ph type="sldNum" sz="quarter" idx="4294967295"/>
          </p:nvPr>
        </p:nvSpPr>
        <p:spPr>
          <a:xfrm>
            <a:off x="10927080" y="6382512"/>
            <a:ext cx="420624" cy="329184"/>
          </a:xfrm>
          <a:prstGeom prst="rect">
            <a:avLst/>
          </a:prstGeom>
          <a:extLst>
            <a:ext uri="{C572A759-6A51-4108-AA02-DFA0A04FC94B}">
              <ma14:wrappingTextBoxFlag xmlns:ma14="http://schemas.microsoft.com/office/mac/drawingml/2011/main" val="0"/>
            </a:ext>
          </a:extLst>
        </p:spPr>
        <p:txBody>
          <a:bodyPr/>
          <a:lstStyle>
            <a:lvl1pPr>
              <a:defRPr sz="1200">
                <a:solidFill>
                  <a:srgbClr val="0F2A3A"/>
                </a:solidFill>
                <a:latin typeface="Calibri"/>
                <a:ea typeface="Calibri"/>
                <a:cs typeface="Calibri"/>
              </a:defRPr>
            </a:lvl1pPr>
          </a:lstStyle>
          <a:p>
            <a:pPr algn="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5"/>
          <p:cNvSpPr/>
          <p:nvPr>
            <p:ph idx="105" type="title" hasCustomPrompt="1"/>
          </p:nvPr>
        </p:nvSpPr>
        <p:spPr>
          <a:xfrm>
            <a:off x="365760" y="502920"/>
            <a:ext cx="10058400" cy="868680"/>
          </a:xfrm>
          <a:prstGeom prst="rect">
            <a:avLst/>
          </a:prstGeom>
          <a:noFill/>
          <a:ln/>
        </p:spPr>
        <p:txBody>
          <a:bodyPr wrap="square" lIns="0" tIns="0" rIns="0" bIns="0" rtlCol="0" anchor="ctr"/>
          <a:lstStyle/>
          <a:p>
            <a:pPr algn="l" indent="0" marL="0">
              <a:buNone/>
            </a:pPr>
            <a:r>
              <a:rPr lang="en-US" sz="2800" b="1" dirty="0">
                <a:solidFill>
                  <a:srgbClr val="FFFFFF"/>
                </a:solidFill>
              </a:rPr>
              <a:t>Live demo: the Rupee Intelligence Dashboard</a:t>
            </a:r>
            <a:endParaRPr lang="en-US" sz="2800" dirty="0"/>
          </a:p>
        </p:txBody>
      </p:sp>
      <p:sp>
        <p:nvSpPr>
          <p:cNvPr id="3" name="Current presenter"/>
          <p:cNvSpPr txBox="1"/>
          <p:nvPr/>
        </p:nvSpPr>
        <p:spPr>
          <a:xfrm>
            <a:off x="8869680" y="91440"/>
            <a:ext cx="3063240" cy="310896"/>
          </a:xfrm>
          <a:prstGeom prst="rect">
            <a:avLst/>
          </a:prstGeom>
          <a:noFill/>
          <a:ln/>
        </p:spPr>
        <p:txBody>
          <a:bodyPr wrap="square" lIns="0" tIns="0" rIns="0" bIns="0" rtlCol="0" anchor="ctr"/>
          <a:lstStyle/>
          <a:p>
            <a:pPr algn="r" indent="0" marL="0">
              <a:buNone/>
            </a:pPr>
            <a:r>
              <a:rPr lang="en-US" sz="1100" dirty="0">
                <a:solidFill>
                  <a:srgbClr val="5F6B73"/>
                </a:solidFill>
              </a:rPr>
              <a:t>Presenter: </a:t>
            </a:r>
            <a:pPr algn="r" indent="0" marL="0">
              <a:buNone/>
            </a:pPr>
            <a:r>
              <a:rPr lang="en-US" sz="1100" b="1" dirty="0">
                <a:solidFill>
                  <a:srgbClr val="0F2A3A"/>
                </a:solidFill>
              </a:rPr>
              <a:t>Ankit Singh - EMBAA25004</a:t>
            </a:r>
            <a:endParaRPr lang="en-US" sz="1100" dirty="0"/>
          </a:p>
        </p:txBody>
      </p:sp>
      <p:sp>
        <p:nvSpPr>
          <p:cNvPr id="4" name="Presenter photo placeholder"/>
          <p:cNvSpPr/>
          <p:nvPr/>
        </p:nvSpPr>
        <p:spPr>
          <a:xfrm>
            <a:off x="10744200" y="502920"/>
            <a:ext cx="1188720" cy="868680"/>
          </a:xfrm>
          <a:prstGeom prst="rect">
            <a:avLst/>
          </a:prstGeom>
          <a:solidFill>
            <a:schemeClr val="accent2"/>
          </a:solidFill>
          <a:ln w="12700">
            <a:solidFill>
              <a:schemeClr val="accent2"/>
            </a:solidFill>
            <a:prstDash val="solid"/>
          </a:ln>
        </p:spPr>
      </p:sp>
      <p:sp>
        <p:nvSpPr>
          <p:cNvPr id="5" name="Presenter initials"/>
          <p:cNvSpPr txBox="1"/>
          <p:nvPr/>
        </p:nvSpPr>
        <p:spPr>
          <a:xfrm>
            <a:off x="10744200" y="502920"/>
            <a:ext cx="1188720" cy="868680"/>
          </a:xfrm>
          <a:prstGeom prst="rect">
            <a:avLst/>
          </a:prstGeom>
          <a:noFill/>
          <a:ln/>
        </p:spPr>
        <p:txBody>
          <a:bodyPr wrap="square" lIns="0" tIns="0" rIns="0" bIns="0" rtlCol="0" anchor="ctr"/>
          <a:lstStyle/>
          <a:p>
            <a:pPr algn="ctr" indent="0" marL="0">
              <a:buNone/>
            </a:pPr>
            <a:r>
              <a:rPr lang="en-US" sz="2600" b="1" dirty="0">
                <a:solidFill>
                  <a:schemeClr val="bg1"/>
                </a:solidFill>
              </a:rPr>
              <a:t>AS</a:t>
            </a:r>
            <a:endParaRPr lang="en-US" sz="2600" dirty="0"/>
          </a:p>
        </p:txBody>
      </p:sp>
      <p:sp>
        <p:nvSpPr>
          <p:cNvPr id="6" name="Footer rule"/>
          <p:cNvSpPr/>
          <p:nvPr/>
        </p:nvSpPr>
        <p:spPr>
          <a:xfrm>
            <a:off x="274320" y="6272784"/>
            <a:ext cx="10515600" cy="0"/>
          </a:xfrm>
          <a:prstGeom prst="line">
            <a:avLst/>
          </a:prstGeom>
          <a:noFill/>
          <a:ln w="12700">
            <a:solidFill>
              <a:srgbClr val="EEF2F4"/>
            </a:solidFill>
            <a:prstDash val="solid"/>
          </a:ln>
        </p:spPr>
      </p:sp>
      <p:sp>
        <p:nvSpPr>
          <p:cNvPr id="7" name="Team footer"/>
          <p:cNvSpPr txBox="1"/>
          <p:nvPr/>
        </p:nvSpPr>
        <p:spPr>
          <a:xfrm>
            <a:off x="274320" y="6309360"/>
            <a:ext cx="10515600" cy="457200"/>
          </a:xfrm>
          <a:prstGeom prst="rect">
            <a:avLst/>
          </a:prstGeom>
          <a:noFill/>
          <a:ln/>
        </p:spPr>
        <p:txBody>
          <a:bodyPr wrap="square" lIns="0" tIns="0" rIns="0" bIns="0" rtlCol="0" anchor="ctr"/>
          <a:lstStyle/>
          <a:p>
            <a:pPr algn="ctr" indent="0" marL="0">
              <a:buNone/>
            </a:pPr>
            <a:r>
              <a:rPr lang="en-US" sz="850" b="1" u="sng" dirty="0">
                <a:solidFill>
                  <a:srgbClr val="1F5FA8"/>
                </a:solidFill>
                <a:hlinkClick r:id="rId1" invalidUrl="" action="" tgtFrame="" tooltip="Ankit Singh on LinkedIn" history="1" highlightClick="0" endSnd="0">
                  <a:extLst>
                    <a:ext uri="{A12FA001-AC4F-418D-AE19-62706E023703}">
                      <ahyp:hlinkClr xmlns:ahyp="http://schemas.microsoft.com/office/drawing/2018/hyperlinkcolor" val="tx"/>
                    </a:ext>
                  </a:extLst>
                </a:hlinkClick>
              </a:rPr>
              <a:t>Ankit Singh</a:t>
            </a:r>
            <a:pPr algn="ctr" indent="0" marL="0">
              <a:buNone/>
            </a:pPr>
            <a:r>
              <a:rPr lang="en-US" sz="850" dirty="0">
                <a:solidFill>
                  <a:srgbClr val="5F6B73"/>
                </a:solidFill>
              </a:rPr>
              <a:t> - EMBAA25004 - </a:t>
            </a:r>
            <a:pPr algn="ctr" indent="0" marL="0">
              <a:buNone/>
            </a:pPr>
            <a:r>
              <a:rPr lang="en-US" sz="850" u="sng" dirty="0">
                <a:solidFill>
                  <a:srgbClr val="1F5FA8"/>
                </a:solidFill>
                <a:hlinkClick r:id="rId2" invalidUrl="" action="" tgtFrame="" tooltip="" history="1" highlightClick="0" endSnd="0">
                  <a:extLst>
                    <a:ext uri="{A12FA001-AC4F-418D-AE19-62706E023703}">
                      <ahyp:hlinkClr xmlns:ahyp="http://schemas.microsoft.com/office/drawing/2018/hyperlinkcolor" val="tx"/>
                    </a:ext>
                  </a:extLst>
                </a:hlinkClick>
              </a:rPr>
              <a:t>ankit.embaa25004@iimkashipur.ac.in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3" invalidUrl="" action="" tgtFrame="" tooltip="Gopalakrishnan S on LinkedIn" history="1" highlightClick="0" endSnd="0">
                  <a:extLst>
                    <a:ext uri="{A12FA001-AC4F-418D-AE19-62706E023703}">
                      <ahyp:hlinkClr xmlns:ahyp="http://schemas.microsoft.com/office/drawing/2018/hyperlinkcolor" val="tx"/>
                    </a:ext>
                  </a:extLst>
                </a:hlinkClick>
              </a:rPr>
              <a:t>Gopalakrishnan S</a:t>
            </a:r>
            <a:pPr algn="ctr" indent="0" marL="0">
              <a:buNone/>
            </a:pPr>
            <a:r>
              <a:rPr lang="en-US" sz="850" dirty="0">
                <a:solidFill>
                  <a:srgbClr val="5F6B73"/>
                </a:solidFill>
              </a:rPr>
              <a:t> - EMBAA25017 - </a:t>
            </a:r>
            <a:pPr algn="ctr" indent="0" marL="0">
              <a:buNone/>
            </a:pPr>
            <a:r>
              <a:rPr lang="en-US" sz="850" u="sng" dirty="0">
                <a:solidFill>
                  <a:srgbClr val="1F5FA8"/>
                </a:solidFill>
                <a:hlinkClick r:id="rId4" invalidUrl="" action="" tgtFrame="" tooltip="" history="1" highlightClick="0" endSnd="0">
                  <a:extLst>
                    <a:ext uri="{A12FA001-AC4F-418D-AE19-62706E023703}">
                      <ahyp:hlinkClr xmlns:ahyp="http://schemas.microsoft.com/office/drawing/2018/hyperlinkcolor" val="tx"/>
                    </a:ext>
                  </a:extLst>
                </a:hlinkClick>
              </a:rPr>
              <a:t>gopalakrishnan.embaa25017@iimkashipur.ac.in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5" invalidUrl="" action="" tgtFrame="" tooltip="Murugan Perumal on LinkedIn" history="1" highlightClick="0" endSnd="0">
                  <a:extLst>
                    <a:ext uri="{A12FA001-AC4F-418D-AE19-62706E023703}">
                      <ahyp:hlinkClr xmlns:ahyp="http://schemas.microsoft.com/office/drawing/2018/hyperlinkcolor" val="tx"/>
                    </a:ext>
                  </a:extLst>
                </a:hlinkClick>
              </a:rPr>
              <a:t>Murugan Perumal</a:t>
            </a:r>
            <a:pPr algn="ctr" indent="0" marL="0">
              <a:buNone/>
            </a:pPr>
            <a:r>
              <a:rPr lang="en-US" sz="850" dirty="0">
                <a:solidFill>
                  <a:srgbClr val="5F6B73"/>
                </a:solidFill>
              </a:rPr>
              <a:t> - EMBAA25020 - </a:t>
            </a:r>
            <a:pPr algn="ctr" indent="0" marL="0">
              <a:buNone/>
            </a:pPr>
            <a:r>
              <a:rPr lang="en-US" sz="850" u="sng" dirty="0">
                <a:solidFill>
                  <a:srgbClr val="1F5FA8"/>
                </a:solidFill>
                <a:hlinkClick r:id="rId6" invalidUrl="" action="" tgtFrame="" tooltip="" history="1" highlightClick="0" endSnd="0">
                  <a:extLst>
                    <a:ext uri="{A12FA001-AC4F-418D-AE19-62706E023703}">
                      <ahyp:hlinkClr xmlns:ahyp="http://schemas.microsoft.com/office/drawing/2018/hyperlinkcolor" val="tx"/>
                    </a:ext>
                  </a:extLst>
                </a:hlinkClick>
              </a:rPr>
              <a:t>murugan.embaa25020@iimkashipur.ac.in</a:t>
            </a:r>
            <a:pPr algn="ctr" indent="0" marL="0">
              <a:buNone/>
            </a:pPr>
            <a:endParaRPr lang="en-US" sz="850" dirty="0"/>
          </a:p>
          <a:p>
            <a:pPr algn="ctr" indent="0" marL="0">
              <a:buNone/>
            </a:pPr>
            <a:r>
              <a:rPr lang="en-US" sz="850" b="1" u="sng" dirty="0">
                <a:solidFill>
                  <a:srgbClr val="1F5FA8"/>
                </a:solidFill>
                <a:hlinkClick r:id="rId7" invalidUrl="" action="" tgtFrame="" tooltip="Aswin G. on LinkedIn" history="1" highlightClick="0" endSnd="0">
                  <a:extLst>
                    <a:ext uri="{A12FA001-AC4F-418D-AE19-62706E023703}">
                      <ahyp:hlinkClr xmlns:ahyp="http://schemas.microsoft.com/office/drawing/2018/hyperlinkcolor" val="tx"/>
                    </a:ext>
                  </a:extLst>
                </a:hlinkClick>
              </a:rPr>
              <a:t>Aswin G.</a:t>
            </a:r>
            <a:pPr algn="ctr" indent="0" marL="0">
              <a:buNone/>
            </a:pPr>
            <a:r>
              <a:rPr lang="en-US" sz="850" dirty="0">
                <a:solidFill>
                  <a:srgbClr val="5F6B73"/>
                </a:solidFill>
              </a:rPr>
              <a:t> - EMBAA25008 - </a:t>
            </a:r>
            <a:pPr algn="ctr" indent="0" marL="0">
              <a:buNone/>
            </a:pPr>
            <a:r>
              <a:rPr lang="en-US" sz="850" u="sng" dirty="0">
                <a:solidFill>
                  <a:srgbClr val="1F5FA8"/>
                </a:solidFill>
                <a:hlinkClick r:id="rId8" invalidUrl="" action="" tgtFrame="" tooltip="" history="1" highlightClick="0" endSnd="0">
                  <a:extLst>
                    <a:ext uri="{A12FA001-AC4F-418D-AE19-62706E023703}">
                      <ahyp:hlinkClr xmlns:ahyp="http://schemas.microsoft.com/office/drawing/2018/hyperlinkcolor" val="tx"/>
                    </a:ext>
                  </a:extLst>
                </a:hlinkClick>
              </a:rPr>
              <a:t>aswin.embaa25008@iimkashipur.ac.in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9" invalidUrl="" action="" tgtFrame="" tooltip="Atul Kumar Singh on LinkedIn" history="1" highlightClick="0" endSnd="0">
                  <a:extLst>
                    <a:ext uri="{A12FA001-AC4F-418D-AE19-62706E023703}">
                      <ahyp:hlinkClr xmlns:ahyp="http://schemas.microsoft.com/office/drawing/2018/hyperlinkcolor" val="tx"/>
                    </a:ext>
                  </a:extLst>
                </a:hlinkClick>
              </a:rPr>
              <a:t>Atul Kumar Singh</a:t>
            </a:r>
            <a:pPr algn="ctr" indent="0" marL="0">
              <a:buNone/>
            </a:pPr>
            <a:r>
              <a:rPr lang="en-US" sz="850" dirty="0">
                <a:solidFill>
                  <a:srgbClr val="5F6B73"/>
                </a:solidFill>
              </a:rPr>
              <a:t> - EMBAA25009 - </a:t>
            </a:r>
            <a:pPr algn="ctr" indent="0" marL="0">
              <a:buNone/>
            </a:pPr>
            <a:r>
              <a:rPr lang="en-US" sz="850" u="sng" dirty="0">
                <a:solidFill>
                  <a:srgbClr val="1F5FA8"/>
                </a:solidFill>
                <a:hlinkClick r:id="rId10" invalidUrl="" action="" tgtFrame="" tooltip="" history="1" highlightClick="0" endSnd="0">
                  <a:extLst>
                    <a:ext uri="{A12FA001-AC4F-418D-AE19-62706E023703}">
                      <ahyp:hlinkClr xmlns:ahyp="http://schemas.microsoft.com/office/drawing/2018/hyperlinkcolor" val="tx"/>
                    </a:ext>
                  </a:extLst>
                </a:hlinkClick>
              </a:rPr>
              <a:t>atul.embaa25009@iimkashipur.ac.in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11" invalidUrl="" action="" tgtFrame="" tooltip="Devanshu Priyam on LinkedIn" history="1" highlightClick="0" endSnd="0">
                  <a:extLst>
                    <a:ext uri="{A12FA001-AC4F-418D-AE19-62706E023703}">
                      <ahyp:hlinkClr xmlns:ahyp="http://schemas.microsoft.com/office/drawing/2018/hyperlinkcolor" val="tx"/>
                    </a:ext>
                  </a:extLst>
                </a:hlinkClick>
              </a:rPr>
              <a:t>Devanshu Priyam</a:t>
            </a:r>
            <a:pPr algn="ctr" indent="0" marL="0">
              <a:buNone/>
            </a:pPr>
            <a:r>
              <a:rPr lang="en-US" sz="850" dirty="0">
                <a:solidFill>
                  <a:srgbClr val="5F6B73"/>
                </a:solidFill>
              </a:rPr>
              <a:t> - EMBAA25014 - </a:t>
            </a:r>
            <a:pPr algn="ctr" indent="0" marL="0">
              <a:buNone/>
            </a:pPr>
            <a:r>
              <a:rPr lang="en-US" sz="850" u="sng" dirty="0">
                <a:solidFill>
                  <a:srgbClr val="1F5FA8"/>
                </a:solidFill>
                <a:hlinkClick r:id="rId12" invalidUrl="" action="" tgtFrame="" tooltip="" history="1" highlightClick="0" endSnd="0">
                  <a:extLst>
                    <a:ext uri="{A12FA001-AC4F-418D-AE19-62706E023703}">
                      <ahyp:hlinkClr xmlns:ahyp="http://schemas.microsoft.com/office/drawing/2018/hyperlinkcolor" val="tx"/>
                    </a:ext>
                  </a:extLst>
                </a:hlinkClick>
              </a:rPr>
              <a:t>devanshu.embaa25014@iimkashipur.ac.in</a:t>
            </a:r>
            <a:endParaRPr lang="en-US" sz="850" dirty="0"/>
          </a:p>
        </p:txBody>
      </p:sp>
      <p:pic>
        <p:nvPicPr>
          <p:cNvPr id="9" name="Image 0" descr="Dashboard Overview tab: KPI cards and USD/INR since 2010 with shock bands">    </p:cNvPr>
          <p:cNvPicPr>
            <a:picLocks noChangeAspect="1"/>
          </p:cNvPicPr>
          <p:nvPr/>
        </p:nvPicPr>
        <p:blipFill>
          <a:blip r:embed="rId13"/>
          <a:stretch>
            <a:fillRect/>
          </a:stretch>
        </p:blipFill>
        <p:spPr>
          <a:xfrm>
            <a:off x="411480" y="1600200"/>
            <a:ext cx="7498080" cy="4215384"/>
          </a:xfrm>
          <a:prstGeom prst="rect">
            <a:avLst/>
          </a:prstGeom>
        </p:spPr>
      </p:pic>
      <p:sp>
        <p:nvSpPr>
          <p:cNvPr id="10" name="Screenshot frame"/>
          <p:cNvSpPr/>
          <p:nvPr/>
        </p:nvSpPr>
        <p:spPr>
          <a:xfrm>
            <a:off x="411480" y="1600200"/>
            <a:ext cx="7498080" cy="4215384"/>
          </a:xfrm>
          <a:prstGeom prst="rect">
            <a:avLst/>
          </a:prstGeom>
          <a:ln w="12700">
            <a:solidFill>
              <a:srgbClr val="D5DCE0"/>
            </a:solidFill>
            <a:prstDash val="solid"/>
          </a:ln>
        </p:spPr>
      </p:sp>
      <p:sp>
        <p:nvSpPr>
          <p:cNvPr id="11" name="Text 7"/>
          <p:cNvSpPr txBox="1"/>
          <p:nvPr/>
        </p:nvSpPr>
        <p:spPr>
          <a:xfrm>
            <a:off x="411480" y="5870448"/>
            <a:ext cx="7498080" cy="274320"/>
          </a:xfrm>
          <a:prstGeom prst="rect">
            <a:avLst/>
          </a:prstGeom>
          <a:noFill/>
          <a:ln/>
        </p:spPr>
        <p:txBody>
          <a:bodyPr wrap="square" lIns="0" tIns="0" rIns="0" bIns="0" rtlCol="0" anchor="t"/>
          <a:lstStyle/>
          <a:p>
            <a:pPr indent="0" marL="0">
              <a:buNone/>
            </a:pPr>
            <a:r>
              <a:rPr lang="en-US" sz="1000" i="1" dirty="0">
                <a:solidFill>
                  <a:schemeClr val="accent6"/>
                </a:solidFill>
              </a:rPr>
              <a:t>Overview tab, live from app.R (R Shiny + bslib + plotly), data as of 24 Oct 2026</a:t>
            </a:r>
            <a:endParaRPr lang="en-US" sz="1000" dirty="0"/>
          </a:p>
        </p:txBody>
      </p:sp>
      <p:sp>
        <p:nvSpPr>
          <p:cNvPr id="12" name="Text 8"/>
          <p:cNvSpPr txBox="1"/>
          <p:nvPr/>
        </p:nvSpPr>
        <p:spPr>
          <a:xfrm>
            <a:off x="8183880" y="1600200"/>
            <a:ext cx="3566160" cy="4114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What the treasurer sees in 5 seconds</a:t>
            </a:r>
            <a:endParaRPr lang="en-US" sz="1700" dirty="0"/>
          </a:p>
        </p:txBody>
      </p:sp>
      <p:sp>
        <p:nvSpPr>
          <p:cNvPr id="13" name="Overview point 1"/>
          <p:cNvSpPr/>
          <p:nvPr/>
        </p:nvSpPr>
        <p:spPr>
          <a:xfrm>
            <a:off x="8183880" y="2103120"/>
            <a:ext cx="3566160" cy="822960"/>
          </a:xfrm>
          <a:prstGeom prst="roundRect">
            <a:avLst>
              <a:gd name="adj" fmla="val 8889"/>
            </a:avLst>
          </a:prstGeom>
          <a:solidFill>
            <a:schemeClr val="bg2"/>
          </a:solidFill>
          <a:ln w="12700">
            <a:solidFill>
              <a:schemeClr val="bg2"/>
            </a:solidFill>
            <a:prstDash val="solid"/>
          </a:ln>
        </p:spPr>
      </p:sp>
      <p:sp>
        <p:nvSpPr>
          <p:cNvPr id="14" name="Text 10"/>
          <p:cNvSpPr txBox="1"/>
          <p:nvPr/>
        </p:nvSpPr>
        <p:spPr>
          <a:xfrm>
            <a:off x="8321040" y="2176272"/>
            <a:ext cx="3291840" cy="347472"/>
          </a:xfrm>
          <a:prstGeom prst="rect">
            <a:avLst/>
          </a:prstGeom>
          <a:noFill/>
          <a:ln/>
        </p:spPr>
        <p:txBody>
          <a:bodyPr wrap="square" lIns="0" tIns="0" rIns="0" bIns="0" rtlCol="0" anchor="t"/>
          <a:lstStyle/>
          <a:p>
            <a:pPr indent="0" marL="0">
              <a:buNone/>
            </a:pPr>
            <a:r>
              <a:rPr lang="en-US" sz="1800" b="1" dirty="0">
                <a:solidFill>
                  <a:schemeClr val="accent2"/>
                </a:solidFill>
                <a:latin typeface="Cambria" pitchFamily="34" charset="0"/>
                <a:ea typeface="Cambria" pitchFamily="34" charset="-122"/>
                <a:cs typeface="Cambria" pitchFamily="34" charset="-120"/>
              </a:rPr>
              <a:t>₹95.51</a:t>
            </a:r>
            <a:endParaRPr lang="en-US" sz="1800" dirty="0"/>
          </a:p>
        </p:txBody>
      </p:sp>
      <p:sp>
        <p:nvSpPr>
          <p:cNvPr id="15" name="Text 11"/>
          <p:cNvSpPr txBox="1"/>
          <p:nvPr/>
        </p:nvSpPr>
        <p:spPr>
          <a:xfrm>
            <a:off x="8321040" y="2523744"/>
            <a:ext cx="3337560" cy="384048"/>
          </a:xfrm>
          <a:prstGeom prst="rect">
            <a:avLst/>
          </a:prstGeom>
          <a:noFill/>
          <a:ln/>
        </p:spPr>
        <p:txBody>
          <a:bodyPr wrap="square" lIns="0" tIns="0" rIns="0" bIns="0" rtlCol="0" anchor="t"/>
          <a:lstStyle/>
          <a:p>
            <a:pPr indent="0" marL="0">
              <a:buNone/>
            </a:pPr>
            <a:r>
              <a:rPr lang="en-US" sz="1150" dirty="0">
                <a:solidFill>
                  <a:schemeClr val="tx1"/>
                </a:solidFill>
              </a:rPr>
              <a:t>Sep 2026 monthly average (FRED); live quote ₹94.94 (Yahoo)</a:t>
            </a:r>
            <a:endParaRPr lang="en-US" sz="1150" dirty="0"/>
          </a:p>
        </p:txBody>
      </p:sp>
      <p:sp>
        <p:nvSpPr>
          <p:cNvPr id="16" name="Overview point 2"/>
          <p:cNvSpPr/>
          <p:nvPr/>
        </p:nvSpPr>
        <p:spPr>
          <a:xfrm>
            <a:off x="8183880" y="3035808"/>
            <a:ext cx="3566160" cy="822960"/>
          </a:xfrm>
          <a:prstGeom prst="roundRect">
            <a:avLst>
              <a:gd name="adj" fmla="val 8889"/>
            </a:avLst>
          </a:prstGeom>
          <a:solidFill>
            <a:schemeClr val="tx2"/>
          </a:solidFill>
          <a:ln w="12700">
            <a:solidFill>
              <a:schemeClr val="tx2"/>
            </a:solidFill>
            <a:prstDash val="solid"/>
          </a:ln>
        </p:spPr>
      </p:sp>
      <p:sp>
        <p:nvSpPr>
          <p:cNvPr id="17" name="Text 13"/>
          <p:cNvSpPr txBox="1"/>
          <p:nvPr/>
        </p:nvSpPr>
        <p:spPr>
          <a:xfrm>
            <a:off x="8321040" y="3108960"/>
            <a:ext cx="3291840" cy="347472"/>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+1.84%</a:t>
            </a:r>
            <a:endParaRPr lang="en-US" sz="1800" dirty="0"/>
          </a:p>
        </p:txBody>
      </p:sp>
      <p:sp>
        <p:nvSpPr>
          <p:cNvPr id="18" name="Text 14"/>
          <p:cNvSpPr txBox="1"/>
          <p:nvPr/>
        </p:nvSpPr>
        <p:spPr>
          <a:xfrm>
            <a:off x="8321040" y="3456432"/>
            <a:ext cx="3337560" cy="384048"/>
          </a:xfrm>
          <a:prstGeom prst="rect">
            <a:avLst/>
          </a:prstGeom>
          <a:noFill/>
          <a:ln/>
        </p:spPr>
        <p:txBody>
          <a:bodyPr wrap="square" lIns="0" tIns="0" rIns="0" bIns="0" rtlCol="0" anchor="t"/>
          <a:lstStyle/>
          <a:p>
            <a:pPr indent="0" marL="0">
              <a:buNone/>
            </a:pPr>
            <a:r>
              <a:rPr lang="en-US" sz="1150" dirty="0">
                <a:solidFill>
                  <a:schemeClr val="bg1"/>
                </a:solidFill>
              </a:rPr>
              <a:t>October month-to-date model estimate; actual so far +0.52%</a:t>
            </a:r>
            <a:endParaRPr lang="en-US" sz="1150" dirty="0"/>
          </a:p>
        </p:txBody>
      </p:sp>
      <p:sp>
        <p:nvSpPr>
          <p:cNvPr id="19" name="Overview point 3"/>
          <p:cNvSpPr/>
          <p:nvPr/>
        </p:nvSpPr>
        <p:spPr>
          <a:xfrm>
            <a:off x="8183880" y="3968496"/>
            <a:ext cx="3566160" cy="822960"/>
          </a:xfrm>
          <a:prstGeom prst="roundRect">
            <a:avLst>
              <a:gd name="adj" fmla="val 8889"/>
            </a:avLst>
          </a:prstGeom>
          <a:solidFill>
            <a:schemeClr val="bg2"/>
          </a:solidFill>
          <a:ln w="12700">
            <a:solidFill>
              <a:schemeClr val="bg2"/>
            </a:solidFill>
            <a:prstDash val="solid"/>
          </a:ln>
        </p:spPr>
      </p:sp>
      <p:sp>
        <p:nvSpPr>
          <p:cNvPr id="20" name="Text 16"/>
          <p:cNvSpPr txBox="1"/>
          <p:nvPr/>
        </p:nvSpPr>
        <p:spPr>
          <a:xfrm>
            <a:off x="8321040" y="4041648"/>
            <a:ext cx="3291840" cy="347472"/>
          </a:xfrm>
          <a:prstGeom prst="rect">
            <a:avLst/>
          </a:prstGeom>
          <a:noFill/>
          <a:ln/>
        </p:spPr>
        <p:txBody>
          <a:bodyPr wrap="square" lIns="0" tIns="0" rIns="0" bIns="0" rtlCol="0" anchor="t"/>
          <a:lstStyle/>
          <a:p>
            <a:pPr indent="0" marL="0">
              <a:buNone/>
            </a:pPr>
            <a:r>
              <a:rPr lang="en-US" sz="1800" b="1" dirty="0">
                <a:solidFill>
                  <a:schemeClr val="accent2"/>
                </a:solidFill>
                <a:latin typeface="Cambria" pitchFamily="34" charset="0"/>
                <a:ea typeface="Cambria" pitchFamily="34" charset="-122"/>
                <a:cs typeface="Cambria" pitchFamily="34" charset="-120"/>
              </a:rPr>
              <a:t>US$636 bn</a:t>
            </a:r>
            <a:endParaRPr lang="en-US" sz="1800" dirty="0"/>
          </a:p>
        </p:txBody>
      </p:sp>
      <p:sp>
        <p:nvSpPr>
          <p:cNvPr id="21" name="Text 17"/>
          <p:cNvSpPr txBox="1"/>
          <p:nvPr/>
        </p:nvSpPr>
        <p:spPr>
          <a:xfrm>
            <a:off x="8321040" y="4389120"/>
            <a:ext cx="3337560" cy="384048"/>
          </a:xfrm>
          <a:prstGeom prst="rect">
            <a:avLst/>
          </a:prstGeom>
          <a:noFill/>
          <a:ln/>
        </p:spPr>
        <p:txBody>
          <a:bodyPr wrap="square" lIns="0" tIns="0" rIns="0" bIns="0" rtlCol="0" anchor="t"/>
          <a:lstStyle/>
          <a:p>
            <a:pPr indent="0" marL="0">
              <a:buNone/>
            </a:pPr>
            <a:r>
              <a:rPr lang="en-US" sz="1150" dirty="0">
                <a:solidFill>
                  <a:schemeClr val="tx1"/>
                </a:solidFill>
              </a:rPr>
              <a:t>Forex reserves excl. gold: the RBI's buffer</a:t>
            </a:r>
            <a:endParaRPr lang="en-US" sz="1150" dirty="0"/>
          </a:p>
        </p:txBody>
      </p:sp>
      <p:sp>
        <p:nvSpPr>
          <p:cNvPr id="22" name="Overview point 4"/>
          <p:cNvSpPr/>
          <p:nvPr/>
        </p:nvSpPr>
        <p:spPr>
          <a:xfrm>
            <a:off x="8183880" y="4901184"/>
            <a:ext cx="3566160" cy="822960"/>
          </a:xfrm>
          <a:prstGeom prst="roundRect">
            <a:avLst>
              <a:gd name="adj" fmla="val 8889"/>
            </a:avLst>
          </a:prstGeom>
          <a:solidFill>
            <a:schemeClr val="bg2"/>
          </a:solidFill>
          <a:ln w="12700">
            <a:solidFill>
              <a:schemeClr val="bg2"/>
            </a:solidFill>
            <a:prstDash val="solid"/>
          </a:ln>
        </p:spPr>
      </p:sp>
      <p:sp>
        <p:nvSpPr>
          <p:cNvPr id="23" name="Text 19"/>
          <p:cNvSpPr txBox="1"/>
          <p:nvPr/>
        </p:nvSpPr>
        <p:spPr>
          <a:xfrm>
            <a:off x="8321040" y="4974336"/>
            <a:ext cx="3291840" cy="347472"/>
          </a:xfrm>
          <a:prstGeom prst="rect">
            <a:avLst/>
          </a:prstGeom>
          <a:noFill/>
          <a:ln/>
        </p:spPr>
        <p:txBody>
          <a:bodyPr wrap="square" lIns="0" tIns="0" rIns="0" bIns="0" rtlCol="0" anchor="t"/>
          <a:lstStyle/>
          <a:p>
            <a:pPr indent="0" marL="0">
              <a:buNone/>
            </a:pPr>
            <a:r>
              <a:rPr lang="en-US" sz="1800" b="1" dirty="0">
                <a:solidFill>
                  <a:schemeClr val="accent2"/>
                </a:solidFill>
                <a:latin typeface="Cambria" pitchFamily="34" charset="0"/>
                <a:ea typeface="Cambria" pitchFamily="34" charset="-122"/>
                <a:cs typeface="Cambria" pitchFamily="34" charset="-120"/>
              </a:rPr>
              <a:t>6 shocks</a:t>
            </a:r>
            <a:endParaRPr lang="en-US" sz="1800" dirty="0"/>
          </a:p>
        </p:txBody>
      </p:sp>
      <p:sp>
        <p:nvSpPr>
          <p:cNvPr id="24" name="Text 20"/>
          <p:cNvSpPr txBox="1"/>
          <p:nvPr/>
        </p:nvSpPr>
        <p:spPr>
          <a:xfrm>
            <a:off x="8321040" y="5321808"/>
            <a:ext cx="3337560" cy="384048"/>
          </a:xfrm>
          <a:prstGeom prst="rect">
            <a:avLst/>
          </a:prstGeom>
          <a:noFill/>
          <a:ln/>
        </p:spPr>
        <p:txBody>
          <a:bodyPr wrap="square" lIns="0" tIns="0" rIns="0" bIns="0" rtlCol="0" anchor="t"/>
          <a:lstStyle/>
          <a:p>
            <a:pPr indent="0" marL="0">
              <a:buNone/>
            </a:pPr>
            <a:r>
              <a:rPr lang="en-US" sz="1150" dirty="0">
                <a:solidFill>
                  <a:schemeClr val="tx1"/>
                </a:solidFill>
              </a:rPr>
              <a:t>Shaded on the chart, from the 2013 taper tantrum to 2026</a:t>
            </a:r>
            <a:endParaRPr lang="en-US" sz="1150" dirty="0"/>
          </a:p>
        </p:txBody>
      </p:sp>
      <p:sp>
        <p:nvSpPr>
          <p:cNvPr id="25" name="Slide Number Placeholder 0"/>
          <p:cNvSpPr>
            <a:spLocks noGrp="1"/>
          </p:cNvSpPr>
          <p:nvPr>
            <p:ph type="sldNum" sz="quarter" idx="4294967295"/>
          </p:nvPr>
        </p:nvSpPr>
        <p:spPr>
          <a:xfrm>
            <a:off x="10927080" y="6382512"/>
            <a:ext cx="420624" cy="329184"/>
          </a:xfrm>
          <a:prstGeom prst="rect">
            <a:avLst/>
          </a:prstGeom>
          <a:extLst>
            <a:ext uri="{C572A759-6A51-4108-AA02-DFA0A04FC94B}">
              <ma14:wrappingTextBoxFlag xmlns:ma14="http://schemas.microsoft.com/office/mac/drawingml/2011/main" val="0"/>
            </a:ext>
          </a:extLst>
        </p:spPr>
        <p:txBody>
          <a:bodyPr/>
          <a:lstStyle>
            <a:lvl1pPr>
              <a:defRPr sz="1200">
                <a:solidFill>
                  <a:srgbClr val="0F2A3A"/>
                </a:solidFill>
                <a:latin typeface="Calibri"/>
                <a:ea typeface="Calibri"/>
                <a:cs typeface="Calibri"/>
              </a:defRPr>
            </a:lvl1pPr>
          </a:lstStyle>
          <a:p>
            <a:pPr algn="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5"/>
          <p:cNvSpPr/>
          <p:nvPr>
            <p:ph idx="105" type="title" hasCustomPrompt="1"/>
          </p:nvPr>
        </p:nvSpPr>
        <p:spPr>
          <a:xfrm>
            <a:off x="365760" y="502920"/>
            <a:ext cx="10058400" cy="868680"/>
          </a:xfrm>
          <a:prstGeom prst="rect">
            <a:avLst/>
          </a:prstGeom>
          <a:noFill/>
          <a:ln/>
        </p:spPr>
        <p:txBody>
          <a:bodyPr wrap="square" lIns="0" tIns="0" rIns="0" bIns="0" rtlCol="0" anchor="ctr"/>
          <a:lstStyle/>
          <a:p>
            <a:pPr algn="l" indent="0" marL="0">
              <a:buNone/>
            </a:pPr>
            <a:r>
              <a:rPr lang="en-US" sz="2800" b="1" dirty="0">
                <a:solidFill>
                  <a:srgbClr val="FFFFFF"/>
                </a:solidFill>
              </a:rPr>
              <a:t>From insight to decision in four tabs</a:t>
            </a:r>
            <a:endParaRPr lang="en-US" sz="2800" dirty="0"/>
          </a:p>
        </p:txBody>
      </p:sp>
      <p:sp>
        <p:nvSpPr>
          <p:cNvPr id="3" name="Current presenter"/>
          <p:cNvSpPr txBox="1"/>
          <p:nvPr/>
        </p:nvSpPr>
        <p:spPr>
          <a:xfrm>
            <a:off x="8869680" y="91440"/>
            <a:ext cx="3063240" cy="310896"/>
          </a:xfrm>
          <a:prstGeom prst="rect">
            <a:avLst/>
          </a:prstGeom>
          <a:noFill/>
          <a:ln/>
        </p:spPr>
        <p:txBody>
          <a:bodyPr wrap="square" lIns="0" tIns="0" rIns="0" bIns="0" rtlCol="0" anchor="ctr"/>
          <a:lstStyle/>
          <a:p>
            <a:pPr algn="r" indent="0" marL="0">
              <a:buNone/>
            </a:pPr>
            <a:r>
              <a:rPr lang="en-US" sz="1100" dirty="0">
                <a:solidFill>
                  <a:srgbClr val="5F6B73"/>
                </a:solidFill>
              </a:rPr>
              <a:t>Presenter: </a:t>
            </a:r>
            <a:pPr algn="r" indent="0" marL="0">
              <a:buNone/>
            </a:pPr>
            <a:r>
              <a:rPr lang="en-US" sz="1100" b="1" dirty="0">
                <a:solidFill>
                  <a:srgbClr val="0F2A3A"/>
                </a:solidFill>
              </a:rPr>
              <a:t>Ankit Singh - EMBAA25004</a:t>
            </a:r>
            <a:endParaRPr lang="en-US" sz="1100" dirty="0"/>
          </a:p>
        </p:txBody>
      </p:sp>
      <p:sp>
        <p:nvSpPr>
          <p:cNvPr id="4" name="Presenter photo placeholder"/>
          <p:cNvSpPr/>
          <p:nvPr/>
        </p:nvSpPr>
        <p:spPr>
          <a:xfrm>
            <a:off x="10744200" y="502920"/>
            <a:ext cx="1188720" cy="868680"/>
          </a:xfrm>
          <a:prstGeom prst="rect">
            <a:avLst/>
          </a:prstGeom>
          <a:solidFill>
            <a:schemeClr val="accent2"/>
          </a:solidFill>
          <a:ln w="12700">
            <a:solidFill>
              <a:schemeClr val="accent2"/>
            </a:solidFill>
            <a:prstDash val="solid"/>
          </a:ln>
        </p:spPr>
      </p:sp>
      <p:sp>
        <p:nvSpPr>
          <p:cNvPr id="5" name="Presenter initials"/>
          <p:cNvSpPr txBox="1"/>
          <p:nvPr/>
        </p:nvSpPr>
        <p:spPr>
          <a:xfrm>
            <a:off x="10744200" y="502920"/>
            <a:ext cx="1188720" cy="868680"/>
          </a:xfrm>
          <a:prstGeom prst="rect">
            <a:avLst/>
          </a:prstGeom>
          <a:noFill/>
          <a:ln/>
        </p:spPr>
        <p:txBody>
          <a:bodyPr wrap="square" lIns="0" tIns="0" rIns="0" bIns="0" rtlCol="0" anchor="ctr"/>
          <a:lstStyle/>
          <a:p>
            <a:pPr algn="ctr" indent="0" marL="0">
              <a:buNone/>
            </a:pPr>
            <a:r>
              <a:rPr lang="en-US" sz="2600" b="1" dirty="0">
                <a:solidFill>
                  <a:schemeClr val="bg1"/>
                </a:solidFill>
              </a:rPr>
              <a:t>AS</a:t>
            </a:r>
            <a:endParaRPr lang="en-US" sz="2600" dirty="0"/>
          </a:p>
        </p:txBody>
      </p:sp>
      <p:sp>
        <p:nvSpPr>
          <p:cNvPr id="6" name="Footer rule"/>
          <p:cNvSpPr/>
          <p:nvPr/>
        </p:nvSpPr>
        <p:spPr>
          <a:xfrm>
            <a:off x="274320" y="6272784"/>
            <a:ext cx="10515600" cy="0"/>
          </a:xfrm>
          <a:prstGeom prst="line">
            <a:avLst/>
          </a:prstGeom>
          <a:noFill/>
          <a:ln w="12700">
            <a:solidFill>
              <a:srgbClr val="EEF2F4"/>
            </a:solidFill>
            <a:prstDash val="solid"/>
          </a:ln>
        </p:spPr>
      </p:sp>
      <p:sp>
        <p:nvSpPr>
          <p:cNvPr id="7" name="Team footer"/>
          <p:cNvSpPr txBox="1"/>
          <p:nvPr/>
        </p:nvSpPr>
        <p:spPr>
          <a:xfrm>
            <a:off x="274320" y="6309360"/>
            <a:ext cx="10515600" cy="457200"/>
          </a:xfrm>
          <a:prstGeom prst="rect">
            <a:avLst/>
          </a:prstGeom>
          <a:noFill/>
          <a:ln/>
        </p:spPr>
        <p:txBody>
          <a:bodyPr wrap="square" lIns="0" tIns="0" rIns="0" bIns="0" rtlCol="0" anchor="ctr"/>
          <a:lstStyle/>
          <a:p>
            <a:pPr algn="ctr" indent="0" marL="0">
              <a:buNone/>
            </a:pPr>
            <a:r>
              <a:rPr lang="en-US" sz="850" b="1" u="sng" dirty="0">
                <a:solidFill>
                  <a:srgbClr val="1F5FA8"/>
                </a:solidFill>
                <a:hlinkClick r:id="rId1" invalidUrl="" action="" tgtFrame="" tooltip="Ankit Singh on LinkedIn" history="1" highlightClick="0" endSnd="0">
                  <a:extLst>
                    <a:ext uri="{A12FA001-AC4F-418D-AE19-62706E023703}">
                      <ahyp:hlinkClr xmlns:ahyp="http://schemas.microsoft.com/office/drawing/2018/hyperlinkcolor" val="tx"/>
                    </a:ext>
                  </a:extLst>
                </a:hlinkClick>
              </a:rPr>
              <a:t>Ankit Singh</a:t>
            </a:r>
            <a:pPr algn="ctr" indent="0" marL="0">
              <a:buNone/>
            </a:pPr>
            <a:r>
              <a:rPr lang="en-US" sz="850" dirty="0">
                <a:solidFill>
                  <a:srgbClr val="5F6B73"/>
                </a:solidFill>
              </a:rPr>
              <a:t> - EMBAA25004 - </a:t>
            </a:r>
            <a:pPr algn="ctr" indent="0" marL="0">
              <a:buNone/>
            </a:pPr>
            <a:r>
              <a:rPr lang="en-US" sz="850" u="sng" dirty="0">
                <a:solidFill>
                  <a:srgbClr val="1F5FA8"/>
                </a:solidFill>
                <a:hlinkClick r:id="rId2" invalidUrl="" action="" tgtFrame="" tooltip="" history="1" highlightClick="0" endSnd="0">
                  <a:extLst>
                    <a:ext uri="{A12FA001-AC4F-418D-AE19-62706E023703}">
                      <ahyp:hlinkClr xmlns:ahyp="http://schemas.microsoft.com/office/drawing/2018/hyperlinkcolor" val="tx"/>
                    </a:ext>
                  </a:extLst>
                </a:hlinkClick>
              </a:rPr>
              <a:t>ankit.embaa25004@iimkashipur.ac.in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3" invalidUrl="" action="" tgtFrame="" tooltip="Gopalakrishnan S on LinkedIn" history="1" highlightClick="0" endSnd="0">
                  <a:extLst>
                    <a:ext uri="{A12FA001-AC4F-418D-AE19-62706E023703}">
                      <ahyp:hlinkClr xmlns:ahyp="http://schemas.microsoft.com/office/drawing/2018/hyperlinkcolor" val="tx"/>
                    </a:ext>
                  </a:extLst>
                </a:hlinkClick>
              </a:rPr>
              <a:t>Gopalakrishnan S</a:t>
            </a:r>
            <a:pPr algn="ctr" indent="0" marL="0">
              <a:buNone/>
            </a:pPr>
            <a:r>
              <a:rPr lang="en-US" sz="850" dirty="0">
                <a:solidFill>
                  <a:srgbClr val="5F6B73"/>
                </a:solidFill>
              </a:rPr>
              <a:t> - EMBAA25017 - </a:t>
            </a:r>
            <a:pPr algn="ctr" indent="0" marL="0">
              <a:buNone/>
            </a:pPr>
            <a:r>
              <a:rPr lang="en-US" sz="850" u="sng" dirty="0">
                <a:solidFill>
                  <a:srgbClr val="1F5FA8"/>
                </a:solidFill>
                <a:hlinkClick r:id="rId4" invalidUrl="" action="" tgtFrame="" tooltip="" history="1" highlightClick="0" endSnd="0">
                  <a:extLst>
                    <a:ext uri="{A12FA001-AC4F-418D-AE19-62706E023703}">
                      <ahyp:hlinkClr xmlns:ahyp="http://schemas.microsoft.com/office/drawing/2018/hyperlinkcolor" val="tx"/>
                    </a:ext>
                  </a:extLst>
                </a:hlinkClick>
              </a:rPr>
              <a:t>gopalakrishnan.embaa25017@iimkashipur.ac.in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5" invalidUrl="" action="" tgtFrame="" tooltip="Murugan Perumal on LinkedIn" history="1" highlightClick="0" endSnd="0">
                  <a:extLst>
                    <a:ext uri="{A12FA001-AC4F-418D-AE19-62706E023703}">
                      <ahyp:hlinkClr xmlns:ahyp="http://schemas.microsoft.com/office/drawing/2018/hyperlinkcolor" val="tx"/>
                    </a:ext>
                  </a:extLst>
                </a:hlinkClick>
              </a:rPr>
              <a:t>Murugan Perumal</a:t>
            </a:r>
            <a:pPr algn="ctr" indent="0" marL="0">
              <a:buNone/>
            </a:pPr>
            <a:r>
              <a:rPr lang="en-US" sz="850" dirty="0">
                <a:solidFill>
                  <a:srgbClr val="5F6B73"/>
                </a:solidFill>
              </a:rPr>
              <a:t> - EMBAA25020 - </a:t>
            </a:r>
            <a:pPr algn="ctr" indent="0" marL="0">
              <a:buNone/>
            </a:pPr>
            <a:r>
              <a:rPr lang="en-US" sz="850" u="sng" dirty="0">
                <a:solidFill>
                  <a:srgbClr val="1F5FA8"/>
                </a:solidFill>
                <a:hlinkClick r:id="rId6" invalidUrl="" action="" tgtFrame="" tooltip="" history="1" highlightClick="0" endSnd="0">
                  <a:extLst>
                    <a:ext uri="{A12FA001-AC4F-418D-AE19-62706E023703}">
                      <ahyp:hlinkClr xmlns:ahyp="http://schemas.microsoft.com/office/drawing/2018/hyperlinkcolor" val="tx"/>
                    </a:ext>
                  </a:extLst>
                </a:hlinkClick>
              </a:rPr>
              <a:t>murugan.embaa25020@iimkashipur.ac.in</a:t>
            </a:r>
            <a:pPr algn="ctr" indent="0" marL="0">
              <a:buNone/>
            </a:pPr>
            <a:endParaRPr lang="en-US" sz="850" dirty="0"/>
          </a:p>
          <a:p>
            <a:pPr algn="ctr" indent="0" marL="0">
              <a:buNone/>
            </a:pPr>
            <a:r>
              <a:rPr lang="en-US" sz="850" b="1" u="sng" dirty="0">
                <a:solidFill>
                  <a:srgbClr val="1F5FA8"/>
                </a:solidFill>
                <a:hlinkClick r:id="rId7" invalidUrl="" action="" tgtFrame="" tooltip="Aswin G. on LinkedIn" history="1" highlightClick="0" endSnd="0">
                  <a:extLst>
                    <a:ext uri="{A12FA001-AC4F-418D-AE19-62706E023703}">
                      <ahyp:hlinkClr xmlns:ahyp="http://schemas.microsoft.com/office/drawing/2018/hyperlinkcolor" val="tx"/>
                    </a:ext>
                  </a:extLst>
                </a:hlinkClick>
              </a:rPr>
              <a:t>Aswin G.</a:t>
            </a:r>
            <a:pPr algn="ctr" indent="0" marL="0">
              <a:buNone/>
            </a:pPr>
            <a:r>
              <a:rPr lang="en-US" sz="850" dirty="0">
                <a:solidFill>
                  <a:srgbClr val="5F6B73"/>
                </a:solidFill>
              </a:rPr>
              <a:t> - EMBAA25008 - </a:t>
            </a:r>
            <a:pPr algn="ctr" indent="0" marL="0">
              <a:buNone/>
            </a:pPr>
            <a:r>
              <a:rPr lang="en-US" sz="850" u="sng" dirty="0">
                <a:solidFill>
                  <a:srgbClr val="1F5FA8"/>
                </a:solidFill>
                <a:hlinkClick r:id="rId8" invalidUrl="" action="" tgtFrame="" tooltip="" history="1" highlightClick="0" endSnd="0">
                  <a:extLst>
                    <a:ext uri="{A12FA001-AC4F-418D-AE19-62706E023703}">
                      <ahyp:hlinkClr xmlns:ahyp="http://schemas.microsoft.com/office/drawing/2018/hyperlinkcolor" val="tx"/>
                    </a:ext>
                  </a:extLst>
                </a:hlinkClick>
              </a:rPr>
              <a:t>aswin.embaa25008@iimkashipur.ac.in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9" invalidUrl="" action="" tgtFrame="" tooltip="Atul Kumar Singh on LinkedIn" history="1" highlightClick="0" endSnd="0">
                  <a:extLst>
                    <a:ext uri="{A12FA001-AC4F-418D-AE19-62706E023703}">
                      <ahyp:hlinkClr xmlns:ahyp="http://schemas.microsoft.com/office/drawing/2018/hyperlinkcolor" val="tx"/>
                    </a:ext>
                  </a:extLst>
                </a:hlinkClick>
              </a:rPr>
              <a:t>Atul Kumar Singh</a:t>
            </a:r>
            <a:pPr algn="ctr" indent="0" marL="0">
              <a:buNone/>
            </a:pPr>
            <a:r>
              <a:rPr lang="en-US" sz="850" dirty="0">
                <a:solidFill>
                  <a:srgbClr val="5F6B73"/>
                </a:solidFill>
              </a:rPr>
              <a:t> - EMBAA25009 - </a:t>
            </a:r>
            <a:pPr algn="ctr" indent="0" marL="0">
              <a:buNone/>
            </a:pPr>
            <a:r>
              <a:rPr lang="en-US" sz="850" u="sng" dirty="0">
                <a:solidFill>
                  <a:srgbClr val="1F5FA8"/>
                </a:solidFill>
                <a:hlinkClick r:id="rId10" invalidUrl="" action="" tgtFrame="" tooltip="" history="1" highlightClick="0" endSnd="0">
                  <a:extLst>
                    <a:ext uri="{A12FA001-AC4F-418D-AE19-62706E023703}">
                      <ahyp:hlinkClr xmlns:ahyp="http://schemas.microsoft.com/office/drawing/2018/hyperlinkcolor" val="tx"/>
                    </a:ext>
                  </a:extLst>
                </a:hlinkClick>
              </a:rPr>
              <a:t>atul.embaa25009@iimkashipur.ac.in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11" invalidUrl="" action="" tgtFrame="" tooltip="Devanshu Priyam on LinkedIn" history="1" highlightClick="0" endSnd="0">
                  <a:extLst>
                    <a:ext uri="{A12FA001-AC4F-418D-AE19-62706E023703}">
                      <ahyp:hlinkClr xmlns:ahyp="http://schemas.microsoft.com/office/drawing/2018/hyperlinkcolor" val="tx"/>
                    </a:ext>
                  </a:extLst>
                </a:hlinkClick>
              </a:rPr>
              <a:t>Devanshu Priyam</a:t>
            </a:r>
            <a:pPr algn="ctr" indent="0" marL="0">
              <a:buNone/>
            </a:pPr>
            <a:r>
              <a:rPr lang="en-US" sz="850" dirty="0">
                <a:solidFill>
                  <a:srgbClr val="5F6B73"/>
                </a:solidFill>
              </a:rPr>
              <a:t> - EMBAA25014 - </a:t>
            </a:r>
            <a:pPr algn="ctr" indent="0" marL="0">
              <a:buNone/>
            </a:pPr>
            <a:r>
              <a:rPr lang="en-US" sz="850" u="sng" dirty="0">
                <a:solidFill>
                  <a:srgbClr val="1F5FA8"/>
                </a:solidFill>
                <a:hlinkClick r:id="rId12" invalidUrl="" action="" tgtFrame="" tooltip="" history="1" highlightClick="0" endSnd="0">
                  <a:extLst>
                    <a:ext uri="{A12FA001-AC4F-418D-AE19-62706E023703}">
                      <ahyp:hlinkClr xmlns:ahyp="http://schemas.microsoft.com/office/drawing/2018/hyperlinkcolor" val="tx"/>
                    </a:ext>
                  </a:extLst>
                </a:hlinkClick>
              </a:rPr>
              <a:t>devanshu.embaa25014@iimkashipur.ac.in</a:t>
            </a:r>
            <a:endParaRPr lang="en-US" sz="850" dirty="0"/>
          </a:p>
        </p:txBody>
      </p:sp>
      <p:pic>
        <p:nvPicPr>
          <p:cNvPr id="9" name="Image 0" descr="Shock Explorer tab screenshot">    </p:cNvPr>
          <p:cNvPicPr>
            <a:picLocks noChangeAspect="1"/>
          </p:cNvPicPr>
          <p:nvPr/>
        </p:nvPicPr>
        <p:blipFill>
          <a:blip r:embed="rId13"/>
          <a:stretch>
            <a:fillRect/>
          </a:stretch>
        </p:blipFill>
        <p:spPr>
          <a:xfrm>
            <a:off x="411480" y="1600200"/>
            <a:ext cx="3383280" cy="1901952"/>
          </a:xfrm>
          <a:prstGeom prst="rect">
            <a:avLst/>
          </a:prstGeom>
        </p:spPr>
      </p:pic>
      <p:sp>
        <p:nvSpPr>
          <p:cNvPr id="10" name="Shock Explorer tab frame"/>
          <p:cNvSpPr/>
          <p:nvPr/>
        </p:nvSpPr>
        <p:spPr>
          <a:xfrm>
            <a:off x="411480" y="1600200"/>
            <a:ext cx="3383280" cy="1901952"/>
          </a:xfrm>
          <a:prstGeom prst="rect">
            <a:avLst/>
          </a:prstGeom>
          <a:ln w="12700">
            <a:solidFill>
              <a:srgbClr val="D5DCE0"/>
            </a:solidFill>
            <a:prstDash val="solid"/>
          </a:ln>
        </p:spPr>
      </p:sp>
      <p:sp>
        <p:nvSpPr>
          <p:cNvPr id="11" name="Number badge 1"/>
          <p:cNvSpPr/>
          <p:nvPr/>
        </p:nvSpPr>
        <p:spPr>
          <a:xfrm>
            <a:off x="3931920" y="1645920"/>
            <a:ext cx="420624" cy="420624"/>
          </a:xfrm>
          <a:prstGeom prst="ellipse">
            <a:avLst/>
          </a:prstGeom>
          <a:solidFill>
            <a:srgbClr val="2A7F8F"/>
          </a:solidFill>
          <a:ln w="12700">
            <a:solidFill>
              <a:srgbClr val="2A7F8F"/>
            </a:solidFill>
            <a:prstDash val="solid"/>
          </a:ln>
        </p:spPr>
      </p:sp>
      <p:sp>
        <p:nvSpPr>
          <p:cNvPr id="12" name="Text 8"/>
          <p:cNvSpPr txBox="1"/>
          <p:nvPr/>
        </p:nvSpPr>
        <p:spPr>
          <a:xfrm>
            <a:off x="3931920" y="1645920"/>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13" name="Text 9"/>
          <p:cNvSpPr txBox="1"/>
          <p:nvPr/>
        </p:nvSpPr>
        <p:spPr>
          <a:xfrm>
            <a:off x="4434840" y="1664208"/>
            <a:ext cx="1463040" cy="384048"/>
          </a:xfrm>
          <a:prstGeom prst="rect">
            <a:avLst/>
          </a:prstGeom>
          <a:noFill/>
          <a:ln/>
        </p:spPr>
        <p:txBody>
          <a:bodyPr wrap="square" lIns="0" tIns="0" rIns="0" bIns="0" rtlCol="0" anchor="ctr"/>
          <a:lstStyle/>
          <a:p>
            <a:pPr indent="0" marL="0">
              <a:buNone/>
            </a:pPr>
            <a:r>
              <a:rPr lang="en-US" sz="1500" b="1" dirty="0">
                <a:solidFill>
                  <a:schemeClr val="tx2"/>
                </a:solidFill>
              </a:rPr>
              <a:t>Shock Explorer</a:t>
            </a:r>
            <a:endParaRPr lang="en-US" sz="1500" dirty="0"/>
          </a:p>
        </p:txBody>
      </p:sp>
      <p:sp>
        <p:nvSpPr>
          <p:cNvPr id="14" name="Text 10"/>
          <p:cNvSpPr txBox="1"/>
          <p:nvPr/>
        </p:nvSpPr>
        <p:spPr>
          <a:xfrm>
            <a:off x="3931920" y="2167128"/>
            <a:ext cx="2011680" cy="1325880"/>
          </a:xfrm>
          <a:prstGeom prst="rect">
            <a:avLst/>
          </a:prstGeom>
          <a:noFill/>
          <a:ln/>
        </p:spPr>
        <p:txBody>
          <a:bodyPr wrap="square" lIns="0" tIns="0" rIns="0" bIns="0" rtlCol="0" anchor="t"/>
          <a:lstStyle/>
          <a:p>
            <a:pPr indent="0" marL="0">
              <a:buNone/>
            </a:pPr>
            <a:r>
              <a:rPr lang="en-US" sz="1250" dirty="0">
                <a:solidFill>
                  <a:schemeClr val="tx1"/>
                </a:solidFill>
              </a:rPr>
              <a:t>2026 West Asia window: Brent up about two-thirds, rupee up only 5%</a:t>
            </a:r>
            <a:endParaRPr lang="en-US" sz="1250" dirty="0"/>
          </a:p>
        </p:txBody>
      </p:sp>
      <p:pic>
        <p:nvPicPr>
          <p:cNvPr id="15" name="Image 1" descr="Driver Scorecard tab screenshot">    </p:cNvPr>
          <p:cNvPicPr>
            <a:picLocks noChangeAspect="1"/>
          </p:cNvPicPr>
          <p:nvPr/>
        </p:nvPicPr>
        <p:blipFill>
          <a:blip r:embed="rId14"/>
          <a:stretch>
            <a:fillRect/>
          </a:stretch>
        </p:blipFill>
        <p:spPr>
          <a:xfrm>
            <a:off x="6126480" y="1600200"/>
            <a:ext cx="3383280" cy="1901952"/>
          </a:xfrm>
          <a:prstGeom prst="rect">
            <a:avLst/>
          </a:prstGeom>
        </p:spPr>
      </p:pic>
      <p:sp>
        <p:nvSpPr>
          <p:cNvPr id="16" name="Driver Scorecard tab frame"/>
          <p:cNvSpPr/>
          <p:nvPr/>
        </p:nvSpPr>
        <p:spPr>
          <a:xfrm>
            <a:off x="6126480" y="1600200"/>
            <a:ext cx="3383280" cy="1901952"/>
          </a:xfrm>
          <a:prstGeom prst="rect">
            <a:avLst/>
          </a:prstGeom>
          <a:ln w="12700">
            <a:solidFill>
              <a:srgbClr val="D5DCE0"/>
            </a:solidFill>
            <a:prstDash val="solid"/>
          </a:ln>
        </p:spPr>
      </p:sp>
      <p:sp>
        <p:nvSpPr>
          <p:cNvPr id="17" name="Number badge 2"/>
          <p:cNvSpPr/>
          <p:nvPr/>
        </p:nvSpPr>
        <p:spPr>
          <a:xfrm>
            <a:off x="9646920" y="1645920"/>
            <a:ext cx="420624" cy="420624"/>
          </a:xfrm>
          <a:prstGeom prst="ellipse">
            <a:avLst/>
          </a:prstGeom>
          <a:solidFill>
            <a:srgbClr val="2A7F8F"/>
          </a:solidFill>
          <a:ln w="12700">
            <a:solidFill>
              <a:srgbClr val="2A7F8F"/>
            </a:solidFill>
            <a:prstDash val="solid"/>
          </a:ln>
        </p:spPr>
      </p:sp>
      <p:sp>
        <p:nvSpPr>
          <p:cNvPr id="18" name="Text 13"/>
          <p:cNvSpPr txBox="1"/>
          <p:nvPr/>
        </p:nvSpPr>
        <p:spPr>
          <a:xfrm>
            <a:off x="9646920" y="1645920"/>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9" name="Text 14"/>
          <p:cNvSpPr txBox="1"/>
          <p:nvPr/>
        </p:nvSpPr>
        <p:spPr>
          <a:xfrm>
            <a:off x="10149840" y="1664208"/>
            <a:ext cx="1463040" cy="384048"/>
          </a:xfrm>
          <a:prstGeom prst="rect">
            <a:avLst/>
          </a:prstGeom>
          <a:noFill/>
          <a:ln/>
        </p:spPr>
        <p:txBody>
          <a:bodyPr wrap="square" lIns="0" tIns="0" rIns="0" bIns="0" rtlCol="0" anchor="ctr"/>
          <a:lstStyle/>
          <a:p>
            <a:pPr indent="0" marL="0">
              <a:buNone/>
            </a:pPr>
            <a:r>
              <a:rPr lang="en-US" sz="1500" b="1" dirty="0">
                <a:solidFill>
                  <a:schemeClr val="tx2"/>
                </a:solidFill>
              </a:rPr>
              <a:t>Driver Scorecard</a:t>
            </a:r>
            <a:endParaRPr lang="en-US" sz="1500" dirty="0"/>
          </a:p>
        </p:txBody>
      </p:sp>
      <p:sp>
        <p:nvSpPr>
          <p:cNvPr id="20" name="Text 15"/>
          <p:cNvSpPr txBox="1"/>
          <p:nvPr/>
        </p:nvSpPr>
        <p:spPr>
          <a:xfrm>
            <a:off x="9646920" y="2167128"/>
            <a:ext cx="2011680" cy="1325880"/>
          </a:xfrm>
          <a:prstGeom prst="rect">
            <a:avLst/>
          </a:prstGeom>
          <a:noFill/>
          <a:ln/>
        </p:spPr>
        <p:txBody>
          <a:bodyPr wrap="square" lIns="0" tIns="0" rIns="0" bIns="0" rtlCol="0" anchor="t"/>
          <a:lstStyle/>
          <a:p>
            <a:pPr indent="0" marL="0">
              <a:buNone/>
            </a:pPr>
            <a:r>
              <a:rPr lang="en-US" sz="1250" dirty="0">
                <a:solidFill>
                  <a:schemeClr val="tx1"/>
                </a:solidFill>
              </a:rPr>
              <a:t>Only FPI and the broad dollar are significant; oil sits on zero</a:t>
            </a:r>
            <a:endParaRPr lang="en-US" sz="1250" dirty="0"/>
          </a:p>
        </p:txBody>
      </p:sp>
      <p:pic>
        <p:nvPicPr>
          <p:cNvPr id="21" name="Image 2" descr="What-if Simulator tab screenshot">    </p:cNvPr>
          <p:cNvPicPr>
            <a:picLocks noChangeAspect="1"/>
          </p:cNvPicPr>
          <p:nvPr/>
        </p:nvPicPr>
        <p:blipFill>
          <a:blip r:embed="rId15"/>
          <a:stretch>
            <a:fillRect/>
          </a:stretch>
        </p:blipFill>
        <p:spPr>
          <a:xfrm>
            <a:off x="411480" y="3703320"/>
            <a:ext cx="3383280" cy="1901952"/>
          </a:xfrm>
          <a:prstGeom prst="rect">
            <a:avLst/>
          </a:prstGeom>
        </p:spPr>
      </p:pic>
      <p:sp>
        <p:nvSpPr>
          <p:cNvPr id="22" name="What-if Simulator tab frame"/>
          <p:cNvSpPr/>
          <p:nvPr/>
        </p:nvSpPr>
        <p:spPr>
          <a:xfrm>
            <a:off x="411480" y="3703320"/>
            <a:ext cx="3383280" cy="1901952"/>
          </a:xfrm>
          <a:prstGeom prst="rect">
            <a:avLst/>
          </a:prstGeom>
          <a:ln w="12700">
            <a:solidFill>
              <a:srgbClr val="D5DCE0"/>
            </a:solidFill>
            <a:prstDash val="solid"/>
          </a:ln>
        </p:spPr>
      </p:sp>
      <p:sp>
        <p:nvSpPr>
          <p:cNvPr id="23" name="Number badge 3"/>
          <p:cNvSpPr/>
          <p:nvPr/>
        </p:nvSpPr>
        <p:spPr>
          <a:xfrm>
            <a:off x="3931920" y="3749040"/>
            <a:ext cx="420624" cy="420624"/>
          </a:xfrm>
          <a:prstGeom prst="ellipse">
            <a:avLst/>
          </a:prstGeom>
          <a:solidFill>
            <a:srgbClr val="E8871E"/>
          </a:solidFill>
          <a:ln w="12700">
            <a:solidFill>
              <a:srgbClr val="E8871E"/>
            </a:solidFill>
            <a:prstDash val="solid"/>
          </a:ln>
        </p:spPr>
      </p:sp>
      <p:sp>
        <p:nvSpPr>
          <p:cNvPr id="24" name="Text 18"/>
          <p:cNvSpPr txBox="1"/>
          <p:nvPr/>
        </p:nvSpPr>
        <p:spPr>
          <a:xfrm>
            <a:off x="3931920" y="3749040"/>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25" name="Text 19"/>
          <p:cNvSpPr txBox="1"/>
          <p:nvPr/>
        </p:nvSpPr>
        <p:spPr>
          <a:xfrm>
            <a:off x="4434840" y="3767328"/>
            <a:ext cx="1463040" cy="384048"/>
          </a:xfrm>
          <a:prstGeom prst="rect">
            <a:avLst/>
          </a:prstGeom>
          <a:noFill/>
          <a:ln/>
        </p:spPr>
        <p:txBody>
          <a:bodyPr wrap="square" lIns="0" tIns="0" rIns="0" bIns="0" rtlCol="0" anchor="ctr"/>
          <a:lstStyle/>
          <a:p>
            <a:pPr indent="0" marL="0">
              <a:buNone/>
            </a:pPr>
            <a:r>
              <a:rPr lang="en-US" sz="1500" b="1" dirty="0">
                <a:solidFill>
                  <a:schemeClr val="tx2"/>
                </a:solidFill>
              </a:rPr>
              <a:t>What-if Simulator</a:t>
            </a:r>
            <a:endParaRPr lang="en-US" sz="1500" dirty="0"/>
          </a:p>
        </p:txBody>
      </p:sp>
      <p:sp>
        <p:nvSpPr>
          <p:cNvPr id="26" name="Text 20"/>
          <p:cNvSpPr txBox="1"/>
          <p:nvPr/>
        </p:nvSpPr>
        <p:spPr>
          <a:xfrm>
            <a:off x="3931920" y="4270248"/>
            <a:ext cx="2011680" cy="1325880"/>
          </a:xfrm>
          <a:prstGeom prst="rect">
            <a:avLst/>
          </a:prstGeom>
          <a:noFill/>
          <a:ln/>
        </p:spPr>
        <p:txBody>
          <a:bodyPr wrap="square" lIns="0" tIns="0" rIns="0" bIns="0" rtlCol="0" anchor="t"/>
          <a:lstStyle/>
          <a:p>
            <a:pPr indent="0" marL="0">
              <a:buNone/>
            </a:pPr>
            <a:r>
              <a:rPr lang="en-US" sz="1250" dirty="0">
                <a:solidFill>
                  <a:schemeClr val="tx1"/>
                </a:solidFill>
              </a:rPr>
              <a:t>Oil +20%, dollar +3%, FPI −US$5 bn → +2.00%, ₹97.42 (80%: +0.47% to +3.52%)</a:t>
            </a:r>
            <a:endParaRPr lang="en-US" sz="1250" dirty="0"/>
          </a:p>
        </p:txBody>
      </p:sp>
      <p:pic>
        <p:nvPicPr>
          <p:cNvPr id="27" name="Image 3" descr="Stress Monitor tab screenshot">    </p:cNvPr>
          <p:cNvPicPr>
            <a:picLocks noChangeAspect="1"/>
          </p:cNvPicPr>
          <p:nvPr/>
        </p:nvPicPr>
        <p:blipFill>
          <a:blip r:embed="rId16"/>
          <a:stretch>
            <a:fillRect/>
          </a:stretch>
        </p:blipFill>
        <p:spPr>
          <a:xfrm>
            <a:off x="6126480" y="3703320"/>
            <a:ext cx="3383280" cy="1901952"/>
          </a:xfrm>
          <a:prstGeom prst="rect">
            <a:avLst/>
          </a:prstGeom>
        </p:spPr>
      </p:pic>
      <p:sp>
        <p:nvSpPr>
          <p:cNvPr id="28" name="Stress Monitor tab frame"/>
          <p:cNvSpPr/>
          <p:nvPr/>
        </p:nvSpPr>
        <p:spPr>
          <a:xfrm>
            <a:off x="6126480" y="3703320"/>
            <a:ext cx="3383280" cy="1901952"/>
          </a:xfrm>
          <a:prstGeom prst="rect">
            <a:avLst/>
          </a:prstGeom>
          <a:ln w="12700">
            <a:solidFill>
              <a:srgbClr val="D5DCE0"/>
            </a:solidFill>
            <a:prstDash val="solid"/>
          </a:ln>
        </p:spPr>
      </p:sp>
      <p:sp>
        <p:nvSpPr>
          <p:cNvPr id="29" name="Number badge 4"/>
          <p:cNvSpPr/>
          <p:nvPr/>
        </p:nvSpPr>
        <p:spPr>
          <a:xfrm>
            <a:off x="9646920" y="3749040"/>
            <a:ext cx="420624" cy="420624"/>
          </a:xfrm>
          <a:prstGeom prst="ellipse">
            <a:avLst/>
          </a:prstGeom>
          <a:solidFill>
            <a:srgbClr val="2A7F8F"/>
          </a:solidFill>
          <a:ln w="12700">
            <a:solidFill>
              <a:srgbClr val="2A7F8F"/>
            </a:solidFill>
            <a:prstDash val="solid"/>
          </a:ln>
        </p:spPr>
      </p:sp>
      <p:sp>
        <p:nvSpPr>
          <p:cNvPr id="30" name="Text 23"/>
          <p:cNvSpPr txBox="1"/>
          <p:nvPr/>
        </p:nvSpPr>
        <p:spPr>
          <a:xfrm>
            <a:off x="9646920" y="3749040"/>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31" name="Text 24"/>
          <p:cNvSpPr txBox="1"/>
          <p:nvPr/>
        </p:nvSpPr>
        <p:spPr>
          <a:xfrm>
            <a:off x="10149840" y="3767328"/>
            <a:ext cx="1463040" cy="384048"/>
          </a:xfrm>
          <a:prstGeom prst="rect">
            <a:avLst/>
          </a:prstGeom>
          <a:noFill/>
          <a:ln/>
        </p:spPr>
        <p:txBody>
          <a:bodyPr wrap="square" lIns="0" tIns="0" rIns="0" bIns="0" rtlCol="0" anchor="ctr"/>
          <a:lstStyle/>
          <a:p>
            <a:pPr indent="0" marL="0">
              <a:buNone/>
            </a:pPr>
            <a:r>
              <a:rPr lang="en-US" sz="1500" b="1" dirty="0">
                <a:solidFill>
                  <a:schemeClr val="tx2"/>
                </a:solidFill>
              </a:rPr>
              <a:t>Stress Monitor</a:t>
            </a:r>
            <a:endParaRPr lang="en-US" sz="1500" dirty="0"/>
          </a:p>
        </p:txBody>
      </p:sp>
      <p:sp>
        <p:nvSpPr>
          <p:cNvPr id="32" name="Text 25"/>
          <p:cNvSpPr txBox="1"/>
          <p:nvPr/>
        </p:nvSpPr>
        <p:spPr>
          <a:xfrm>
            <a:off x="9646920" y="4270248"/>
            <a:ext cx="2011680" cy="1325880"/>
          </a:xfrm>
          <a:prstGeom prst="rect">
            <a:avLst/>
          </a:prstGeom>
          <a:noFill/>
          <a:ln/>
        </p:spPr>
        <p:txBody>
          <a:bodyPr wrap="square" lIns="0" tIns="0" rIns="0" bIns="0" rtlCol="0" anchor="t"/>
          <a:lstStyle/>
          <a:p>
            <a:pPr indent="0" marL="0">
              <a:buNone/>
            </a:pPr>
            <a:r>
              <a:rPr lang="en-US" sz="1250" dirty="0">
                <a:solidFill>
                  <a:schemeClr val="tx1"/>
                </a:solidFill>
              </a:rPr>
              <a:t>Monthly P(high-pressure month), early warning or nowcast, plus test metrics</a:t>
            </a:r>
            <a:endParaRPr lang="en-US" sz="1250" dirty="0"/>
          </a:p>
        </p:txBody>
      </p:sp>
      <p:sp>
        <p:nvSpPr>
          <p:cNvPr id="33" name="Also in the app"/>
          <p:cNvSpPr/>
          <p:nvPr/>
        </p:nvSpPr>
        <p:spPr>
          <a:xfrm>
            <a:off x="411480" y="5788152"/>
            <a:ext cx="11338560" cy="411480"/>
          </a:xfrm>
          <a:prstGeom prst="roundRect">
            <a:avLst>
              <a:gd name="adj" fmla="val 17778"/>
            </a:avLst>
          </a:prstGeom>
          <a:solidFill>
            <a:schemeClr val="bg2"/>
          </a:solidFill>
          <a:ln w="12700">
            <a:solidFill>
              <a:schemeClr val="bg2"/>
            </a:solidFill>
            <a:prstDash val="solid"/>
          </a:ln>
        </p:spPr>
      </p:sp>
      <p:sp>
        <p:nvSpPr>
          <p:cNvPr id="34" name="Text 27"/>
          <p:cNvSpPr txBox="1"/>
          <p:nvPr/>
        </p:nvSpPr>
        <p:spPr>
          <a:xfrm>
            <a:off x="548640" y="5788152"/>
            <a:ext cx="11064240" cy="411480"/>
          </a:xfrm>
          <a:prstGeom prst="rect">
            <a:avLst/>
          </a:prstGeom>
          <a:noFill/>
          <a:ln/>
        </p:spPr>
        <p:txBody>
          <a:bodyPr wrap="square" lIns="0" tIns="0" rIns="0" bIns="0" rtlCol="0" anchor="ctr"/>
          <a:lstStyle/>
          <a:p>
            <a:pPr indent="0" marL="0">
              <a:buNone/>
            </a:pPr>
            <a:r>
              <a:rPr lang="en-US" sz="1200" b="1" dirty="0">
                <a:solidFill>
                  <a:srgbClr val="2A7F8F"/>
                </a:solidFill>
              </a:rPr>
              <a:t>Also: </a:t>
            </a:r>
            <a:pPr indent="0" marL="0">
              <a:buNone/>
            </a:pPr>
            <a:r>
              <a:rPr lang="en-US" sz="1200" dirty="0">
                <a:solidFill>
                  <a:schemeClr val="tx1"/>
                </a:solidFill>
              </a:rPr>
              <a:t>Regimes &amp; Rules (k-means + Apriori)  ·  Data &amp; Sources (provenance of every column)  ·  daily refresh: Rscript R/08_realtime_refresh.R  ·  run: shiny::runApp()</a:t>
            </a:r>
            <a:endParaRPr lang="en-US" sz="1200" dirty="0"/>
          </a:p>
        </p:txBody>
      </p:sp>
      <p:sp>
        <p:nvSpPr>
          <p:cNvPr id="25" name="Slide Number Placeholder 0"/>
          <p:cNvSpPr>
            <a:spLocks noGrp="1"/>
          </p:cNvSpPr>
          <p:nvPr>
            <p:ph type="sldNum" sz="quarter" idx="4294967295"/>
          </p:nvPr>
        </p:nvSpPr>
        <p:spPr>
          <a:xfrm>
            <a:off x="10927080" y="6382512"/>
            <a:ext cx="420624" cy="329184"/>
          </a:xfrm>
          <a:prstGeom prst="rect">
            <a:avLst/>
          </a:prstGeom>
          <a:extLst>
            <a:ext uri="{C572A759-6A51-4108-AA02-DFA0A04FC94B}">
              <ma14:wrappingTextBoxFlag xmlns:ma14="http://schemas.microsoft.com/office/mac/drawingml/2011/main" val="0"/>
            </a:ext>
          </a:extLst>
        </p:spPr>
        <p:txBody>
          <a:bodyPr/>
          <a:lstStyle>
            <a:lvl1pPr>
              <a:defRPr sz="1200">
                <a:solidFill>
                  <a:srgbClr val="0F2A3A"/>
                </a:solidFill>
                <a:latin typeface="Calibri"/>
                <a:ea typeface="Calibri"/>
                <a:cs typeface="Calibri"/>
              </a:defRPr>
            </a:lvl1pPr>
          </a:lstStyle>
          <a:p>
            <a:pPr algn="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5"/>
          <p:cNvSpPr/>
          <p:nvPr>
            <p:ph idx="105" type="title" hasCustomPrompt="1"/>
          </p:nvPr>
        </p:nvSpPr>
        <p:spPr>
          <a:xfrm>
            <a:off x="365760" y="502920"/>
            <a:ext cx="10058400" cy="868680"/>
          </a:xfrm>
          <a:prstGeom prst="rect">
            <a:avLst/>
          </a:prstGeom>
          <a:noFill/>
          <a:ln/>
        </p:spPr>
        <p:txBody>
          <a:bodyPr wrap="square" lIns="0" tIns="0" rIns="0" bIns="0" rtlCol="0" anchor="ctr"/>
          <a:lstStyle/>
          <a:p>
            <a:pPr algn="l" indent="0" marL="0">
              <a:buNone/>
            </a:pPr>
            <a:r>
              <a:rPr lang="en-US" sz="2800" b="1" dirty="0">
                <a:solidFill>
                  <a:srgbClr val="FFFFFF"/>
                </a:solidFill>
              </a:rPr>
              <a:t>Managerial implications for treasurers</a:t>
            </a:r>
            <a:endParaRPr lang="en-US" sz="2800" dirty="0"/>
          </a:p>
        </p:txBody>
      </p:sp>
      <p:sp>
        <p:nvSpPr>
          <p:cNvPr id="3" name="Current presenter"/>
          <p:cNvSpPr txBox="1"/>
          <p:nvPr/>
        </p:nvSpPr>
        <p:spPr>
          <a:xfrm>
            <a:off x="8869680" y="91440"/>
            <a:ext cx="3063240" cy="310896"/>
          </a:xfrm>
          <a:prstGeom prst="rect">
            <a:avLst/>
          </a:prstGeom>
          <a:noFill/>
          <a:ln/>
        </p:spPr>
        <p:txBody>
          <a:bodyPr wrap="square" lIns="0" tIns="0" rIns="0" bIns="0" rtlCol="0" anchor="ctr"/>
          <a:lstStyle/>
          <a:p>
            <a:pPr algn="r" indent="0" marL="0">
              <a:buNone/>
            </a:pPr>
            <a:r>
              <a:rPr lang="en-US" sz="1100" dirty="0">
                <a:solidFill>
                  <a:srgbClr val="5F6B73"/>
                </a:solidFill>
              </a:rPr>
              <a:t>Presenter: </a:t>
            </a:r>
            <a:pPr algn="r" indent="0" marL="0">
              <a:buNone/>
            </a:pPr>
            <a:r>
              <a:rPr lang="en-US" sz="1100" b="1" dirty="0">
                <a:solidFill>
                  <a:srgbClr val="0F2A3A"/>
                </a:solidFill>
              </a:rPr>
              <a:t>Devanshu Priyam - EMBAA25014</a:t>
            </a:r>
            <a:endParaRPr lang="en-US" sz="1100" dirty="0"/>
          </a:p>
        </p:txBody>
      </p:sp>
      <p:sp>
        <p:nvSpPr>
          <p:cNvPr id="4" name="Presenter photo placeholder"/>
          <p:cNvSpPr/>
          <p:nvPr/>
        </p:nvSpPr>
        <p:spPr>
          <a:xfrm>
            <a:off x="10744200" y="502920"/>
            <a:ext cx="1188720" cy="868680"/>
          </a:xfrm>
          <a:prstGeom prst="rect">
            <a:avLst/>
          </a:prstGeom>
          <a:solidFill>
            <a:schemeClr val="accent2"/>
          </a:solidFill>
          <a:ln w="12700">
            <a:solidFill>
              <a:schemeClr val="accent2"/>
            </a:solidFill>
            <a:prstDash val="solid"/>
          </a:ln>
        </p:spPr>
      </p:sp>
      <p:sp>
        <p:nvSpPr>
          <p:cNvPr id="5" name="Presenter initials"/>
          <p:cNvSpPr txBox="1"/>
          <p:nvPr/>
        </p:nvSpPr>
        <p:spPr>
          <a:xfrm>
            <a:off x="10744200" y="502920"/>
            <a:ext cx="1188720" cy="868680"/>
          </a:xfrm>
          <a:prstGeom prst="rect">
            <a:avLst/>
          </a:prstGeom>
          <a:noFill/>
          <a:ln/>
        </p:spPr>
        <p:txBody>
          <a:bodyPr wrap="square" lIns="0" tIns="0" rIns="0" bIns="0" rtlCol="0" anchor="ctr"/>
          <a:lstStyle/>
          <a:p>
            <a:pPr algn="ctr" indent="0" marL="0">
              <a:buNone/>
            </a:pPr>
            <a:r>
              <a:rPr lang="en-US" sz="2600" b="1" dirty="0">
                <a:solidFill>
                  <a:schemeClr val="bg1"/>
                </a:solidFill>
              </a:rPr>
              <a:t>DP</a:t>
            </a:r>
            <a:endParaRPr lang="en-US" sz="2600" dirty="0"/>
          </a:p>
        </p:txBody>
      </p:sp>
      <p:sp>
        <p:nvSpPr>
          <p:cNvPr id="6" name="Footer rule"/>
          <p:cNvSpPr/>
          <p:nvPr/>
        </p:nvSpPr>
        <p:spPr>
          <a:xfrm>
            <a:off x="274320" y="6272784"/>
            <a:ext cx="10515600" cy="0"/>
          </a:xfrm>
          <a:prstGeom prst="line">
            <a:avLst/>
          </a:prstGeom>
          <a:noFill/>
          <a:ln w="12700">
            <a:solidFill>
              <a:srgbClr val="EEF2F4"/>
            </a:solidFill>
            <a:prstDash val="solid"/>
          </a:ln>
        </p:spPr>
      </p:sp>
      <p:sp>
        <p:nvSpPr>
          <p:cNvPr id="7" name="Team footer"/>
          <p:cNvSpPr txBox="1"/>
          <p:nvPr/>
        </p:nvSpPr>
        <p:spPr>
          <a:xfrm>
            <a:off x="274320" y="6309360"/>
            <a:ext cx="10515600" cy="457200"/>
          </a:xfrm>
          <a:prstGeom prst="rect">
            <a:avLst/>
          </a:prstGeom>
          <a:noFill/>
          <a:ln/>
        </p:spPr>
        <p:txBody>
          <a:bodyPr wrap="square" lIns="0" tIns="0" rIns="0" bIns="0" rtlCol="0" anchor="ctr"/>
          <a:lstStyle/>
          <a:p>
            <a:pPr algn="ctr" indent="0" marL="0">
              <a:buNone/>
            </a:pPr>
            <a:r>
              <a:rPr lang="en-US" sz="850" b="1" u="sng" dirty="0">
                <a:solidFill>
                  <a:srgbClr val="1F5FA8"/>
                </a:solidFill>
                <a:hlinkClick r:id="rId1" invalidUrl="" action="" tgtFrame="" tooltip="Ankit Singh on LinkedIn" history="1" highlightClick="0" endSnd="0">
                  <a:extLst>
                    <a:ext uri="{A12FA001-AC4F-418D-AE19-62706E023703}">
                      <ahyp:hlinkClr xmlns:ahyp="http://schemas.microsoft.com/office/drawing/2018/hyperlinkcolor" val="tx"/>
                    </a:ext>
                  </a:extLst>
                </a:hlinkClick>
              </a:rPr>
              <a:t>Ankit Singh</a:t>
            </a:r>
            <a:pPr algn="ctr" indent="0" marL="0">
              <a:buNone/>
            </a:pPr>
            <a:r>
              <a:rPr lang="en-US" sz="850" dirty="0">
                <a:solidFill>
                  <a:srgbClr val="5F6B73"/>
                </a:solidFill>
              </a:rPr>
              <a:t> - EMBAA25004 - </a:t>
            </a:r>
            <a:pPr algn="ctr" indent="0" marL="0">
              <a:buNone/>
            </a:pPr>
            <a:r>
              <a:rPr lang="en-US" sz="850" u="sng" dirty="0">
                <a:solidFill>
                  <a:srgbClr val="1F5FA8"/>
                </a:solidFill>
                <a:hlinkClick r:id="rId2" invalidUrl="" action="" tgtFrame="" tooltip="" history="1" highlightClick="0" endSnd="0">
                  <a:extLst>
                    <a:ext uri="{A12FA001-AC4F-418D-AE19-62706E023703}">
                      <ahyp:hlinkClr xmlns:ahyp="http://schemas.microsoft.com/office/drawing/2018/hyperlinkcolor" val="tx"/>
                    </a:ext>
                  </a:extLst>
                </a:hlinkClick>
              </a:rPr>
              <a:t>ankit.embaa25004@iimkashipur.ac.in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3" invalidUrl="" action="" tgtFrame="" tooltip="Gopalakrishnan S on LinkedIn" history="1" highlightClick="0" endSnd="0">
                  <a:extLst>
                    <a:ext uri="{A12FA001-AC4F-418D-AE19-62706E023703}">
                      <ahyp:hlinkClr xmlns:ahyp="http://schemas.microsoft.com/office/drawing/2018/hyperlinkcolor" val="tx"/>
                    </a:ext>
                  </a:extLst>
                </a:hlinkClick>
              </a:rPr>
              <a:t>Gopalakrishnan S</a:t>
            </a:r>
            <a:pPr algn="ctr" indent="0" marL="0">
              <a:buNone/>
            </a:pPr>
            <a:r>
              <a:rPr lang="en-US" sz="850" dirty="0">
                <a:solidFill>
                  <a:srgbClr val="5F6B73"/>
                </a:solidFill>
              </a:rPr>
              <a:t> - EMBAA25017 - </a:t>
            </a:r>
            <a:pPr algn="ctr" indent="0" marL="0">
              <a:buNone/>
            </a:pPr>
            <a:r>
              <a:rPr lang="en-US" sz="850" u="sng" dirty="0">
                <a:solidFill>
                  <a:srgbClr val="1F5FA8"/>
                </a:solidFill>
                <a:hlinkClick r:id="rId4" invalidUrl="" action="" tgtFrame="" tooltip="" history="1" highlightClick="0" endSnd="0">
                  <a:extLst>
                    <a:ext uri="{A12FA001-AC4F-418D-AE19-62706E023703}">
                      <ahyp:hlinkClr xmlns:ahyp="http://schemas.microsoft.com/office/drawing/2018/hyperlinkcolor" val="tx"/>
                    </a:ext>
                  </a:extLst>
                </a:hlinkClick>
              </a:rPr>
              <a:t>gopalakrishnan.embaa25017@iimkashipur.ac.in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5" invalidUrl="" action="" tgtFrame="" tooltip="Murugan Perumal on LinkedIn" history="1" highlightClick="0" endSnd="0">
                  <a:extLst>
                    <a:ext uri="{A12FA001-AC4F-418D-AE19-62706E023703}">
                      <ahyp:hlinkClr xmlns:ahyp="http://schemas.microsoft.com/office/drawing/2018/hyperlinkcolor" val="tx"/>
                    </a:ext>
                  </a:extLst>
                </a:hlinkClick>
              </a:rPr>
              <a:t>Murugan Perumal</a:t>
            </a:r>
            <a:pPr algn="ctr" indent="0" marL="0">
              <a:buNone/>
            </a:pPr>
            <a:r>
              <a:rPr lang="en-US" sz="850" dirty="0">
                <a:solidFill>
                  <a:srgbClr val="5F6B73"/>
                </a:solidFill>
              </a:rPr>
              <a:t> - EMBAA25020 - </a:t>
            </a:r>
            <a:pPr algn="ctr" indent="0" marL="0">
              <a:buNone/>
            </a:pPr>
            <a:r>
              <a:rPr lang="en-US" sz="850" u="sng" dirty="0">
                <a:solidFill>
                  <a:srgbClr val="1F5FA8"/>
                </a:solidFill>
                <a:hlinkClick r:id="rId6" invalidUrl="" action="" tgtFrame="" tooltip="" history="1" highlightClick="0" endSnd="0">
                  <a:extLst>
                    <a:ext uri="{A12FA001-AC4F-418D-AE19-62706E023703}">
                      <ahyp:hlinkClr xmlns:ahyp="http://schemas.microsoft.com/office/drawing/2018/hyperlinkcolor" val="tx"/>
                    </a:ext>
                  </a:extLst>
                </a:hlinkClick>
              </a:rPr>
              <a:t>murugan.embaa25020@iimkashipur.ac.in</a:t>
            </a:r>
            <a:pPr algn="ctr" indent="0" marL="0">
              <a:buNone/>
            </a:pPr>
            <a:endParaRPr lang="en-US" sz="850" dirty="0"/>
          </a:p>
          <a:p>
            <a:pPr algn="ctr" indent="0" marL="0">
              <a:buNone/>
            </a:pPr>
            <a:r>
              <a:rPr lang="en-US" sz="850" b="1" u="sng" dirty="0">
                <a:solidFill>
                  <a:srgbClr val="1F5FA8"/>
                </a:solidFill>
                <a:hlinkClick r:id="rId7" invalidUrl="" action="" tgtFrame="" tooltip="Aswin G. on LinkedIn" history="1" highlightClick="0" endSnd="0">
                  <a:extLst>
                    <a:ext uri="{A12FA001-AC4F-418D-AE19-62706E023703}">
                      <ahyp:hlinkClr xmlns:ahyp="http://schemas.microsoft.com/office/drawing/2018/hyperlinkcolor" val="tx"/>
                    </a:ext>
                  </a:extLst>
                </a:hlinkClick>
              </a:rPr>
              <a:t>Aswin G.</a:t>
            </a:r>
            <a:pPr algn="ctr" indent="0" marL="0">
              <a:buNone/>
            </a:pPr>
            <a:r>
              <a:rPr lang="en-US" sz="850" dirty="0">
                <a:solidFill>
                  <a:srgbClr val="5F6B73"/>
                </a:solidFill>
              </a:rPr>
              <a:t> - EMBAA25008 - </a:t>
            </a:r>
            <a:pPr algn="ctr" indent="0" marL="0">
              <a:buNone/>
            </a:pPr>
            <a:r>
              <a:rPr lang="en-US" sz="850" u="sng" dirty="0">
                <a:solidFill>
                  <a:srgbClr val="1F5FA8"/>
                </a:solidFill>
                <a:hlinkClick r:id="rId8" invalidUrl="" action="" tgtFrame="" tooltip="" history="1" highlightClick="0" endSnd="0">
                  <a:extLst>
                    <a:ext uri="{A12FA001-AC4F-418D-AE19-62706E023703}">
                      <ahyp:hlinkClr xmlns:ahyp="http://schemas.microsoft.com/office/drawing/2018/hyperlinkcolor" val="tx"/>
                    </a:ext>
                  </a:extLst>
                </a:hlinkClick>
              </a:rPr>
              <a:t>aswin.embaa25008@iimkashipur.ac.in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9" invalidUrl="" action="" tgtFrame="" tooltip="Atul Kumar Singh on LinkedIn" history="1" highlightClick="0" endSnd="0">
                  <a:extLst>
                    <a:ext uri="{A12FA001-AC4F-418D-AE19-62706E023703}">
                      <ahyp:hlinkClr xmlns:ahyp="http://schemas.microsoft.com/office/drawing/2018/hyperlinkcolor" val="tx"/>
                    </a:ext>
                  </a:extLst>
                </a:hlinkClick>
              </a:rPr>
              <a:t>Atul Kumar Singh</a:t>
            </a:r>
            <a:pPr algn="ctr" indent="0" marL="0">
              <a:buNone/>
            </a:pPr>
            <a:r>
              <a:rPr lang="en-US" sz="850" dirty="0">
                <a:solidFill>
                  <a:srgbClr val="5F6B73"/>
                </a:solidFill>
              </a:rPr>
              <a:t> - EMBAA25009 - </a:t>
            </a:r>
            <a:pPr algn="ctr" indent="0" marL="0">
              <a:buNone/>
            </a:pPr>
            <a:r>
              <a:rPr lang="en-US" sz="850" u="sng" dirty="0">
                <a:solidFill>
                  <a:srgbClr val="1F5FA8"/>
                </a:solidFill>
                <a:hlinkClick r:id="rId10" invalidUrl="" action="" tgtFrame="" tooltip="" history="1" highlightClick="0" endSnd="0">
                  <a:extLst>
                    <a:ext uri="{A12FA001-AC4F-418D-AE19-62706E023703}">
                      <ahyp:hlinkClr xmlns:ahyp="http://schemas.microsoft.com/office/drawing/2018/hyperlinkcolor" val="tx"/>
                    </a:ext>
                  </a:extLst>
                </a:hlinkClick>
              </a:rPr>
              <a:t>atul.embaa25009@iimkashipur.ac.in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11" invalidUrl="" action="" tgtFrame="" tooltip="Devanshu Priyam on LinkedIn" history="1" highlightClick="0" endSnd="0">
                  <a:extLst>
                    <a:ext uri="{A12FA001-AC4F-418D-AE19-62706E023703}">
                      <ahyp:hlinkClr xmlns:ahyp="http://schemas.microsoft.com/office/drawing/2018/hyperlinkcolor" val="tx"/>
                    </a:ext>
                  </a:extLst>
                </a:hlinkClick>
              </a:rPr>
              <a:t>Devanshu Priyam</a:t>
            </a:r>
            <a:pPr algn="ctr" indent="0" marL="0">
              <a:buNone/>
            </a:pPr>
            <a:r>
              <a:rPr lang="en-US" sz="850" dirty="0">
                <a:solidFill>
                  <a:srgbClr val="5F6B73"/>
                </a:solidFill>
              </a:rPr>
              <a:t> - EMBAA25014 - </a:t>
            </a:r>
            <a:pPr algn="ctr" indent="0" marL="0">
              <a:buNone/>
            </a:pPr>
            <a:r>
              <a:rPr lang="en-US" sz="850" u="sng" dirty="0">
                <a:solidFill>
                  <a:srgbClr val="1F5FA8"/>
                </a:solidFill>
                <a:hlinkClick r:id="rId12" invalidUrl="" action="" tgtFrame="" tooltip="" history="1" highlightClick="0" endSnd="0">
                  <a:extLst>
                    <a:ext uri="{A12FA001-AC4F-418D-AE19-62706E023703}">
                      <ahyp:hlinkClr xmlns:ahyp="http://schemas.microsoft.com/office/drawing/2018/hyperlinkcolor" val="tx"/>
                    </a:ext>
                  </a:extLst>
                </a:hlinkClick>
              </a:rPr>
              <a:t>devanshu.embaa25014@iimkashipur.ac.in</a:t>
            </a:r>
            <a:endParaRPr lang="en-US" sz="850" dirty="0"/>
          </a:p>
        </p:txBody>
      </p:sp>
      <p:sp>
        <p:nvSpPr>
          <p:cNvPr id="9" name="Implication 1"/>
          <p:cNvSpPr/>
          <p:nvPr/>
        </p:nvSpPr>
        <p:spPr>
          <a:xfrm>
            <a:off x="457200" y="1645920"/>
            <a:ext cx="5532120" cy="1280160"/>
          </a:xfrm>
          <a:prstGeom prst="roundRect">
            <a:avLst>
              <a:gd name="adj" fmla="val 5714"/>
            </a:avLst>
          </a:prstGeom>
          <a:solidFill>
            <a:schemeClr val="bg2"/>
          </a:solidFill>
          <a:ln w="12700">
            <a:solidFill>
              <a:schemeClr val="bg2"/>
            </a:solidFill>
            <a:prstDash val="solid"/>
          </a:ln>
        </p:spPr>
      </p:sp>
      <p:sp>
        <p:nvSpPr>
          <p:cNvPr id="10" name="Number badge 1"/>
          <p:cNvSpPr/>
          <p:nvPr/>
        </p:nvSpPr>
        <p:spPr>
          <a:xfrm>
            <a:off x="640080" y="1874520"/>
            <a:ext cx="420624" cy="420624"/>
          </a:xfrm>
          <a:prstGeom prst="ellipse">
            <a:avLst/>
          </a:prstGeom>
          <a:solidFill>
            <a:srgbClr val="E8871E"/>
          </a:solidFill>
          <a:ln w="12700">
            <a:solidFill>
              <a:srgbClr val="E8871E"/>
            </a:solidFill>
            <a:prstDash val="solid"/>
          </a:ln>
        </p:spPr>
      </p:sp>
      <p:sp>
        <p:nvSpPr>
          <p:cNvPr id="11" name="Text 8"/>
          <p:cNvSpPr txBox="1"/>
          <p:nvPr/>
        </p:nvSpPr>
        <p:spPr>
          <a:xfrm>
            <a:off x="640080" y="1874520"/>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12" name="Text 9"/>
          <p:cNvSpPr txBox="1"/>
          <p:nvPr/>
        </p:nvSpPr>
        <p:spPr>
          <a:xfrm>
            <a:off x="1234440" y="1810512"/>
            <a:ext cx="4572000" cy="1005840"/>
          </a:xfrm>
          <a:prstGeom prst="rect">
            <a:avLst/>
          </a:prstGeom>
          <a:noFill/>
          <a:ln/>
        </p:spPr>
        <p:txBody>
          <a:bodyPr wrap="square" lIns="0" tIns="0" rIns="0" bIns="0" rtlCol="0" anchor="t"/>
          <a:lstStyle/>
          <a:p>
            <a:pPr indent="0" marL="0">
              <a:buNone/>
            </a:pPr>
            <a:r>
              <a:rPr lang="en-US" sz="1600" b="1" dirty="0">
                <a:solidFill>
                  <a:srgbClr val="0F2A3A"/>
                </a:solidFill>
              </a:rPr>
              <a:t>Don't hedge because oil rose</a:t>
            </a:r>
            <a:endParaRPr lang="en-US" sz="1500" dirty="0"/>
          </a:p>
          <a:p>
            <a:pPr indent="0" marL="0">
              <a:buNone/>
            </a:pPr>
            <a:r>
              <a:rPr lang="en-US" sz="1400" dirty="0">
                <a:solidFill>
                  <a:schemeClr val="tx1"/>
                </a:solidFill>
              </a:rPr>
              <a:t>Oil has no significant partial link to the rupee in monthly data.</a:t>
            </a:r>
            <a:endParaRPr lang="en-US" sz="1500" dirty="0"/>
          </a:p>
        </p:txBody>
      </p:sp>
      <p:sp>
        <p:nvSpPr>
          <p:cNvPr id="13" name="Implication 2"/>
          <p:cNvSpPr/>
          <p:nvPr/>
        </p:nvSpPr>
        <p:spPr>
          <a:xfrm>
            <a:off x="6172200" y="1645920"/>
            <a:ext cx="5532120" cy="1280160"/>
          </a:xfrm>
          <a:prstGeom prst="roundRect">
            <a:avLst>
              <a:gd name="adj" fmla="val 5714"/>
            </a:avLst>
          </a:prstGeom>
          <a:solidFill>
            <a:schemeClr val="bg2"/>
          </a:solidFill>
          <a:ln w="12700">
            <a:solidFill>
              <a:schemeClr val="bg2"/>
            </a:solidFill>
            <a:prstDash val="solid"/>
          </a:ln>
        </p:spPr>
      </p:sp>
      <p:sp>
        <p:nvSpPr>
          <p:cNvPr id="14" name="Number badge 2"/>
          <p:cNvSpPr/>
          <p:nvPr/>
        </p:nvSpPr>
        <p:spPr>
          <a:xfrm>
            <a:off x="6355080" y="1874520"/>
            <a:ext cx="420624" cy="420624"/>
          </a:xfrm>
          <a:prstGeom prst="ellipse">
            <a:avLst/>
          </a:prstGeom>
          <a:solidFill>
            <a:srgbClr val="E8871E"/>
          </a:solidFill>
          <a:ln w="12700">
            <a:solidFill>
              <a:srgbClr val="E8871E"/>
            </a:solidFill>
            <a:prstDash val="solid"/>
          </a:ln>
        </p:spPr>
      </p:sp>
      <p:sp>
        <p:nvSpPr>
          <p:cNvPr id="15" name="Text 12"/>
          <p:cNvSpPr txBox="1"/>
          <p:nvPr/>
        </p:nvSpPr>
        <p:spPr>
          <a:xfrm>
            <a:off x="6355080" y="1874520"/>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6" name="Text 13"/>
          <p:cNvSpPr txBox="1"/>
          <p:nvPr/>
        </p:nvSpPr>
        <p:spPr>
          <a:xfrm>
            <a:off x="6949440" y="1810512"/>
            <a:ext cx="4572000" cy="1005840"/>
          </a:xfrm>
          <a:prstGeom prst="rect">
            <a:avLst/>
          </a:prstGeom>
          <a:noFill/>
          <a:ln/>
        </p:spPr>
        <p:txBody>
          <a:bodyPr wrap="square" lIns="0" tIns="0" rIns="0" bIns="0" rtlCol="0" anchor="t"/>
          <a:lstStyle/>
          <a:p>
            <a:pPr indent="0" marL="0">
              <a:buNone/>
            </a:pPr>
            <a:r>
              <a:rPr lang="en-US" sz="1600" b="1" dirty="0">
                <a:solidFill>
                  <a:srgbClr val="0F2A3A"/>
                </a:solidFill>
              </a:rPr>
              <a:t>Watch FPI and the dollar index</a:t>
            </a:r>
            <a:endParaRPr lang="en-US" sz="1500" dirty="0"/>
          </a:p>
          <a:p>
            <a:pPr indent="0" marL="0">
              <a:buNone/>
            </a:pPr>
            <a:r>
              <a:rPr lang="en-US" sz="1400" dirty="0">
                <a:solidFill>
                  <a:schemeClr val="tx1"/>
                </a:solidFill>
              </a:rPr>
              <a:t>They carry most of the explained variation; track them daily.</a:t>
            </a:r>
            <a:endParaRPr lang="en-US" sz="1500" dirty="0"/>
          </a:p>
        </p:txBody>
      </p:sp>
      <p:sp>
        <p:nvSpPr>
          <p:cNvPr id="17" name="Implication 3"/>
          <p:cNvSpPr/>
          <p:nvPr/>
        </p:nvSpPr>
        <p:spPr>
          <a:xfrm>
            <a:off x="457200" y="3108960"/>
            <a:ext cx="5532120" cy="1280160"/>
          </a:xfrm>
          <a:prstGeom prst="roundRect">
            <a:avLst>
              <a:gd name="adj" fmla="val 5714"/>
            </a:avLst>
          </a:prstGeom>
          <a:solidFill>
            <a:schemeClr val="bg2"/>
          </a:solidFill>
          <a:ln w="12700">
            <a:solidFill>
              <a:schemeClr val="bg2"/>
            </a:solidFill>
            <a:prstDash val="solid"/>
          </a:ln>
        </p:spPr>
      </p:sp>
      <p:sp>
        <p:nvSpPr>
          <p:cNvPr id="18" name="Number badge 3"/>
          <p:cNvSpPr/>
          <p:nvPr/>
        </p:nvSpPr>
        <p:spPr>
          <a:xfrm>
            <a:off x="640080" y="3337560"/>
            <a:ext cx="420624" cy="420624"/>
          </a:xfrm>
          <a:prstGeom prst="ellipse">
            <a:avLst/>
          </a:prstGeom>
          <a:solidFill>
            <a:srgbClr val="2A7F8F"/>
          </a:solidFill>
          <a:ln w="12700">
            <a:solidFill>
              <a:srgbClr val="2A7F8F"/>
            </a:solidFill>
            <a:prstDash val="solid"/>
          </a:ln>
        </p:spPr>
      </p:sp>
      <p:sp>
        <p:nvSpPr>
          <p:cNvPr id="19" name="Text 16"/>
          <p:cNvSpPr txBox="1"/>
          <p:nvPr/>
        </p:nvSpPr>
        <p:spPr>
          <a:xfrm>
            <a:off x="640080" y="3337560"/>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20" name="Text 17"/>
          <p:cNvSpPr txBox="1"/>
          <p:nvPr/>
        </p:nvSpPr>
        <p:spPr>
          <a:xfrm>
            <a:off x="1234440" y="3273552"/>
            <a:ext cx="4572000" cy="1005840"/>
          </a:xfrm>
          <a:prstGeom prst="rect">
            <a:avLst/>
          </a:prstGeom>
          <a:noFill/>
          <a:ln/>
        </p:spPr>
        <p:txBody>
          <a:bodyPr wrap="square" lIns="0" tIns="0" rIns="0" bIns="0" rtlCol="0" anchor="t"/>
          <a:lstStyle/>
          <a:p>
            <a:pPr indent="0" marL="0">
              <a:buNone/>
            </a:pPr>
            <a:r>
              <a:rPr lang="en-US" sz="1600" b="1" dirty="0">
                <a:solidFill>
                  <a:srgbClr val="0F2A3A"/>
                </a:solidFill>
              </a:rPr>
              <a:t>Plan with scenarios, not forecasts</a:t>
            </a:r>
            <a:endParaRPr lang="en-US" sz="1500" dirty="0"/>
          </a:p>
          <a:p>
            <a:pPr indent="0" marL="0">
              <a:buNone/>
            </a:pPr>
            <a:r>
              <a:rPr lang="en-US" sz="1400" dirty="0">
                <a:solidFill>
                  <a:schemeClr val="tx1"/>
                </a:solidFill>
              </a:rPr>
              <a:t>No model beat naive; set hedge-ratio policy and stress-test it.</a:t>
            </a:r>
            <a:endParaRPr lang="en-US" sz="1500" dirty="0"/>
          </a:p>
        </p:txBody>
      </p:sp>
      <p:sp>
        <p:nvSpPr>
          <p:cNvPr id="21" name="Implication 4"/>
          <p:cNvSpPr/>
          <p:nvPr/>
        </p:nvSpPr>
        <p:spPr>
          <a:xfrm>
            <a:off x="6172200" y="3108960"/>
            <a:ext cx="5532120" cy="1280160"/>
          </a:xfrm>
          <a:prstGeom prst="roundRect">
            <a:avLst>
              <a:gd name="adj" fmla="val 5714"/>
            </a:avLst>
          </a:prstGeom>
          <a:solidFill>
            <a:schemeClr val="bg2"/>
          </a:solidFill>
          <a:ln w="12700">
            <a:solidFill>
              <a:schemeClr val="bg2"/>
            </a:solidFill>
            <a:prstDash val="solid"/>
          </a:ln>
        </p:spPr>
      </p:sp>
      <p:sp>
        <p:nvSpPr>
          <p:cNvPr id="22" name="Number badge 4"/>
          <p:cNvSpPr/>
          <p:nvPr/>
        </p:nvSpPr>
        <p:spPr>
          <a:xfrm>
            <a:off x="6355080" y="3337560"/>
            <a:ext cx="420624" cy="420624"/>
          </a:xfrm>
          <a:prstGeom prst="ellipse">
            <a:avLst/>
          </a:prstGeom>
          <a:solidFill>
            <a:srgbClr val="2A7F8F"/>
          </a:solidFill>
          <a:ln w="12700">
            <a:solidFill>
              <a:srgbClr val="2A7F8F"/>
            </a:solidFill>
            <a:prstDash val="solid"/>
          </a:ln>
        </p:spPr>
      </p:sp>
      <p:sp>
        <p:nvSpPr>
          <p:cNvPr id="23" name="Text 20"/>
          <p:cNvSpPr txBox="1"/>
          <p:nvPr/>
        </p:nvSpPr>
        <p:spPr>
          <a:xfrm>
            <a:off x="6355080" y="3337560"/>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24" name="Text 21"/>
          <p:cNvSpPr txBox="1"/>
          <p:nvPr/>
        </p:nvSpPr>
        <p:spPr>
          <a:xfrm>
            <a:off x="6949440" y="3273552"/>
            <a:ext cx="4572000" cy="1005840"/>
          </a:xfrm>
          <a:prstGeom prst="rect">
            <a:avLst/>
          </a:prstGeom>
          <a:noFill/>
          <a:ln/>
        </p:spPr>
        <p:txBody>
          <a:bodyPr wrap="square" lIns="0" tIns="0" rIns="0" bIns="0" rtlCol="0" anchor="t"/>
          <a:lstStyle/>
          <a:p>
            <a:pPr indent="0" marL="0">
              <a:buNone/>
            </a:pPr>
            <a:r>
              <a:rPr lang="en-US" sz="1600" b="1" dirty="0">
                <a:solidFill>
                  <a:srgbClr val="0F2A3A"/>
                </a:solidFill>
              </a:rPr>
              <a:t>Falling reserves = early warning</a:t>
            </a:r>
            <a:endParaRPr lang="en-US" sz="1500" dirty="0"/>
          </a:p>
          <a:p>
            <a:pPr indent="0" marL="0">
              <a:buNone/>
            </a:pPr>
            <a:r>
              <a:rPr lang="en-US" sz="1400" dirty="0">
                <a:solidFill>
                  <a:schemeClr val="tx1"/>
                </a:solidFill>
              </a:rPr>
              <a:t>The one lagged signal that predicts next-month pressure.</a:t>
            </a:r>
            <a:endParaRPr lang="en-US" sz="1500" dirty="0"/>
          </a:p>
        </p:txBody>
      </p:sp>
      <p:sp>
        <p:nvSpPr>
          <p:cNvPr id="25" name="Implication 5"/>
          <p:cNvSpPr/>
          <p:nvPr/>
        </p:nvSpPr>
        <p:spPr>
          <a:xfrm>
            <a:off x="457200" y="4572000"/>
            <a:ext cx="5532120" cy="1280160"/>
          </a:xfrm>
          <a:prstGeom prst="roundRect">
            <a:avLst>
              <a:gd name="adj" fmla="val 5714"/>
            </a:avLst>
          </a:prstGeom>
          <a:solidFill>
            <a:schemeClr val="bg2"/>
          </a:solidFill>
          <a:ln w="12700">
            <a:solidFill>
              <a:schemeClr val="bg2"/>
            </a:solidFill>
            <a:prstDash val="solid"/>
          </a:ln>
        </p:spPr>
      </p:sp>
      <p:sp>
        <p:nvSpPr>
          <p:cNvPr id="26" name="Number badge 5"/>
          <p:cNvSpPr/>
          <p:nvPr/>
        </p:nvSpPr>
        <p:spPr>
          <a:xfrm>
            <a:off x="640080" y="4800600"/>
            <a:ext cx="420624" cy="420624"/>
          </a:xfrm>
          <a:prstGeom prst="ellipse">
            <a:avLst/>
          </a:prstGeom>
          <a:solidFill>
            <a:srgbClr val="2A7F8F"/>
          </a:solidFill>
          <a:ln w="12700">
            <a:solidFill>
              <a:srgbClr val="2A7F8F"/>
            </a:solidFill>
            <a:prstDash val="solid"/>
          </a:ln>
        </p:spPr>
      </p:sp>
      <p:sp>
        <p:nvSpPr>
          <p:cNvPr id="27" name="Text 24"/>
          <p:cNvSpPr txBox="1"/>
          <p:nvPr/>
        </p:nvSpPr>
        <p:spPr>
          <a:xfrm>
            <a:off x="640080" y="4800600"/>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28" name="Text 25"/>
          <p:cNvSpPr txBox="1"/>
          <p:nvPr/>
        </p:nvSpPr>
        <p:spPr>
          <a:xfrm>
            <a:off x="1234440" y="4736592"/>
            <a:ext cx="4572000" cy="1005840"/>
          </a:xfrm>
          <a:prstGeom prst="rect">
            <a:avLst/>
          </a:prstGeom>
          <a:noFill/>
          <a:ln/>
        </p:spPr>
        <p:txBody>
          <a:bodyPr wrap="square" lIns="0" tIns="0" rIns="0" bIns="0" rtlCol="0" anchor="t"/>
          <a:lstStyle/>
          <a:p>
            <a:pPr indent="0" marL="0">
              <a:buNone/>
            </a:pPr>
            <a:r>
              <a:rPr lang="en-US" sz="1600" b="1" dirty="0">
                <a:solidFill>
                  <a:srgbClr val="0F2A3A"/>
                </a:solidFill>
              </a:rPr>
              <a:t>Combined shocks are the real risk</a:t>
            </a:r>
            <a:endParaRPr lang="en-US" sz="1500" dirty="0"/>
          </a:p>
          <a:p>
            <a:pPr indent="0" marL="0">
              <a:buNone/>
            </a:pPr>
            <a:r>
              <a:rPr lang="en-US" sz="1400" dirty="0">
                <a:solidFill>
                  <a:schemeClr val="tx1"/>
                </a:solidFill>
              </a:rPr>
              <a:t>Outflow + dollar + oil: +2%, range wholly above zero → hedge.</a:t>
            </a:r>
            <a:endParaRPr lang="en-US" sz="1500" dirty="0"/>
          </a:p>
        </p:txBody>
      </p:sp>
      <p:sp>
        <p:nvSpPr>
          <p:cNvPr id="29" name="Implication 6"/>
          <p:cNvSpPr/>
          <p:nvPr/>
        </p:nvSpPr>
        <p:spPr>
          <a:xfrm>
            <a:off x="6172200" y="4572000"/>
            <a:ext cx="5532120" cy="1280160"/>
          </a:xfrm>
          <a:prstGeom prst="roundRect">
            <a:avLst>
              <a:gd name="adj" fmla="val 5714"/>
            </a:avLst>
          </a:prstGeom>
          <a:solidFill>
            <a:schemeClr val="bg2"/>
          </a:solidFill>
          <a:ln w="12700">
            <a:solidFill>
              <a:schemeClr val="bg2"/>
            </a:solidFill>
            <a:prstDash val="solid"/>
          </a:ln>
        </p:spPr>
      </p:sp>
      <p:sp>
        <p:nvSpPr>
          <p:cNvPr id="30" name="Number badge 6"/>
          <p:cNvSpPr/>
          <p:nvPr/>
        </p:nvSpPr>
        <p:spPr>
          <a:xfrm>
            <a:off x="6355080" y="4800600"/>
            <a:ext cx="420624" cy="420624"/>
          </a:xfrm>
          <a:prstGeom prst="ellipse">
            <a:avLst/>
          </a:prstGeom>
          <a:solidFill>
            <a:srgbClr val="2A7F8F"/>
          </a:solidFill>
          <a:ln w="12700">
            <a:solidFill>
              <a:srgbClr val="2A7F8F"/>
            </a:solidFill>
            <a:prstDash val="solid"/>
          </a:ln>
        </p:spPr>
      </p:sp>
      <p:sp>
        <p:nvSpPr>
          <p:cNvPr id="31" name="Text 28"/>
          <p:cNvSpPr txBox="1"/>
          <p:nvPr/>
        </p:nvSpPr>
        <p:spPr>
          <a:xfrm>
            <a:off x="6355080" y="4800600"/>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6</a:t>
            </a:r>
            <a:endParaRPr lang="en-US" sz="1500" dirty="0"/>
          </a:p>
        </p:txBody>
      </p:sp>
      <p:sp>
        <p:nvSpPr>
          <p:cNvPr id="32" name="Text 29"/>
          <p:cNvSpPr txBox="1"/>
          <p:nvPr/>
        </p:nvSpPr>
        <p:spPr>
          <a:xfrm>
            <a:off x="6949440" y="4736592"/>
            <a:ext cx="4572000" cy="1005840"/>
          </a:xfrm>
          <a:prstGeom prst="rect">
            <a:avLst/>
          </a:prstGeom>
          <a:noFill/>
          <a:ln/>
        </p:spPr>
        <p:txBody>
          <a:bodyPr wrap="square" lIns="0" tIns="0" rIns="0" bIns="0" rtlCol="0" anchor="t"/>
          <a:lstStyle/>
          <a:p>
            <a:pPr indent="0" marL="0">
              <a:buNone/>
            </a:pPr>
            <a:r>
              <a:rPr lang="en-US" sz="1600" b="1" dirty="0">
                <a:solidFill>
                  <a:srgbClr val="0F2A3A"/>
                </a:solidFill>
              </a:rPr>
              <a:t>Govern the data</a:t>
            </a:r>
            <a:endParaRPr lang="en-US" sz="1500" dirty="0"/>
          </a:p>
          <a:p>
            <a:pPr indent="0" marL="0">
              <a:buNone/>
            </a:pPr>
            <a:r>
              <a:rPr lang="en-US" sz="1400" dirty="0">
                <a:solidFill>
                  <a:schemeClr val="tx1"/>
                </a:solidFill>
              </a:rPr>
              <a:t>Provenance, no gap-filling and an unseen test set build CFO trust.</a:t>
            </a:r>
            <a:endParaRPr lang="en-US" sz="1500" dirty="0"/>
          </a:p>
        </p:txBody>
      </p:sp>
      <p:sp>
        <p:nvSpPr>
          <p:cNvPr id="25" name="Slide Number Placeholder 0"/>
          <p:cNvSpPr>
            <a:spLocks noGrp="1"/>
          </p:cNvSpPr>
          <p:nvPr>
            <p:ph type="sldNum" sz="quarter" idx="4294967295"/>
          </p:nvPr>
        </p:nvSpPr>
        <p:spPr>
          <a:xfrm>
            <a:off x="10927080" y="6382512"/>
            <a:ext cx="420624" cy="329184"/>
          </a:xfrm>
          <a:prstGeom prst="rect">
            <a:avLst/>
          </a:prstGeom>
          <a:extLst>
            <a:ext uri="{C572A759-6A51-4108-AA02-DFA0A04FC94B}">
              <ma14:wrappingTextBoxFlag xmlns:ma14="http://schemas.microsoft.com/office/mac/drawingml/2011/main" val="0"/>
            </a:ext>
          </a:extLst>
        </p:spPr>
        <p:txBody>
          <a:bodyPr/>
          <a:lstStyle>
            <a:lvl1pPr>
              <a:defRPr sz="1200">
                <a:solidFill>
                  <a:srgbClr val="0F2A3A"/>
                </a:solidFill>
                <a:latin typeface="Calibri"/>
                <a:ea typeface="Calibri"/>
                <a:cs typeface="Calibri"/>
              </a:defRPr>
            </a:lvl1pPr>
          </a:lstStyle>
          <a:p>
            <a:pPr algn="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5"/>
          <p:cNvSpPr/>
          <p:nvPr>
            <p:ph idx="105" type="title" hasCustomPrompt="1"/>
          </p:nvPr>
        </p:nvSpPr>
        <p:spPr>
          <a:xfrm>
            <a:off x="365760" y="502920"/>
            <a:ext cx="10058400" cy="868680"/>
          </a:xfrm>
          <a:prstGeom prst="rect">
            <a:avLst/>
          </a:prstGeom>
          <a:noFill/>
          <a:ln/>
        </p:spPr>
        <p:txBody>
          <a:bodyPr wrap="square" lIns="0" tIns="0" rIns="0" bIns="0" rtlCol="0" anchor="ctr"/>
          <a:lstStyle/>
          <a:p>
            <a:pPr algn="l" indent="0" marL="0">
              <a:buNone/>
            </a:pPr>
            <a:r>
              <a:rPr lang="en-US" sz="2800" b="1" dirty="0">
                <a:solidFill>
                  <a:srgbClr val="FFFFFF"/>
                </a:solidFill>
              </a:rPr>
              <a:t>Limitations and future work</a:t>
            </a:r>
            <a:endParaRPr lang="en-US" sz="2800" dirty="0"/>
          </a:p>
        </p:txBody>
      </p:sp>
      <p:sp>
        <p:nvSpPr>
          <p:cNvPr id="3" name="Current presenter"/>
          <p:cNvSpPr txBox="1"/>
          <p:nvPr/>
        </p:nvSpPr>
        <p:spPr>
          <a:xfrm>
            <a:off x="8869680" y="91440"/>
            <a:ext cx="3063240" cy="310896"/>
          </a:xfrm>
          <a:prstGeom prst="rect">
            <a:avLst/>
          </a:prstGeom>
          <a:noFill/>
          <a:ln/>
        </p:spPr>
        <p:txBody>
          <a:bodyPr wrap="square" lIns="0" tIns="0" rIns="0" bIns="0" rtlCol="0" anchor="ctr"/>
          <a:lstStyle/>
          <a:p>
            <a:pPr algn="r" indent="0" marL="0">
              <a:buNone/>
            </a:pPr>
            <a:r>
              <a:rPr lang="en-US" sz="1100" dirty="0">
                <a:solidFill>
                  <a:srgbClr val="5F6B73"/>
                </a:solidFill>
              </a:rPr>
              <a:t>Presenter: </a:t>
            </a:r>
            <a:pPr algn="r" indent="0" marL="0">
              <a:buNone/>
            </a:pPr>
            <a:r>
              <a:rPr lang="en-US" sz="1100" b="1" dirty="0">
                <a:solidFill>
                  <a:srgbClr val="0F2A3A"/>
                </a:solidFill>
              </a:rPr>
              <a:t>Devanshu Priyam - EMBAA25014</a:t>
            </a:r>
            <a:endParaRPr lang="en-US" sz="1100" dirty="0"/>
          </a:p>
        </p:txBody>
      </p:sp>
      <p:sp>
        <p:nvSpPr>
          <p:cNvPr id="4" name="Presenter photo placeholder"/>
          <p:cNvSpPr/>
          <p:nvPr/>
        </p:nvSpPr>
        <p:spPr>
          <a:xfrm>
            <a:off x="10744200" y="502920"/>
            <a:ext cx="1188720" cy="868680"/>
          </a:xfrm>
          <a:prstGeom prst="rect">
            <a:avLst/>
          </a:prstGeom>
          <a:solidFill>
            <a:schemeClr val="accent2"/>
          </a:solidFill>
          <a:ln w="12700">
            <a:solidFill>
              <a:schemeClr val="accent2"/>
            </a:solidFill>
            <a:prstDash val="solid"/>
          </a:ln>
        </p:spPr>
      </p:sp>
      <p:sp>
        <p:nvSpPr>
          <p:cNvPr id="5" name="Presenter initials"/>
          <p:cNvSpPr txBox="1"/>
          <p:nvPr/>
        </p:nvSpPr>
        <p:spPr>
          <a:xfrm>
            <a:off x="10744200" y="502920"/>
            <a:ext cx="1188720" cy="868680"/>
          </a:xfrm>
          <a:prstGeom prst="rect">
            <a:avLst/>
          </a:prstGeom>
          <a:noFill/>
          <a:ln/>
        </p:spPr>
        <p:txBody>
          <a:bodyPr wrap="square" lIns="0" tIns="0" rIns="0" bIns="0" rtlCol="0" anchor="ctr"/>
          <a:lstStyle/>
          <a:p>
            <a:pPr algn="ctr" indent="0" marL="0">
              <a:buNone/>
            </a:pPr>
            <a:r>
              <a:rPr lang="en-US" sz="2600" b="1" dirty="0">
                <a:solidFill>
                  <a:schemeClr val="bg1"/>
                </a:solidFill>
              </a:rPr>
              <a:t>DP</a:t>
            </a:r>
            <a:endParaRPr lang="en-US" sz="2600" dirty="0"/>
          </a:p>
        </p:txBody>
      </p:sp>
      <p:sp>
        <p:nvSpPr>
          <p:cNvPr id="6" name="Footer rule"/>
          <p:cNvSpPr/>
          <p:nvPr/>
        </p:nvSpPr>
        <p:spPr>
          <a:xfrm>
            <a:off x="274320" y="6272784"/>
            <a:ext cx="10515600" cy="0"/>
          </a:xfrm>
          <a:prstGeom prst="line">
            <a:avLst/>
          </a:prstGeom>
          <a:noFill/>
          <a:ln w="12700">
            <a:solidFill>
              <a:srgbClr val="EEF2F4"/>
            </a:solidFill>
            <a:prstDash val="solid"/>
          </a:ln>
        </p:spPr>
      </p:sp>
      <p:sp>
        <p:nvSpPr>
          <p:cNvPr id="7" name="Team footer"/>
          <p:cNvSpPr txBox="1"/>
          <p:nvPr/>
        </p:nvSpPr>
        <p:spPr>
          <a:xfrm>
            <a:off x="274320" y="6309360"/>
            <a:ext cx="10515600" cy="457200"/>
          </a:xfrm>
          <a:prstGeom prst="rect">
            <a:avLst/>
          </a:prstGeom>
          <a:noFill/>
          <a:ln/>
        </p:spPr>
        <p:txBody>
          <a:bodyPr wrap="square" lIns="0" tIns="0" rIns="0" bIns="0" rtlCol="0" anchor="ctr"/>
          <a:lstStyle/>
          <a:p>
            <a:pPr algn="ctr" indent="0" marL="0">
              <a:buNone/>
            </a:pPr>
            <a:r>
              <a:rPr lang="en-US" sz="850" b="1" u="sng" dirty="0">
                <a:solidFill>
                  <a:srgbClr val="1F5FA8"/>
                </a:solidFill>
                <a:hlinkClick r:id="rId1" invalidUrl="" action="" tgtFrame="" tooltip="Ankit Singh on LinkedIn" history="1" highlightClick="0" endSnd="0">
                  <a:extLst>
                    <a:ext uri="{A12FA001-AC4F-418D-AE19-62706E023703}">
                      <ahyp:hlinkClr xmlns:ahyp="http://schemas.microsoft.com/office/drawing/2018/hyperlinkcolor" val="tx"/>
                    </a:ext>
                  </a:extLst>
                </a:hlinkClick>
              </a:rPr>
              <a:t>Ankit Singh</a:t>
            </a:r>
            <a:pPr algn="ctr" indent="0" marL="0">
              <a:buNone/>
            </a:pPr>
            <a:r>
              <a:rPr lang="en-US" sz="850" dirty="0">
                <a:solidFill>
                  <a:srgbClr val="5F6B73"/>
                </a:solidFill>
              </a:rPr>
              <a:t> - EMBAA25004 - </a:t>
            </a:r>
            <a:pPr algn="ctr" indent="0" marL="0">
              <a:buNone/>
            </a:pPr>
            <a:r>
              <a:rPr lang="en-US" sz="850" u="sng" dirty="0">
                <a:solidFill>
                  <a:srgbClr val="1F5FA8"/>
                </a:solidFill>
                <a:hlinkClick r:id="rId2" invalidUrl="" action="" tgtFrame="" tooltip="" history="1" highlightClick="0" endSnd="0">
                  <a:extLst>
                    <a:ext uri="{A12FA001-AC4F-418D-AE19-62706E023703}">
                      <ahyp:hlinkClr xmlns:ahyp="http://schemas.microsoft.com/office/drawing/2018/hyperlinkcolor" val="tx"/>
                    </a:ext>
                  </a:extLst>
                </a:hlinkClick>
              </a:rPr>
              <a:t>ankit.embaa25004@iimkashipur.ac.in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3" invalidUrl="" action="" tgtFrame="" tooltip="Gopalakrishnan S on LinkedIn" history="1" highlightClick="0" endSnd="0">
                  <a:extLst>
                    <a:ext uri="{A12FA001-AC4F-418D-AE19-62706E023703}">
                      <ahyp:hlinkClr xmlns:ahyp="http://schemas.microsoft.com/office/drawing/2018/hyperlinkcolor" val="tx"/>
                    </a:ext>
                  </a:extLst>
                </a:hlinkClick>
              </a:rPr>
              <a:t>Gopalakrishnan S</a:t>
            </a:r>
            <a:pPr algn="ctr" indent="0" marL="0">
              <a:buNone/>
            </a:pPr>
            <a:r>
              <a:rPr lang="en-US" sz="850" dirty="0">
                <a:solidFill>
                  <a:srgbClr val="5F6B73"/>
                </a:solidFill>
              </a:rPr>
              <a:t> - EMBAA25017 - </a:t>
            </a:r>
            <a:pPr algn="ctr" indent="0" marL="0">
              <a:buNone/>
            </a:pPr>
            <a:r>
              <a:rPr lang="en-US" sz="850" u="sng" dirty="0">
                <a:solidFill>
                  <a:srgbClr val="1F5FA8"/>
                </a:solidFill>
                <a:hlinkClick r:id="rId4" invalidUrl="" action="" tgtFrame="" tooltip="" history="1" highlightClick="0" endSnd="0">
                  <a:extLst>
                    <a:ext uri="{A12FA001-AC4F-418D-AE19-62706E023703}">
                      <ahyp:hlinkClr xmlns:ahyp="http://schemas.microsoft.com/office/drawing/2018/hyperlinkcolor" val="tx"/>
                    </a:ext>
                  </a:extLst>
                </a:hlinkClick>
              </a:rPr>
              <a:t>gopalakrishnan.embaa25017@iimkashipur.ac.in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5" invalidUrl="" action="" tgtFrame="" tooltip="Murugan Perumal on LinkedIn" history="1" highlightClick="0" endSnd="0">
                  <a:extLst>
                    <a:ext uri="{A12FA001-AC4F-418D-AE19-62706E023703}">
                      <ahyp:hlinkClr xmlns:ahyp="http://schemas.microsoft.com/office/drawing/2018/hyperlinkcolor" val="tx"/>
                    </a:ext>
                  </a:extLst>
                </a:hlinkClick>
              </a:rPr>
              <a:t>Murugan Perumal</a:t>
            </a:r>
            <a:pPr algn="ctr" indent="0" marL="0">
              <a:buNone/>
            </a:pPr>
            <a:r>
              <a:rPr lang="en-US" sz="850" dirty="0">
                <a:solidFill>
                  <a:srgbClr val="5F6B73"/>
                </a:solidFill>
              </a:rPr>
              <a:t> - EMBAA25020 - </a:t>
            </a:r>
            <a:pPr algn="ctr" indent="0" marL="0">
              <a:buNone/>
            </a:pPr>
            <a:r>
              <a:rPr lang="en-US" sz="850" u="sng" dirty="0">
                <a:solidFill>
                  <a:srgbClr val="1F5FA8"/>
                </a:solidFill>
                <a:hlinkClick r:id="rId6" invalidUrl="" action="" tgtFrame="" tooltip="" history="1" highlightClick="0" endSnd="0">
                  <a:extLst>
                    <a:ext uri="{A12FA001-AC4F-418D-AE19-62706E023703}">
                      <ahyp:hlinkClr xmlns:ahyp="http://schemas.microsoft.com/office/drawing/2018/hyperlinkcolor" val="tx"/>
                    </a:ext>
                  </a:extLst>
                </a:hlinkClick>
              </a:rPr>
              <a:t>murugan.embaa25020@iimkashipur.ac.in</a:t>
            </a:r>
            <a:pPr algn="ctr" indent="0" marL="0">
              <a:buNone/>
            </a:pPr>
            <a:endParaRPr lang="en-US" sz="850" dirty="0"/>
          </a:p>
          <a:p>
            <a:pPr algn="ctr" indent="0" marL="0">
              <a:buNone/>
            </a:pPr>
            <a:r>
              <a:rPr lang="en-US" sz="850" b="1" u="sng" dirty="0">
                <a:solidFill>
                  <a:srgbClr val="1F5FA8"/>
                </a:solidFill>
                <a:hlinkClick r:id="rId7" invalidUrl="" action="" tgtFrame="" tooltip="Aswin G. on LinkedIn" history="1" highlightClick="0" endSnd="0">
                  <a:extLst>
                    <a:ext uri="{A12FA001-AC4F-418D-AE19-62706E023703}">
                      <ahyp:hlinkClr xmlns:ahyp="http://schemas.microsoft.com/office/drawing/2018/hyperlinkcolor" val="tx"/>
                    </a:ext>
                  </a:extLst>
                </a:hlinkClick>
              </a:rPr>
              <a:t>Aswin G.</a:t>
            </a:r>
            <a:pPr algn="ctr" indent="0" marL="0">
              <a:buNone/>
            </a:pPr>
            <a:r>
              <a:rPr lang="en-US" sz="850" dirty="0">
                <a:solidFill>
                  <a:srgbClr val="5F6B73"/>
                </a:solidFill>
              </a:rPr>
              <a:t> - EMBAA25008 - </a:t>
            </a:r>
            <a:pPr algn="ctr" indent="0" marL="0">
              <a:buNone/>
            </a:pPr>
            <a:r>
              <a:rPr lang="en-US" sz="850" u="sng" dirty="0">
                <a:solidFill>
                  <a:srgbClr val="1F5FA8"/>
                </a:solidFill>
                <a:hlinkClick r:id="rId8" invalidUrl="" action="" tgtFrame="" tooltip="" history="1" highlightClick="0" endSnd="0">
                  <a:extLst>
                    <a:ext uri="{A12FA001-AC4F-418D-AE19-62706E023703}">
                      <ahyp:hlinkClr xmlns:ahyp="http://schemas.microsoft.com/office/drawing/2018/hyperlinkcolor" val="tx"/>
                    </a:ext>
                  </a:extLst>
                </a:hlinkClick>
              </a:rPr>
              <a:t>aswin.embaa25008@iimkashipur.ac.in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9" invalidUrl="" action="" tgtFrame="" tooltip="Atul Kumar Singh on LinkedIn" history="1" highlightClick="0" endSnd="0">
                  <a:extLst>
                    <a:ext uri="{A12FA001-AC4F-418D-AE19-62706E023703}">
                      <ahyp:hlinkClr xmlns:ahyp="http://schemas.microsoft.com/office/drawing/2018/hyperlinkcolor" val="tx"/>
                    </a:ext>
                  </a:extLst>
                </a:hlinkClick>
              </a:rPr>
              <a:t>Atul Kumar Singh</a:t>
            </a:r>
            <a:pPr algn="ctr" indent="0" marL="0">
              <a:buNone/>
            </a:pPr>
            <a:r>
              <a:rPr lang="en-US" sz="850" dirty="0">
                <a:solidFill>
                  <a:srgbClr val="5F6B73"/>
                </a:solidFill>
              </a:rPr>
              <a:t> - EMBAA25009 - </a:t>
            </a:r>
            <a:pPr algn="ctr" indent="0" marL="0">
              <a:buNone/>
            </a:pPr>
            <a:r>
              <a:rPr lang="en-US" sz="850" u="sng" dirty="0">
                <a:solidFill>
                  <a:srgbClr val="1F5FA8"/>
                </a:solidFill>
                <a:hlinkClick r:id="rId10" invalidUrl="" action="" tgtFrame="" tooltip="" history="1" highlightClick="0" endSnd="0">
                  <a:extLst>
                    <a:ext uri="{A12FA001-AC4F-418D-AE19-62706E023703}">
                      <ahyp:hlinkClr xmlns:ahyp="http://schemas.microsoft.com/office/drawing/2018/hyperlinkcolor" val="tx"/>
                    </a:ext>
                  </a:extLst>
                </a:hlinkClick>
              </a:rPr>
              <a:t>atul.embaa25009@iimkashipur.ac.in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11" invalidUrl="" action="" tgtFrame="" tooltip="Devanshu Priyam on LinkedIn" history="1" highlightClick="0" endSnd="0">
                  <a:extLst>
                    <a:ext uri="{A12FA001-AC4F-418D-AE19-62706E023703}">
                      <ahyp:hlinkClr xmlns:ahyp="http://schemas.microsoft.com/office/drawing/2018/hyperlinkcolor" val="tx"/>
                    </a:ext>
                  </a:extLst>
                </a:hlinkClick>
              </a:rPr>
              <a:t>Devanshu Priyam</a:t>
            </a:r>
            <a:pPr algn="ctr" indent="0" marL="0">
              <a:buNone/>
            </a:pPr>
            <a:r>
              <a:rPr lang="en-US" sz="850" dirty="0">
                <a:solidFill>
                  <a:srgbClr val="5F6B73"/>
                </a:solidFill>
              </a:rPr>
              <a:t> - EMBAA25014 - </a:t>
            </a:r>
            <a:pPr algn="ctr" indent="0" marL="0">
              <a:buNone/>
            </a:pPr>
            <a:r>
              <a:rPr lang="en-US" sz="850" u="sng" dirty="0">
                <a:solidFill>
                  <a:srgbClr val="1F5FA8"/>
                </a:solidFill>
                <a:hlinkClick r:id="rId12" invalidUrl="" action="" tgtFrame="" tooltip="" history="1" highlightClick="0" endSnd="0">
                  <a:extLst>
                    <a:ext uri="{A12FA001-AC4F-418D-AE19-62706E023703}">
                      <ahyp:hlinkClr xmlns:ahyp="http://schemas.microsoft.com/office/drawing/2018/hyperlinkcolor" val="tx"/>
                    </a:ext>
                  </a:extLst>
                </a:hlinkClick>
              </a:rPr>
              <a:t>devanshu.embaa25014@iimkashipur.ac.in</a:t>
            </a:r>
            <a:endParaRPr lang="en-US" sz="850" dirty="0"/>
          </a:p>
        </p:txBody>
      </p:sp>
      <p:sp>
        <p:nvSpPr>
          <p:cNvPr id="9" name="Text 6"/>
          <p:cNvSpPr txBox="1"/>
          <p:nvPr/>
        </p:nvSpPr>
        <p:spPr>
          <a:xfrm>
            <a:off x="457200" y="1645920"/>
            <a:ext cx="548640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Limitations</a:t>
            </a:r>
            <a:endParaRPr lang="en-US" sz="2000" dirty="0"/>
          </a:p>
        </p:txBody>
      </p:sp>
      <p:sp>
        <p:nvSpPr>
          <p:cNvPr id="10" name="Text 7"/>
          <p:cNvSpPr txBox="1"/>
          <p:nvPr/>
        </p:nvSpPr>
        <p:spPr>
          <a:xfrm>
            <a:off x="457200" y="2148840"/>
            <a:ext cx="5486400" cy="38404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Association, not causation: FPI and the rupee affect each other</a:t>
            </a:r>
            <a:endParaRPr lang="en-US" sz="1500" dirty="0"/>
          </a:p>
          <a:p>
            <a:pPr marL="342900" indent="-342900">
              <a:spcAft>
                <a:spcPts val="800"/>
              </a:spcAft>
              <a:buSzPct val="100000"/>
              <a:buChar char="•"/>
            </a:pPr>
            <a:r>
              <a:rPr lang="en-US" sz="1500" dirty="0">
                <a:solidFill>
                  <a:schemeClr val="tx1"/>
                </a:solidFill>
              </a:rPr>
              <a:t>Rate gap and trade balance show reverse-causation signs (defence of a falling rupee)</a:t>
            </a:r>
            <a:endParaRPr lang="en-US" sz="1500" dirty="0"/>
          </a:p>
          <a:p>
            <a:pPr marL="342900" indent="-342900">
              <a:spcAft>
                <a:spcPts val="800"/>
              </a:spcAft>
              <a:buSzPct val="100000"/>
              <a:buChar char="•"/>
            </a:pPr>
            <a:r>
              <a:rPr lang="en-US" sz="1500" dirty="0">
                <a:solidFill>
                  <a:schemeClr val="tx1"/>
                </a:solidFill>
              </a:rPr>
              <a:t>Structural breaks across taper, COVID and 2022–26</a:t>
            </a:r>
            <a:endParaRPr lang="en-US" sz="1500" dirty="0"/>
          </a:p>
          <a:p>
            <a:pPr marL="342900" indent="-342900">
              <a:spcAft>
                <a:spcPts val="800"/>
              </a:spcAft>
              <a:buSzPct val="100000"/>
              <a:buChar char="•"/>
            </a:pPr>
            <a:r>
              <a:rPr lang="en-US" sz="1500" dirty="0">
                <a:solidFill>
                  <a:schemeClr val="tx1"/>
                </a:solidFill>
              </a:rPr>
              <a:t>Proxies: interbank rate for RBI repo; reserves for intervention</a:t>
            </a:r>
            <a:endParaRPr lang="en-US" sz="1500" dirty="0"/>
          </a:p>
          <a:p>
            <a:pPr marL="342900" indent="-342900">
              <a:spcAft>
                <a:spcPts val="800"/>
              </a:spcAft>
              <a:buSzPct val="100000"/>
              <a:buChar char="•"/>
            </a:pPr>
            <a:r>
              <a:rPr lang="en-US" sz="1500" dirty="0">
                <a:solidFill>
                  <a:schemeClr val="tx1"/>
                </a:solidFill>
              </a:rPr>
              <a:t>Monthly data smooths daily shocks; only 5 stress months in test</a:t>
            </a:r>
            <a:endParaRPr lang="en-US" sz="1500" dirty="0"/>
          </a:p>
        </p:txBody>
      </p:sp>
      <p:sp>
        <p:nvSpPr>
          <p:cNvPr id="11" name="Future work card"/>
          <p:cNvSpPr/>
          <p:nvPr/>
        </p:nvSpPr>
        <p:spPr>
          <a:xfrm>
            <a:off x="6309360" y="1645920"/>
            <a:ext cx="5440680" cy="2743200"/>
          </a:xfrm>
          <a:prstGeom prst="roundRect">
            <a:avLst>
              <a:gd name="adj" fmla="val 2667"/>
            </a:avLst>
          </a:prstGeom>
          <a:solidFill>
            <a:schemeClr val="bg2"/>
          </a:solidFill>
          <a:ln w="12700">
            <a:solidFill>
              <a:schemeClr val="bg2"/>
            </a:solidFill>
            <a:prstDash val="solid"/>
          </a:ln>
        </p:spPr>
      </p:sp>
      <p:sp>
        <p:nvSpPr>
          <p:cNvPr id="12" name="Text 9"/>
          <p:cNvSpPr txBox="1"/>
          <p:nvPr/>
        </p:nvSpPr>
        <p:spPr>
          <a:xfrm>
            <a:off x="6537960" y="1783080"/>
            <a:ext cx="5029200" cy="411480"/>
          </a:xfrm>
          <a:prstGeom prst="rect">
            <a:avLst/>
          </a:prstGeom>
          <a:noFill/>
          <a:ln/>
        </p:spPr>
        <p:txBody>
          <a:bodyPr wrap="square" lIns="0" tIns="0" rIns="0" bIns="0" rtlCol="0" anchor="t"/>
          <a:lstStyle/>
          <a:p>
            <a:pPr indent="0" marL="0">
              <a:buNone/>
            </a:pPr>
            <a:r>
              <a:rPr lang="en-US" sz="2000" b="1" dirty="0">
                <a:solidFill>
                  <a:schemeClr val="accent2"/>
                </a:solidFill>
                <a:latin typeface="Cambria" pitchFamily="34" charset="0"/>
                <a:ea typeface="Cambria" pitchFamily="34" charset="-122"/>
                <a:cs typeface="Cambria" pitchFamily="34" charset="-120"/>
              </a:rPr>
              <a:t>Future work</a:t>
            </a:r>
            <a:endParaRPr lang="en-US" sz="2000" dirty="0"/>
          </a:p>
        </p:txBody>
      </p:sp>
      <p:sp>
        <p:nvSpPr>
          <p:cNvPr id="13" name="Text 10"/>
          <p:cNvSpPr txBox="1"/>
          <p:nvPr/>
        </p:nvSpPr>
        <p:spPr>
          <a:xfrm>
            <a:off x="6537960" y="2286000"/>
            <a:ext cx="5029200" cy="35661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Daily or weekly data and the RBI repo rate from DBIE</a:t>
            </a:r>
            <a:endParaRPr lang="en-US" sz="1500" dirty="0"/>
          </a:p>
          <a:p>
            <a:pPr marL="342900" indent="-342900">
              <a:spcAft>
                <a:spcPts val="800"/>
              </a:spcAft>
              <a:buSzPct val="100000"/>
              <a:buChar char="•"/>
            </a:pPr>
            <a:r>
              <a:rPr lang="en-US" sz="1500" dirty="0">
                <a:solidFill>
                  <a:schemeClr val="tx1"/>
                </a:solidFill>
              </a:rPr>
              <a:t>RBI forward book and intervention as direct drivers</a:t>
            </a:r>
            <a:endParaRPr lang="en-US" sz="1500" dirty="0"/>
          </a:p>
          <a:p>
            <a:pPr marL="342900" indent="-342900">
              <a:spcAft>
                <a:spcPts val="800"/>
              </a:spcAft>
              <a:buSzPct val="100000"/>
              <a:buChar char="•"/>
            </a:pPr>
            <a:r>
              <a:rPr lang="en-US" sz="1500" dirty="0">
                <a:solidFill>
                  <a:schemeClr val="tx1"/>
                </a:solidFill>
              </a:rPr>
              <a:t>Rolling-window or regime-switching models</a:t>
            </a:r>
            <a:endParaRPr lang="en-US" sz="1500" dirty="0"/>
          </a:p>
          <a:p>
            <a:pPr marL="342900" indent="-342900">
              <a:spcAft>
                <a:spcPts val="800"/>
              </a:spcAft>
              <a:buSzPct val="100000"/>
              <a:buChar char="•"/>
            </a:pPr>
            <a:r>
              <a:rPr lang="en-US" sz="1500" dirty="0">
                <a:solidFill>
                  <a:schemeClr val="tx1"/>
                </a:solidFill>
              </a:rPr>
              <a:t>Deploy on shinyapps.io with the daily refresh scheduled</a:t>
            </a:r>
            <a:endParaRPr lang="en-US" sz="1500" dirty="0"/>
          </a:p>
        </p:txBody>
      </p:sp>
      <p:sp>
        <p:nvSpPr>
          <p:cNvPr id="25" name="Slide Number Placeholder 0"/>
          <p:cNvSpPr>
            <a:spLocks noGrp="1"/>
          </p:cNvSpPr>
          <p:nvPr>
            <p:ph type="sldNum" sz="quarter" idx="4294967295"/>
          </p:nvPr>
        </p:nvSpPr>
        <p:spPr>
          <a:xfrm>
            <a:off x="10927080" y="6382512"/>
            <a:ext cx="420624" cy="329184"/>
          </a:xfrm>
          <a:prstGeom prst="rect">
            <a:avLst/>
          </a:prstGeom>
          <a:extLst>
            <a:ext uri="{C572A759-6A51-4108-AA02-DFA0A04FC94B}">
              <ma14:wrappingTextBoxFlag xmlns:ma14="http://schemas.microsoft.com/office/mac/drawingml/2011/main" val="0"/>
            </a:ext>
          </a:extLst>
        </p:spPr>
        <p:txBody>
          <a:bodyPr/>
          <a:lstStyle>
            <a:lvl1pPr>
              <a:defRPr sz="1200">
                <a:solidFill>
                  <a:srgbClr val="0F2A3A"/>
                </a:solidFill>
                <a:latin typeface="Calibri"/>
                <a:ea typeface="Calibri"/>
                <a:cs typeface="Calibri"/>
              </a:defRPr>
            </a:lvl1pPr>
          </a:lstStyle>
          <a:p>
            <a:pPr algn="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5"/>
          <p:cNvSpPr/>
          <p:nvPr>
            <p:ph idx="105" type="title" hasCustomPrompt="1"/>
          </p:nvPr>
        </p:nvSpPr>
        <p:spPr>
          <a:xfrm>
            <a:off x="365760" y="502920"/>
            <a:ext cx="10058400" cy="868680"/>
          </a:xfrm>
          <a:prstGeom prst="rect">
            <a:avLst/>
          </a:prstGeom>
          <a:noFill/>
          <a:ln/>
        </p:spPr>
        <p:txBody>
          <a:bodyPr wrap="square" lIns="0" tIns="0" rIns="0" bIns="0" rtlCol="0" anchor="ctr"/>
          <a:lstStyle/>
          <a:p>
            <a:pPr algn="l" indent="0" marL="0">
              <a:buNone/>
            </a:pPr>
            <a:r>
              <a:rPr lang="en-US" sz="2800" b="1" dirty="0">
                <a:solidFill>
                  <a:srgbClr val="FFFFFF"/>
                </a:solidFill>
              </a:rPr>
              <a:t>Conclusion: money flows and the dollar move the rupee, not oil</a:t>
            </a:r>
            <a:endParaRPr lang="en-US" sz="2800" dirty="0"/>
          </a:p>
        </p:txBody>
      </p:sp>
      <p:sp>
        <p:nvSpPr>
          <p:cNvPr id="3" name="Current presenter"/>
          <p:cNvSpPr txBox="1"/>
          <p:nvPr/>
        </p:nvSpPr>
        <p:spPr>
          <a:xfrm>
            <a:off x="8869680" y="91440"/>
            <a:ext cx="3063240" cy="310896"/>
          </a:xfrm>
          <a:prstGeom prst="rect">
            <a:avLst/>
          </a:prstGeom>
          <a:noFill/>
          <a:ln/>
        </p:spPr>
        <p:txBody>
          <a:bodyPr wrap="square" lIns="0" tIns="0" rIns="0" bIns="0" rtlCol="0" anchor="ctr"/>
          <a:lstStyle/>
          <a:p>
            <a:pPr algn="r" indent="0" marL="0">
              <a:buNone/>
            </a:pPr>
            <a:r>
              <a:rPr lang="en-US" sz="1100" dirty="0">
                <a:solidFill>
                  <a:srgbClr val="5F6B73"/>
                </a:solidFill>
              </a:rPr>
              <a:t>Presenter: </a:t>
            </a:r>
            <a:pPr algn="r" indent="0" marL="0">
              <a:buNone/>
            </a:pPr>
            <a:r>
              <a:rPr lang="en-US" sz="1100" b="1" dirty="0">
                <a:solidFill>
                  <a:srgbClr val="0F2A3A"/>
                </a:solidFill>
              </a:rPr>
              <a:t>Devanshu Priyam - EMBAA25014</a:t>
            </a:r>
            <a:endParaRPr lang="en-US" sz="1100" dirty="0"/>
          </a:p>
        </p:txBody>
      </p:sp>
      <p:sp>
        <p:nvSpPr>
          <p:cNvPr id="4" name="Presenter photo placeholder"/>
          <p:cNvSpPr/>
          <p:nvPr/>
        </p:nvSpPr>
        <p:spPr>
          <a:xfrm>
            <a:off x="10744200" y="502920"/>
            <a:ext cx="1188720" cy="868680"/>
          </a:xfrm>
          <a:prstGeom prst="rect">
            <a:avLst/>
          </a:prstGeom>
          <a:solidFill>
            <a:schemeClr val="accent2"/>
          </a:solidFill>
          <a:ln w="12700">
            <a:solidFill>
              <a:schemeClr val="accent2"/>
            </a:solidFill>
            <a:prstDash val="solid"/>
          </a:ln>
        </p:spPr>
      </p:sp>
      <p:sp>
        <p:nvSpPr>
          <p:cNvPr id="5" name="Presenter initials"/>
          <p:cNvSpPr txBox="1"/>
          <p:nvPr/>
        </p:nvSpPr>
        <p:spPr>
          <a:xfrm>
            <a:off x="10744200" y="502920"/>
            <a:ext cx="1188720" cy="868680"/>
          </a:xfrm>
          <a:prstGeom prst="rect">
            <a:avLst/>
          </a:prstGeom>
          <a:noFill/>
          <a:ln/>
        </p:spPr>
        <p:txBody>
          <a:bodyPr wrap="square" lIns="0" tIns="0" rIns="0" bIns="0" rtlCol="0" anchor="ctr"/>
          <a:lstStyle/>
          <a:p>
            <a:pPr algn="ctr" indent="0" marL="0">
              <a:buNone/>
            </a:pPr>
            <a:r>
              <a:rPr lang="en-US" sz="2600" b="1" dirty="0">
                <a:solidFill>
                  <a:schemeClr val="bg1"/>
                </a:solidFill>
              </a:rPr>
              <a:t>DP</a:t>
            </a:r>
            <a:endParaRPr lang="en-US" sz="2600" dirty="0"/>
          </a:p>
        </p:txBody>
      </p:sp>
      <p:sp>
        <p:nvSpPr>
          <p:cNvPr id="6" name="Footer rule"/>
          <p:cNvSpPr/>
          <p:nvPr/>
        </p:nvSpPr>
        <p:spPr>
          <a:xfrm>
            <a:off x="274320" y="6272784"/>
            <a:ext cx="10515600" cy="0"/>
          </a:xfrm>
          <a:prstGeom prst="line">
            <a:avLst/>
          </a:prstGeom>
          <a:noFill/>
          <a:ln w="12700">
            <a:solidFill>
              <a:srgbClr val="EEF2F4"/>
            </a:solidFill>
            <a:prstDash val="solid"/>
          </a:ln>
        </p:spPr>
      </p:sp>
      <p:sp>
        <p:nvSpPr>
          <p:cNvPr id="7" name="Team footer"/>
          <p:cNvSpPr txBox="1"/>
          <p:nvPr/>
        </p:nvSpPr>
        <p:spPr>
          <a:xfrm>
            <a:off x="274320" y="6309360"/>
            <a:ext cx="10515600" cy="457200"/>
          </a:xfrm>
          <a:prstGeom prst="rect">
            <a:avLst/>
          </a:prstGeom>
          <a:noFill/>
          <a:ln/>
        </p:spPr>
        <p:txBody>
          <a:bodyPr wrap="square" lIns="0" tIns="0" rIns="0" bIns="0" rtlCol="0" anchor="ctr"/>
          <a:lstStyle/>
          <a:p>
            <a:pPr algn="ctr" indent="0" marL="0">
              <a:buNone/>
            </a:pPr>
            <a:r>
              <a:rPr lang="en-US" sz="850" b="1" u="sng" dirty="0">
                <a:solidFill>
                  <a:srgbClr val="1F5FA8"/>
                </a:solidFill>
                <a:hlinkClick r:id="rId1" invalidUrl="" action="" tgtFrame="" tooltip="Ankit Singh on LinkedIn" history="1" highlightClick="0" endSnd="0">
                  <a:extLst>
                    <a:ext uri="{A12FA001-AC4F-418D-AE19-62706E023703}">
                      <ahyp:hlinkClr xmlns:ahyp="http://schemas.microsoft.com/office/drawing/2018/hyperlinkcolor" val="tx"/>
                    </a:ext>
                  </a:extLst>
                </a:hlinkClick>
              </a:rPr>
              <a:t>Ankit Singh</a:t>
            </a:r>
            <a:pPr algn="ctr" indent="0" marL="0">
              <a:buNone/>
            </a:pPr>
            <a:r>
              <a:rPr lang="en-US" sz="850" dirty="0">
                <a:solidFill>
                  <a:srgbClr val="5F6B73"/>
                </a:solidFill>
              </a:rPr>
              <a:t> - EMBAA25004 - </a:t>
            </a:r>
            <a:pPr algn="ctr" indent="0" marL="0">
              <a:buNone/>
            </a:pPr>
            <a:r>
              <a:rPr lang="en-US" sz="850" u="sng" dirty="0">
                <a:solidFill>
                  <a:srgbClr val="1F5FA8"/>
                </a:solidFill>
                <a:hlinkClick r:id="rId2" invalidUrl="" action="" tgtFrame="" tooltip="" history="1" highlightClick="0" endSnd="0">
                  <a:extLst>
                    <a:ext uri="{A12FA001-AC4F-418D-AE19-62706E023703}">
                      <ahyp:hlinkClr xmlns:ahyp="http://schemas.microsoft.com/office/drawing/2018/hyperlinkcolor" val="tx"/>
                    </a:ext>
                  </a:extLst>
                </a:hlinkClick>
              </a:rPr>
              <a:t>ankit.embaa25004@iimkashipur.ac.in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3" invalidUrl="" action="" tgtFrame="" tooltip="Gopalakrishnan S on LinkedIn" history="1" highlightClick="0" endSnd="0">
                  <a:extLst>
                    <a:ext uri="{A12FA001-AC4F-418D-AE19-62706E023703}">
                      <ahyp:hlinkClr xmlns:ahyp="http://schemas.microsoft.com/office/drawing/2018/hyperlinkcolor" val="tx"/>
                    </a:ext>
                  </a:extLst>
                </a:hlinkClick>
              </a:rPr>
              <a:t>Gopalakrishnan S</a:t>
            </a:r>
            <a:pPr algn="ctr" indent="0" marL="0">
              <a:buNone/>
            </a:pPr>
            <a:r>
              <a:rPr lang="en-US" sz="850" dirty="0">
                <a:solidFill>
                  <a:srgbClr val="5F6B73"/>
                </a:solidFill>
              </a:rPr>
              <a:t> - EMBAA25017 - </a:t>
            </a:r>
            <a:pPr algn="ctr" indent="0" marL="0">
              <a:buNone/>
            </a:pPr>
            <a:r>
              <a:rPr lang="en-US" sz="850" u="sng" dirty="0">
                <a:solidFill>
                  <a:srgbClr val="1F5FA8"/>
                </a:solidFill>
                <a:hlinkClick r:id="rId4" invalidUrl="" action="" tgtFrame="" tooltip="" history="1" highlightClick="0" endSnd="0">
                  <a:extLst>
                    <a:ext uri="{A12FA001-AC4F-418D-AE19-62706E023703}">
                      <ahyp:hlinkClr xmlns:ahyp="http://schemas.microsoft.com/office/drawing/2018/hyperlinkcolor" val="tx"/>
                    </a:ext>
                  </a:extLst>
                </a:hlinkClick>
              </a:rPr>
              <a:t>gopalakrishnan.embaa25017@iimkashipur.ac.in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5" invalidUrl="" action="" tgtFrame="" tooltip="Murugan Perumal on LinkedIn" history="1" highlightClick="0" endSnd="0">
                  <a:extLst>
                    <a:ext uri="{A12FA001-AC4F-418D-AE19-62706E023703}">
                      <ahyp:hlinkClr xmlns:ahyp="http://schemas.microsoft.com/office/drawing/2018/hyperlinkcolor" val="tx"/>
                    </a:ext>
                  </a:extLst>
                </a:hlinkClick>
              </a:rPr>
              <a:t>Murugan Perumal</a:t>
            </a:r>
            <a:pPr algn="ctr" indent="0" marL="0">
              <a:buNone/>
            </a:pPr>
            <a:r>
              <a:rPr lang="en-US" sz="850" dirty="0">
                <a:solidFill>
                  <a:srgbClr val="5F6B73"/>
                </a:solidFill>
              </a:rPr>
              <a:t> - EMBAA25020 - </a:t>
            </a:r>
            <a:pPr algn="ctr" indent="0" marL="0">
              <a:buNone/>
            </a:pPr>
            <a:r>
              <a:rPr lang="en-US" sz="850" u="sng" dirty="0">
                <a:solidFill>
                  <a:srgbClr val="1F5FA8"/>
                </a:solidFill>
                <a:hlinkClick r:id="rId6" invalidUrl="" action="" tgtFrame="" tooltip="" history="1" highlightClick="0" endSnd="0">
                  <a:extLst>
                    <a:ext uri="{A12FA001-AC4F-418D-AE19-62706E023703}">
                      <ahyp:hlinkClr xmlns:ahyp="http://schemas.microsoft.com/office/drawing/2018/hyperlinkcolor" val="tx"/>
                    </a:ext>
                  </a:extLst>
                </a:hlinkClick>
              </a:rPr>
              <a:t>murugan.embaa25020@iimkashipur.ac.in</a:t>
            </a:r>
            <a:pPr algn="ctr" indent="0" marL="0">
              <a:buNone/>
            </a:pPr>
            <a:endParaRPr lang="en-US" sz="850" dirty="0"/>
          </a:p>
          <a:p>
            <a:pPr algn="ctr" indent="0" marL="0">
              <a:buNone/>
            </a:pPr>
            <a:r>
              <a:rPr lang="en-US" sz="850" b="1" u="sng" dirty="0">
                <a:solidFill>
                  <a:srgbClr val="1F5FA8"/>
                </a:solidFill>
                <a:hlinkClick r:id="rId7" invalidUrl="" action="" tgtFrame="" tooltip="Aswin G. on LinkedIn" history="1" highlightClick="0" endSnd="0">
                  <a:extLst>
                    <a:ext uri="{A12FA001-AC4F-418D-AE19-62706E023703}">
                      <ahyp:hlinkClr xmlns:ahyp="http://schemas.microsoft.com/office/drawing/2018/hyperlinkcolor" val="tx"/>
                    </a:ext>
                  </a:extLst>
                </a:hlinkClick>
              </a:rPr>
              <a:t>Aswin G.</a:t>
            </a:r>
            <a:pPr algn="ctr" indent="0" marL="0">
              <a:buNone/>
            </a:pPr>
            <a:r>
              <a:rPr lang="en-US" sz="850" dirty="0">
                <a:solidFill>
                  <a:srgbClr val="5F6B73"/>
                </a:solidFill>
              </a:rPr>
              <a:t> - EMBAA25008 - </a:t>
            </a:r>
            <a:pPr algn="ctr" indent="0" marL="0">
              <a:buNone/>
            </a:pPr>
            <a:r>
              <a:rPr lang="en-US" sz="850" u="sng" dirty="0">
                <a:solidFill>
                  <a:srgbClr val="1F5FA8"/>
                </a:solidFill>
                <a:hlinkClick r:id="rId8" invalidUrl="" action="" tgtFrame="" tooltip="" history="1" highlightClick="0" endSnd="0">
                  <a:extLst>
                    <a:ext uri="{A12FA001-AC4F-418D-AE19-62706E023703}">
                      <ahyp:hlinkClr xmlns:ahyp="http://schemas.microsoft.com/office/drawing/2018/hyperlinkcolor" val="tx"/>
                    </a:ext>
                  </a:extLst>
                </a:hlinkClick>
              </a:rPr>
              <a:t>aswin.embaa25008@iimkashipur.ac.in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9" invalidUrl="" action="" tgtFrame="" tooltip="Atul Kumar Singh on LinkedIn" history="1" highlightClick="0" endSnd="0">
                  <a:extLst>
                    <a:ext uri="{A12FA001-AC4F-418D-AE19-62706E023703}">
                      <ahyp:hlinkClr xmlns:ahyp="http://schemas.microsoft.com/office/drawing/2018/hyperlinkcolor" val="tx"/>
                    </a:ext>
                  </a:extLst>
                </a:hlinkClick>
              </a:rPr>
              <a:t>Atul Kumar Singh</a:t>
            </a:r>
            <a:pPr algn="ctr" indent="0" marL="0">
              <a:buNone/>
            </a:pPr>
            <a:r>
              <a:rPr lang="en-US" sz="850" dirty="0">
                <a:solidFill>
                  <a:srgbClr val="5F6B73"/>
                </a:solidFill>
              </a:rPr>
              <a:t> - EMBAA25009 - </a:t>
            </a:r>
            <a:pPr algn="ctr" indent="0" marL="0">
              <a:buNone/>
            </a:pPr>
            <a:r>
              <a:rPr lang="en-US" sz="850" u="sng" dirty="0">
                <a:solidFill>
                  <a:srgbClr val="1F5FA8"/>
                </a:solidFill>
                <a:hlinkClick r:id="rId10" invalidUrl="" action="" tgtFrame="" tooltip="" history="1" highlightClick="0" endSnd="0">
                  <a:extLst>
                    <a:ext uri="{A12FA001-AC4F-418D-AE19-62706E023703}">
                      <ahyp:hlinkClr xmlns:ahyp="http://schemas.microsoft.com/office/drawing/2018/hyperlinkcolor" val="tx"/>
                    </a:ext>
                  </a:extLst>
                </a:hlinkClick>
              </a:rPr>
              <a:t>atul.embaa25009@iimkashipur.ac.in</a:t>
            </a:r>
            <a:pPr algn="ctr" indent="0" marL="0">
              <a:buNone/>
            </a:pPr>
            <a:r>
              <a:rPr lang="en-US" sz="850" dirty="0">
                <a:solidFill>
                  <a:srgbClr val="8C9AA3"/>
                </a:solidFill>
              </a:rPr>
              <a:t>   ||   </a:t>
            </a:r>
            <a:pPr algn="ctr" indent="0" marL="0">
              <a:buNone/>
            </a:pPr>
            <a:r>
              <a:rPr lang="en-US" sz="850" b="1" u="sng" dirty="0">
                <a:solidFill>
                  <a:srgbClr val="1F5FA8"/>
                </a:solidFill>
                <a:hlinkClick r:id="rId11" invalidUrl="" action="" tgtFrame="" tooltip="Devanshu Priyam on LinkedIn" history="1" highlightClick="0" endSnd="0">
                  <a:extLst>
                    <a:ext uri="{A12FA001-AC4F-418D-AE19-62706E023703}">
                      <ahyp:hlinkClr xmlns:ahyp="http://schemas.microsoft.com/office/drawing/2018/hyperlinkcolor" val="tx"/>
                    </a:ext>
                  </a:extLst>
                </a:hlinkClick>
              </a:rPr>
              <a:t>Devanshu Priyam</a:t>
            </a:r>
            <a:pPr algn="ctr" indent="0" marL="0">
              <a:buNone/>
            </a:pPr>
            <a:r>
              <a:rPr lang="en-US" sz="850" dirty="0">
                <a:solidFill>
                  <a:srgbClr val="5F6B73"/>
                </a:solidFill>
              </a:rPr>
              <a:t> - EMBAA25014 - </a:t>
            </a:r>
            <a:pPr algn="ctr" indent="0" marL="0">
              <a:buNone/>
            </a:pPr>
            <a:r>
              <a:rPr lang="en-US" sz="850" u="sng" dirty="0">
                <a:solidFill>
                  <a:srgbClr val="1F5FA8"/>
                </a:solidFill>
                <a:hlinkClick r:id="rId12" invalidUrl="" action="" tgtFrame="" tooltip="" history="1" highlightClick="0" endSnd="0">
                  <a:extLst>
                    <a:ext uri="{A12FA001-AC4F-418D-AE19-62706E023703}">
                      <ahyp:hlinkClr xmlns:ahyp="http://schemas.microsoft.com/office/drawing/2018/hyperlinkcolor" val="tx"/>
                    </a:ext>
                  </a:extLst>
                </a:hlinkClick>
              </a:rPr>
              <a:t>devanshu.embaa25014@iimkashipur.ac.in</a:t>
            </a:r>
            <a:endParaRPr lang="en-US" sz="850" dirty="0"/>
          </a:p>
        </p:txBody>
      </p:sp>
      <p:sp>
        <p:nvSpPr>
          <p:cNvPr id="9" name="Conclusion banner"/>
          <p:cNvSpPr/>
          <p:nvPr/>
        </p:nvSpPr>
        <p:spPr>
          <a:xfrm>
            <a:off x="457200" y="1645920"/>
            <a:ext cx="11292840" cy="1188720"/>
          </a:xfrm>
          <a:prstGeom prst="roundRect">
            <a:avLst>
              <a:gd name="adj" fmla="val 6154"/>
            </a:avLst>
          </a:prstGeom>
          <a:solidFill>
            <a:schemeClr val="tx2"/>
          </a:solidFill>
          <a:ln w="12700">
            <a:solidFill>
              <a:schemeClr val="tx2"/>
            </a:solidFill>
            <a:prstDash val="solid"/>
          </a:ln>
        </p:spPr>
      </p:sp>
      <p:sp>
        <p:nvSpPr>
          <p:cNvPr id="10" name="Text 7"/>
          <p:cNvSpPr txBox="1"/>
          <p:nvPr/>
        </p:nvSpPr>
        <p:spPr>
          <a:xfrm>
            <a:off x="685800" y="1691640"/>
            <a:ext cx="10881360" cy="1097280"/>
          </a:xfrm>
          <a:prstGeom prst="rect">
            <a:avLst/>
          </a:prstGeom>
          <a:noFill/>
          <a:ln/>
        </p:spPr>
        <p:txBody>
          <a:bodyPr wrap="square" lIns="0" tIns="0" rIns="0" bIns="0" rtlCol="0" anchor="ctr"/>
          <a:lstStyle/>
          <a:p>
            <a:pPr indent="0" marL="0">
              <a:buNone/>
            </a:pPr>
            <a:r>
              <a:rPr lang="en-US" sz="1600" dirty="0">
                <a:solidFill>
                  <a:schemeClr val="bg1"/>
                </a:solidFill>
              </a:rPr>
              <a:t>On 175 months of official data, FPI and the broad dollar are the only significant drivers of the rupee. They explain it but don't forecast it, so manage rupee risk with scenario-based hedging. The R pipeline and dashboard make that repeatable.</a:t>
            </a:r>
            <a:endParaRPr lang="en-US" sz="16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3017520"/>
          <a:ext cx="7680960" cy="914400"/>
        </p:xfrm>
        <a:graphic>
          <a:graphicData uri="http://schemas.openxmlformats.org/drawingml/2006/table">
            <a:tbl>
              <a:tblPr/>
              <a:tblGrid>
                <a:gridCol w="2011680"/>
                <a:gridCol w="1463040"/>
                <a:gridCol w="4206240"/>
              </a:tblGrid>
              <a:tr h="0">
                <a:tc>
                  <a:txBody>
                    <a:bodyPr/>
                    <a:lstStyle/>
                    <a:p>
                      <a:pPr indent="0" marL="0">
                        <a:buNone/>
                      </a:pPr>
                      <a:r>
                        <a:rPr lang="en-US" sz="1250" b="1" dirty="0">
                          <a:solidFill>
                            <a:srgbClr val="FFFFFF"/>
                          </a:solidFill>
                        </a:rPr>
                        <a:t>Member</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0F2A3A"/>
                    </a:solidFill>
                  </a:tcPr>
                </a:tc>
                <a:tc>
                  <a:txBody>
                    <a:bodyPr/>
                    <a:lstStyle/>
                    <a:p>
                      <a:pPr indent="0" marL="0">
                        <a:buNone/>
                      </a:pPr>
                      <a:r>
                        <a:rPr lang="en-US" sz="1250" b="1" dirty="0">
                          <a:solidFill>
                            <a:srgbClr val="FFFFFF"/>
                          </a:solidFill>
                        </a:rPr>
                        <a:t>IIM ID</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0F2A3A"/>
                    </a:solidFill>
                  </a:tcPr>
                </a:tc>
                <a:tc>
                  <a:txBody>
                    <a:bodyPr/>
                    <a:lstStyle/>
                    <a:p>
                      <a:pPr indent="0" marL="0">
                        <a:buNone/>
                      </a:pPr>
                      <a:r>
                        <a:rPr lang="en-US" sz="1250" b="1" dirty="0">
                          <a:solidFill>
                            <a:srgbClr val="FFFFFF"/>
                          </a:solidFill>
                        </a:rPr>
                        <a:t>Contribution</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0F2A3A"/>
                    </a:solidFill>
                  </a:tcPr>
                </a:tc>
              </a:tr>
              <a:tr h="0">
                <a:tc>
                  <a:txBody>
                    <a:bodyPr/>
                    <a:lstStyle/>
                    <a:p>
                      <a:pPr indent="0" marL="0">
                        <a:buNone/>
                      </a:pPr>
                      <a:r>
                        <a:rPr lang="en-US" sz="1250" dirty="0">
                          <a:solidFill>
                            <a:srgbClr val="1B1F23"/>
                          </a:solidFill>
                        </a:rPr>
                        <a:t>Ankit Singh</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250" dirty="0">
                          <a:solidFill>
                            <a:srgbClr val="1B1F23"/>
                          </a:solidFill>
                        </a:rPr>
                        <a:t>EMBAA25004</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250" dirty="0">
                          <a:solidFill>
                            <a:srgbClr val="1B1F23"/>
                          </a:solidFill>
                        </a:rPr>
                        <a:t>Data pipeline, provenance, Shiny dashboard (01–02, app.R)</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r>
              <a:tr h="0">
                <a:tc>
                  <a:txBody>
                    <a:bodyPr/>
                    <a:lstStyle/>
                    <a:p>
                      <a:pPr indent="0" marL="0">
                        <a:buNone/>
                      </a:pPr>
                      <a:r>
                        <a:rPr lang="en-US" sz="1250" dirty="0">
                          <a:solidFill>
                            <a:srgbClr val="1B1F23"/>
                          </a:solidFill>
                        </a:rPr>
                        <a:t>Gopalakrishnan S</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250" dirty="0">
                          <a:solidFill>
                            <a:srgbClr val="1B1F23"/>
                          </a:solidFill>
                        </a:rPr>
                        <a:t>EMBAA25017</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250" dirty="0">
                          <a:solidFill>
                            <a:srgbClr val="1B1F23"/>
                          </a:solidFill>
                        </a:rPr>
                        <a:t>Descriptive &amp; inferential analysis, ADF (03)</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r>
              <a:tr h="0">
                <a:tc>
                  <a:txBody>
                    <a:bodyPr/>
                    <a:lstStyle/>
                    <a:p>
                      <a:pPr indent="0" marL="0">
                        <a:buNone/>
                      </a:pPr>
                      <a:r>
                        <a:rPr lang="en-US" sz="1250" dirty="0">
                          <a:solidFill>
                            <a:srgbClr val="1B1F23"/>
                          </a:solidFill>
                        </a:rPr>
                        <a:t>Murugan Perumal</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250" dirty="0">
                          <a:solidFill>
                            <a:srgbClr val="1B1F23"/>
                          </a:solidFill>
                        </a:rPr>
                        <a:t>EMBAA25020</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250" dirty="0">
                          <a:solidFill>
                            <a:srgbClr val="1B1F23"/>
                          </a:solidFill>
                        </a:rPr>
                        <a:t>Regression A–F, diagnostics, scorecard (04)</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r>
              <a:tr h="0">
                <a:tc>
                  <a:txBody>
                    <a:bodyPr/>
                    <a:lstStyle/>
                    <a:p>
                      <a:pPr indent="0" marL="0">
                        <a:buNone/>
                      </a:pPr>
                      <a:r>
                        <a:rPr lang="en-US" sz="1250" dirty="0">
                          <a:solidFill>
                            <a:srgbClr val="1B1F23"/>
                          </a:solidFill>
                        </a:rPr>
                        <a:t>Aswin G.</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250" dirty="0">
                          <a:solidFill>
                            <a:srgbClr val="1B1F23"/>
                          </a:solidFill>
                        </a:rPr>
                        <a:t>EMBAA25008</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250" dirty="0">
                          <a:solidFill>
                            <a:srgbClr val="1B1F23"/>
                          </a:solidFill>
                        </a:rPr>
                        <a:t>Stress Monitor: 4 classifiers (05)</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r>
              <a:tr h="0">
                <a:tc>
                  <a:txBody>
                    <a:bodyPr/>
                    <a:lstStyle/>
                    <a:p>
                      <a:pPr indent="0" marL="0">
                        <a:buNone/>
                      </a:pPr>
                      <a:r>
                        <a:rPr lang="en-US" sz="1250" dirty="0">
                          <a:solidFill>
                            <a:srgbClr val="1B1F23"/>
                          </a:solidFill>
                        </a:rPr>
                        <a:t>Atul Kumar Singh</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250" dirty="0">
                          <a:solidFill>
                            <a:srgbClr val="1B1F23"/>
                          </a:solidFill>
                        </a:rPr>
                        <a:t>EMBAA25009</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250" dirty="0">
                          <a:solidFill>
                            <a:srgbClr val="1B1F23"/>
                          </a:solidFill>
                        </a:rPr>
                        <a:t>Clustering, Apriori, scenarios, hedge rule (06–07)</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FFFFFF"/>
                    </a:solidFill>
                  </a:tcPr>
                </a:tc>
              </a:tr>
              <a:tr h="0">
                <a:tc>
                  <a:txBody>
                    <a:bodyPr/>
                    <a:lstStyle/>
                    <a:p>
                      <a:pPr indent="0" marL="0">
                        <a:buNone/>
                      </a:pPr>
                      <a:r>
                        <a:rPr lang="en-US" sz="1250" dirty="0">
                          <a:solidFill>
                            <a:srgbClr val="1B1F23"/>
                          </a:solidFill>
                        </a:rPr>
                        <a:t>Devanshu Priyam</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250" dirty="0">
                          <a:solidFill>
                            <a:srgbClr val="1B1F23"/>
                          </a:solidFill>
                        </a:rPr>
                        <a:t>EMBAA25014</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c>
                  <a:txBody>
                    <a:bodyPr/>
                    <a:lstStyle/>
                    <a:p>
                      <a:pPr indent="0" marL="0">
                        <a:buNone/>
                      </a:pPr>
                      <a:r>
                        <a:rPr lang="en-US" sz="1250" dirty="0">
                          <a:solidFill>
                            <a:srgbClr val="1B1F23"/>
                          </a:solidFill>
                        </a:rPr>
                        <a:t>Live refresh, report &amp; deck (08)</a:t>
                      </a:r>
                      <a:endParaRPr lang="en-US" sz="1250" dirty="0"/>
                    </a:p>
                  </a:txBody>
                  <a:tcPr marL="63500" marR="63500" marT="38100" marB="3810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EEF2F4"/>
                    </a:solidFill>
                  </a:tcPr>
                </a:tc>
              </a:tr>
            </a:tbl>
          </a:graphicData>
        </a:graphic>
      </p:graphicFrame>
      <p:sp>
        <p:nvSpPr>
          <p:cNvPr id="12" name="Thank you card"/>
          <p:cNvSpPr/>
          <p:nvPr/>
        </p:nvSpPr>
        <p:spPr>
          <a:xfrm>
            <a:off x="8412480" y="3017520"/>
            <a:ext cx="3337560" cy="3017520"/>
          </a:xfrm>
          <a:prstGeom prst="roundRect">
            <a:avLst>
              <a:gd name="adj" fmla="val 2424"/>
            </a:avLst>
          </a:prstGeom>
          <a:solidFill>
            <a:schemeClr val="bg2"/>
          </a:solidFill>
          <a:ln w="12700">
            <a:solidFill>
              <a:schemeClr val="bg2"/>
            </a:solidFill>
            <a:prstDash val="solid"/>
          </a:ln>
        </p:spPr>
      </p:sp>
      <p:sp>
        <p:nvSpPr>
          <p:cNvPr id="13" name="Text 9"/>
          <p:cNvSpPr txBox="1"/>
          <p:nvPr/>
        </p:nvSpPr>
        <p:spPr>
          <a:xfrm>
            <a:off x="8595360" y="3200400"/>
            <a:ext cx="2971800" cy="2651760"/>
          </a:xfrm>
          <a:prstGeom prst="rect">
            <a:avLst/>
          </a:prstGeom>
          <a:noFill/>
          <a:ln/>
        </p:spPr>
        <p:txBody>
          <a:bodyPr wrap="square" lIns="0" tIns="0" rIns="0" bIns="0" rtlCol="0" anchor="ctr"/>
          <a:lstStyle/>
          <a:p>
            <a:pPr algn="ctr" indent="0" marL="0">
              <a:buNone/>
            </a:pPr>
            <a:r>
              <a:rPr lang="en-US" sz="3000" b="1" dirty="0">
                <a:solidFill>
                  <a:srgbClr val="E8871E"/>
                </a:solidFill>
                <a:latin typeface="Cambria" pitchFamily="34" charset="0"/>
                <a:ea typeface="Cambria" pitchFamily="34" charset="-122"/>
                <a:cs typeface="Cambria" pitchFamily="34" charset="-120"/>
              </a:rPr>
              <a:t>Thank you</a:t>
            </a:r>
            <a:endParaRPr lang="en-US" sz="1500" dirty="0"/>
          </a:p>
          <a:p>
            <a:pPr algn="ctr" indent="0" marL="0">
              <a:buNone/>
            </a:pPr>
            <a:r>
              <a:rPr lang="en-US" sz="2000" dirty="0">
                <a:solidFill>
                  <a:srgbClr val="0F2A3A"/>
                </a:solidFill>
              </a:rPr>
              <a:t>Questions?</a:t>
            </a:r>
            <a:endParaRPr lang="en-US" sz="1500" dirty="0"/>
          </a:p>
          <a:p>
            <a:pPr algn="ctr" indent="0" marL="0">
              <a:buNone/>
            </a:pPr>
            <a:r>
              <a:rPr lang="en-US" sz="1000" dirty="0">
                <a:solidFill>
                  <a:schemeClr val="tx1"/>
                </a:solidFill>
              </a:rPr>
              <a:t> </a:t>
            </a:r>
            <a:endParaRPr lang="en-US" sz="1500" dirty="0"/>
          </a:p>
          <a:p>
            <a:pPr algn="ctr" indent="0" marL="0">
              <a:buNone/>
            </a:pPr>
            <a:r>
              <a:rPr lang="en-US" sz="1300" dirty="0">
                <a:solidFill>
                  <a:srgbClr val="5F6B73"/>
                </a:solidFill>
                <a:latin typeface="Courier New" pitchFamily="34" charset="0"/>
                <a:ea typeface="Courier New" pitchFamily="34" charset="-122"/>
                <a:cs typeface="Courier New" pitchFamily="34" charset="-120"/>
              </a:rPr>
              <a:t>Rscript R/run_all.R</a:t>
            </a:r>
            <a:endParaRPr lang="en-US" sz="1500" dirty="0"/>
          </a:p>
          <a:p>
            <a:pPr algn="ctr" indent="0" marL="0">
              <a:buNone/>
            </a:pPr>
            <a:r>
              <a:rPr lang="en-US" sz="1300" dirty="0">
                <a:solidFill>
                  <a:srgbClr val="5F6B73"/>
                </a:solidFill>
                <a:latin typeface="Courier New" pitchFamily="34" charset="0"/>
                <a:ea typeface="Courier New" pitchFamily="34" charset="-122"/>
                <a:cs typeface="Courier New" pitchFamily="34" charset="-120"/>
              </a:rPr>
              <a:t>shiny::runApp()</a:t>
            </a:r>
            <a:endParaRPr lang="en-US" sz="1500" dirty="0"/>
          </a:p>
        </p:txBody>
      </p:sp>
      <p:sp>
        <p:nvSpPr>
          <p:cNvPr id="25" name="Slide Number Placeholder 0"/>
          <p:cNvSpPr>
            <a:spLocks noGrp="1"/>
          </p:cNvSpPr>
          <p:nvPr>
            <p:ph type="sldNum" sz="quarter" idx="4294967295"/>
          </p:nvPr>
        </p:nvSpPr>
        <p:spPr>
          <a:xfrm>
            <a:off x="10927080" y="6382512"/>
            <a:ext cx="420624" cy="329184"/>
          </a:xfrm>
          <a:prstGeom prst="rect">
            <a:avLst/>
          </a:prstGeom>
          <a:extLst>
            <a:ext uri="{C572A759-6A51-4108-AA02-DFA0A04FC94B}">
              <ma14:wrappingTextBoxFlag xmlns:ma14="http://schemas.microsoft.com/office/mac/drawingml/2011/main" val="0"/>
            </a:ext>
          </a:extLst>
        </p:spPr>
        <p:txBody>
          <a:bodyPr/>
          <a:lstStyle>
            <a:lvl1pPr>
              <a:defRPr sz="1200">
                <a:solidFill>
                  <a:srgbClr val="0F2A3A"/>
                </a:solidFill>
                <a:latin typeface="Calibri"/>
                <a:ea typeface="Calibri"/>
                <a:cs typeface="Calibri"/>
              </a:defRPr>
            </a:lvl1pPr>
          </a:lstStyle>
          <a:p>
            <a:pPr algn="r"/>
            <a:fld id="{F7021451-1387-4CA6-816F-3879F97B5CBC}" type="slidenum">
              <a:rPr b="1" lang="en-US"/>
              <a:t>21</a:t>
            </a:fld>
            <a:endParaRPr lang="en-US"/>
          </a:p>
        </p:txBody>
      </p:sp>
    </p:spTree>
  </p:cSld>
  <p:clrMapOvr>
    <a:masterClrMapping/>
  </p:clrMapOvr>
</p:sld>
</file>

<file path=ppt/theme/theme1.xml><?xml version="1.0" encoding="utf-8"?>
<a:theme xmlns:a="http://schemas.openxmlformats.org/drawingml/2006/main" name="Rupee Intelligence">
  <a:themeElements>
    <a:clrScheme name="Rupee Intelligence">
      <a:dk1>
        <a:srgbClr val="1B1F23"/>
      </a:dk1>
      <a:lt1>
        <a:srgbClr val="FFFFFF"/>
      </a:lt1>
      <a:dk2>
        <a:srgbClr val="0F2A3A"/>
      </a:dk2>
      <a:lt2>
        <a:srgbClr val="EEF2F4"/>
      </a:lt2>
      <a:accent1>
        <a:srgbClr val="E8871E"/>
      </a:accent1>
      <a:accent2>
        <a:srgbClr val="2A7F8F"/>
      </a:accent2>
      <a:accent3>
        <a:srgbClr val="8C9AA3"/>
      </a:accent3>
      <a:accent4>
        <a:srgbClr val="C0392B"/>
      </a:accent4>
      <a:accent5>
        <a:srgbClr val="2E8B57"/>
      </a:accent5>
      <a:accent6>
        <a:srgbClr val="5F6B73"/>
      </a:accent6>
      <a:hlink>
        <a:srgbClr val="1F5FA8"/>
      </a:hlink>
      <a:folHlink>
        <a:srgbClr val="6B4FA0"/>
      </a:folHlink>
    </a:clrScheme>
    <a:fontScheme name="Rupee Intelligen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IIM Kashipur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Really Drives the Rupee? - Group 4</dc:title>
  <dc:subject>PptxGenJS Presentation</dc:subject>
  <dc:creator>Group 4, IIM Kashipur EMBA</dc:creator>
  <cp:lastModifiedBy>Group 4, IIM Kashipur EMBA</cp:lastModifiedBy>
  <cp:revision>1</cp:revision>
  <dcterms:created xsi:type="dcterms:W3CDTF">2026-10-25T10:59:30Z</dcterms:created>
  <dcterms:modified xsi:type="dcterms:W3CDTF">2026-10-25T10:59:30Z</dcterms:modified>
</cp:coreProperties>
</file>